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00:00–00:06 | 6 seconds</a:t>
            </a:r>
          </a:p>
          <a:p/>
          <a:p>
            <a:r>
              <a:t>NARRATION</a:t>
            </a:r>
          </a:p>
          <a:p>
            <a:r>
              <a:t>We introduce CAST, which improves robot skills while keeping the original policy as a reference.</a:t>
            </a:r>
          </a:p>
          <a:p/>
          <a:p>
            <a:r>
              <a:t>TIMED DELIVERY CUES (DIRECTIONS ARE NOT SPOKEN)</a:t>
            </a:r>
          </a:p>
          <a:p>
            <a:r>
              <a:t>00:00–00:06</a:t>
            </a:r>
          </a:p>
          <a:p>
            <a:r>
              <a:t>ON SCREEN: Title and OpenArm scene; introduce the problem.</a:t>
            </a:r>
          </a:p>
          <a:p>
            <a:r>
              <a:t>SAY: We introduce CAST, which improves robot skills while keeping the original policy as a reference.</a:t>
            </a:r>
          </a:p>
          <a:p/>
          <a:p>
            <a:r>
              <a:t>VISUAL CUES</a:t>
            </a:r>
          </a:p>
          <a:p>
            <a:r>
              <a:t>Static slide; no animation required.</a:t>
            </a:r>
          </a:p>
          <a:p/>
          <a:p>
            <a:r>
              <a:t>SOURCES</a:t>
            </a:r>
          </a:p>
          <a:p>
            <a:r>
              <a:t>_ICRA_2027__CAST/sections/01_introduction.tex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00:06–00:18 | 12 seconds</a:t>
            </a:r>
          </a:p>
          <a:p/>
          <a:p>
            <a:r>
              <a:t>NARRATION</a:t>
            </a:r>
          </a:p>
          <a:p>
            <a:r>
              <a:t>This matters because the critic can misjudge which actions are better. As orange shows, even small updates can drift away. CAST pulls back, as green shows.</a:t>
            </a:r>
          </a:p>
          <a:p/>
          <a:p>
            <a:r>
              <a:t>TIMED DELIVERY CUES (DIRECTIONS ARE NOT SPOKEN)</a:t>
            </a:r>
          </a:p>
          <a:p>
            <a:r>
              <a:t>00:06–00:11</a:t>
            </a:r>
          </a:p>
          <a:p>
            <a:r>
              <a:t>ON SCREEN: A01: the toy critic curve predicts which actions are valuable.</a:t>
            </a:r>
          </a:p>
          <a:p>
            <a:r>
              <a:t>SAY: This matters because the critic can misjudge which actions are better.</a:t>
            </a:r>
          </a:p>
          <a:p/>
          <a:p>
            <a:r>
              <a:t>00:11–00:15</a:t>
            </a:r>
          </a:p>
          <a:p>
            <a:r>
              <a:t>ON SCREEN: Orange: repeated clipped updates drift away from the blue base.</a:t>
            </a:r>
          </a:p>
          <a:p>
            <a:r>
              <a:t>SAY: As orange shows, even small updates can drift away.</a:t>
            </a:r>
          </a:p>
          <a:p/>
          <a:p>
            <a:r>
              <a:t>00:15–00:18</a:t>
            </a:r>
          </a:p>
          <a:p>
            <a:r>
              <a:t>ON SCREEN: Green: restoration keeps the updated policy near the base.</a:t>
            </a:r>
          </a:p>
          <a:p>
            <a:r>
              <a:t>SAY: CAST pulls back, as green shows.</a:t>
            </a:r>
          </a:p>
          <a:p/>
          <a:p>
            <a:r>
              <a:t>VISUAL CUES</a:t>
            </a:r>
          </a:p>
          <a:p>
            <a:r>
              <a:t>A01: Animate matched synthetic actions with clipping alone versus the exact CAST restoration and caps. Same base, critic, and step cap.</a:t>
            </a:r>
          </a:p>
          <a:p/>
          <a:p>
            <a:r>
              <a:t>SOURCES</a:t>
            </a:r>
          </a:p>
          <a:p>
            <a:r>
              <a:t>_ICRA_2027__CAST/sections/03_problem_statement.tex</a:t>
            </a:r>
          </a:p>
          <a:p>
            <a:r>
              <a:t>_ICRA_2027__CAST/sections/04_analysis.tex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00:18–00:26 | 8 seconds</a:t>
            </a:r>
          </a:p>
          <a:p/>
          <a:p>
            <a:r>
              <a:t>NARRATION</a:t>
            </a:r>
          </a:p>
          <a:p>
            <a:r>
              <a:t>So we keep the original policy fixed and learn a correction. Each action keeps its own reference.</a:t>
            </a:r>
          </a:p>
          <a:p/>
          <a:p>
            <a:r>
              <a:t>TIMED DELIVERY CUES (DIRECTIONS ARE NOT SPOKEN)</a:t>
            </a:r>
          </a:p>
          <a:p>
            <a:r>
              <a:t>00:18–00:23</a:t>
            </a:r>
          </a:p>
          <a:p>
            <a:r>
              <a:t>ON SCREEN: A02: frozen base plus learned residual; point to the sum.</a:t>
            </a:r>
          </a:p>
          <a:p>
            <a:r>
              <a:t>SAY: So we keep the original policy fixed and learn a correction.</a:t>
            </a:r>
          </a:p>
          <a:p/>
          <a:p>
            <a:r>
              <a:t>00:23–00:26</a:t>
            </a:r>
          </a:p>
          <a:p>
            <a:r>
              <a:t>ON SCREEN: The paired samples share the same observation and noise.</a:t>
            </a:r>
          </a:p>
          <a:p>
            <a:r>
              <a:t>SAY: Each action keeps its own reference.</a:t>
            </a:r>
          </a:p>
          <a:p/>
          <a:p>
            <a:r>
              <a:t>VISUAL CUES</a:t>
            </a:r>
          </a:p>
          <a:p>
            <a:r>
              <a:t>A02: Reveal base actions and learned residual arrows for the same noise samples. Keep the base fixed.</a:t>
            </a:r>
          </a:p>
          <a:p/>
          <a:p>
            <a:r>
              <a:t>SOURCES</a:t>
            </a:r>
          </a:p>
          <a:p>
            <a:r>
              <a:t>_ICRA_2027__CAST/sections/03_problem_statement.tex</a:t>
            </a:r>
          </a:p>
          <a:p>
            <a:r>
              <a:t>_ICRA_2027__CAST/sections/04_method.tex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00:26–00:56 | 30 seconds</a:t>
            </a:r>
          </a:p>
          <a:p/>
          <a:p>
            <a:r>
              <a:t>NARRATION</a:t>
            </a:r>
          </a:p>
          <a:p>
            <a:r>
              <a:t>Here’s one learning step. We first sample paired actions. Next, the critic proposes an improvement. We normalize, cap, and scale its gradient. We also pull toward the base, with a stronger pull beyond the reference radius. We combine these arrows and cap the target step around the current action. We then fit the correction to these fixed targets, and repeat the process.</a:t>
            </a:r>
          </a:p>
          <a:p/>
          <a:p>
            <a:r>
              <a:t>TIMED DELIVERY CUES (DIRECTIONS ARE NOT SPOKEN)</a:t>
            </a:r>
          </a:p>
          <a:p>
            <a:r>
              <a:t>00:26–00:28</a:t>
            </a:r>
          </a:p>
          <a:p>
            <a:r>
              <a:t>ON SCREEN: A03: clockwise overview of Figure 2.</a:t>
            </a:r>
          </a:p>
          <a:p>
            <a:r>
              <a:t>SAY: Here’s one learning step.</a:t>
            </a:r>
          </a:p>
          <a:p/>
          <a:p>
            <a:r>
              <a:t>00:28–00:31</a:t>
            </a:r>
          </a:p>
          <a:p>
            <a:r>
              <a:t>ON SCREEN: Sample panel: base/current pairs and residual arrows.</a:t>
            </a:r>
          </a:p>
          <a:p>
            <a:r>
              <a:t>SAY: We first sample paired actions.</a:t>
            </a:r>
          </a:p>
          <a:p/>
          <a:p>
            <a:r>
              <a:t>00:31–00:37</a:t>
            </a:r>
          </a:p>
          <a:p>
            <a:r>
              <a:t>ON SCREEN: Critic panel: normalized gradient appears, then contracts to its cap. Scaling follows the cap.</a:t>
            </a:r>
          </a:p>
          <a:p>
            <a:r>
              <a:t>SAY: Next, the critic proposes an improvement. We normalize, cap, and scale its gradient.</a:t>
            </a:r>
          </a:p>
          <a:p/>
          <a:p>
            <a:r>
              <a:t>00:37–00:40</a:t>
            </a:r>
          </a:p>
          <a:p>
            <a:r>
              <a:t>ON SCREEN: Restoration panel: weak pull toward the paired base action.</a:t>
            </a:r>
          </a:p>
          <a:p>
            <a:r>
              <a:t>SAY: We also pull toward the base,</a:t>
            </a:r>
          </a:p>
          <a:p/>
          <a:p>
            <a:r>
              <a:t>00:40–00:44</a:t>
            </a:r>
          </a:p>
          <a:p>
            <a:r>
              <a:t>ON SCREEN: Additional radial restoration appears beyond the reference radius.</a:t>
            </a:r>
          </a:p>
          <a:p>
            <a:r>
              <a:t>SAY: with a stronger pull beyond the reference radius.</a:t>
            </a:r>
          </a:p>
          <a:p/>
          <a:p>
            <a:r>
              <a:t>00:44–00:50</a:t>
            </a:r>
          </a:p>
          <a:p>
            <a:r>
              <a:t>ON SCREEN: Combine the vectors and clip around the CURRENT action. The circle bounds the target step.</a:t>
            </a:r>
          </a:p>
          <a:p>
            <a:r>
              <a:t>SAY: We combine these arrows and cap the target step around the current action.</a:t>
            </a:r>
          </a:p>
          <a:p/>
          <a:p>
            <a:r>
              <a:t>00:50–00:54</a:t>
            </a:r>
          </a:p>
          <a:p>
            <a:r>
              <a:t>ON SCREEN: Fit panel: regression to fixed residual targets; squared-error equation.</a:t>
            </a:r>
          </a:p>
          <a:p>
            <a:r>
              <a:t>SAY: We then fit the correction to these fixed targets,</a:t>
            </a:r>
          </a:p>
          <a:p/>
          <a:p>
            <a:r>
              <a:t>00:54–00:56</a:t>
            </a:r>
          </a:p>
          <a:p>
            <a:r>
              <a:t>ON SCREEN: Return to the complete clockwise figure; leave a short breath.</a:t>
            </a:r>
          </a:p>
          <a:p>
            <a:r>
              <a:t>SAY: and repeat the process.</a:t>
            </a:r>
          </a:p>
          <a:p/>
          <a:p>
            <a:r>
              <a:t>VISUAL CUES</a:t>
            </a:r>
          </a:p>
          <a:p>
            <a:r>
              <a:t>A03: Reuse the submitted figure samples and vectors. Reveal the matching equations and zoom into each clockwise stage. Show the raw critic request contracting to the critic cap, then restoration and total clipping around the current action.</a:t>
            </a:r>
          </a:p>
          <a:p/>
          <a:p>
            <a:r>
              <a:t>SOURCES</a:t>
            </a:r>
          </a:p>
          <a:p>
            <a:r>
              <a:t>_ICRA_2027__CAST/sections/04_method.tex</a:t>
            </a:r>
          </a:p>
          <a:p>
            <a:r>
              <a:t>_ICRA_2027__CAST/sections/04_method_figure.tex</a:t>
            </a:r>
          </a:p>
          <a:p>
            <a:r>
              <a:t>_ICRA_2027__CAST/figures/method_update.npz</a:t>
            </a:r>
          </a:p>
          <a:p>
            <a:r>
              <a:t>_ICRA_2027__CAST/figures/method_update.json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00:56–01:06 | 10 seconds</a:t>
            </a:r>
          </a:p>
          <a:p/>
          <a:p>
            <a:r>
              <a:t>NARRATION</a:t>
            </a:r>
          </a:p>
          <a:p>
            <a:r>
              <a:t>The policy now learns to match the fixed green targets. We refresh them and repeat, while the soft pull leaves room to improve.</a:t>
            </a:r>
          </a:p>
          <a:p/>
          <a:p>
            <a:r>
              <a:t>TIMED DELIVERY CUES (DIRECTIONS ARE NOT SPOKEN)</a:t>
            </a:r>
          </a:p>
          <a:p>
            <a:r>
              <a:t>00:56–01:01</a:t>
            </a:r>
          </a:p>
          <a:p>
            <a:r>
              <a:t>ON SCREEN: A04: the actor moves toward the fixed green squares; fitting error falls.</a:t>
            </a:r>
          </a:p>
          <a:p>
            <a:r>
              <a:t>SAY: The policy now learns to match the fixed green targets.</a:t>
            </a:r>
          </a:p>
          <a:p/>
          <a:p>
            <a:r>
              <a:t>01:01–01:03</a:t>
            </a:r>
          </a:p>
          <a:p>
            <a:r>
              <a:t>ON SCREEN: The animation constructs fresh targets for another fitting round.</a:t>
            </a:r>
          </a:p>
          <a:p>
            <a:r>
              <a:t>SAY: We refresh them and repeat,</a:t>
            </a:r>
          </a:p>
          <a:p/>
          <a:p>
            <a:r>
              <a:t>01:03–01:06</a:t>
            </a:r>
          </a:p>
          <a:p>
            <a:r>
              <a:t>ON SCREEN: Right-hand curve: increasing restoration penalty, with a soft threshold.</a:t>
            </a:r>
          </a:p>
          <a:p>
            <a:r>
              <a:t>SAY: while the soft pull leaves room to improve.</a:t>
            </a:r>
          </a:p>
          <a:p/>
          <a:p>
            <a:r>
              <a:t>VISUAL CUES</a:t>
            </a:r>
          </a:p>
          <a:p>
            <a:r>
              <a:t>A04: Show fixed targets during regression; move the actor toward them, then recompute. Illustrate the soft restoration potential without claiming a hard policy-output bound.</a:t>
            </a:r>
          </a:p>
          <a:p/>
          <a:p>
            <a:r>
              <a:t>SOURCES</a:t>
            </a:r>
          </a:p>
          <a:p>
            <a:r>
              <a:t>_ICRA_2027__CAST/sections/04_method.tex</a:t>
            </a:r>
          </a:p>
          <a:p>
            <a:r>
              <a:t>_ICRA_2027__CAST/sections/04_analysis.tex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01:06–01:36 | 30 seconds</a:t>
            </a:r>
          </a:p>
          <a:p/>
          <a:p>
            <a:r>
              <a:t>NARRATION</a:t>
            </a:r>
          </a:p>
          <a:p>
            <a:r>
              <a:t>We test this approach in LIBERO, robomimic, and DMC. These clips introduce the tasks. On robomimic square, CAST reaches ninety percent success using thirty-eight percent fewer environment steps than DICE-RL. On five LIBERO tasks, updates with no controls or clipping alone have zero success. CAST improves every task over the base, although radial restoration alone is better on two.</a:t>
            </a:r>
          </a:p>
          <a:p/>
          <a:p>
            <a:r>
              <a:t>TIMED DELIVERY CUES (DIRECTIONS ARE NOT SPOKEN)</a:t>
            </a:r>
          </a:p>
          <a:p>
            <a:r>
              <a:t>01:06–01:15</a:t>
            </a:r>
          </a:p>
          <a:p>
            <a:r>
              <a:t>ON SCREEN: A05: LIBERO demonstration (0–3 s), robomimic demonstration (3–6 s), DMC scripted controller (6–9 s). These introduce the environments.</a:t>
            </a:r>
          </a:p>
          <a:p>
            <a:r>
              <a:t>SAY: We test this approach in LIBERO, robomimic, and DMC. These clips introduce the tasks.</a:t>
            </a:r>
          </a:p>
          <a:p/>
          <a:p>
            <a:r>
              <a:t>01:15–01:24</a:t>
            </a:r>
          </a:p>
          <a:p>
            <a:r>
              <a:t>ON SCREEN: Read the right-hand robomimic square efficiency chart; the left-hand LIBERO bars finish appearing.</a:t>
            </a:r>
          </a:p>
          <a:p>
            <a:r>
              <a:t>SAY: On robomimic square, CAST reaches ninety percent success using thirty-eight percent fewer environment steps than DICE-RL.</a:t>
            </a:r>
          </a:p>
          <a:p/>
          <a:p>
            <a:r>
              <a:t>01:24–01:30</a:t>
            </a:r>
          </a:p>
          <a:p>
            <a:r>
              <a:t>ON SCREEN: Left-hand LIBERO chart: no controls and clipping only both show zero. These are the five tested tasks.</a:t>
            </a:r>
          </a:p>
          <a:p>
            <a:r>
              <a:t>SAY: On five LIBERO tasks, updates with no controls or clipping alone have zero success.</a:t>
            </a:r>
          </a:p>
          <a:p/>
          <a:p>
            <a:r>
              <a:t>01:30–01:36</a:t>
            </a:r>
          </a:p>
          <a:p>
            <a:r>
              <a:t>ON SCREEN: CAST improves over the base on every task; the displayed bars aggregate five tasks. Radial-only beats CAST on two individual tasks.</a:t>
            </a:r>
          </a:p>
          <a:p>
            <a:r>
              <a:t>SAY: CAST improves every task over the base, although radial restoration alone is better on two.</a:t>
            </a:r>
          </a:p>
          <a:p/>
          <a:p>
            <a:r>
              <a:t>VISUAL CUES</a:t>
            </a:r>
          </a:p>
          <a:p>
            <a:r>
              <a:t>A05: First nine seconds: LIBERO and robomimic human demonstration replays, then DMC with a scripted controller. Remaining twenty-one seconds: the unchanged measured five-task LIBERO component comparison. Task footage illustrates the environments.</a:t>
            </a:r>
          </a:p>
          <a:p/>
          <a:p>
            <a:r>
              <a:t>SOURCES</a:t>
            </a:r>
          </a:p>
          <a:p>
            <a:r>
              <a:t>_ICRA_2027__CAST/sections/05_experiments.tex</a:t>
            </a:r>
          </a:p>
          <a:p>
            <a:r>
              <a:t>_ICRA_2027__CAST/sections/tables/05_ablations.tex</a:t>
            </a:r>
          </a:p>
          <a:p>
            <a:r>
              <a:t>_ICRA_2027__CAST/figures/experiment_chart_data.json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01:36–01:52 | 16 seconds</a:t>
            </a:r>
          </a:p>
          <a:p/>
          <a:p>
            <a:r>
              <a:t>NARRATION</a:t>
            </a:r>
          </a:p>
          <a:p>
            <a:r>
              <a:t>We then bring CAST to OpenArm, using chest and wrist cameras. Its flow-matching policy predicts short action sequences. We refine that policy offline, using recorded successes and failures, before testing autonomous placement and stacking.</a:t>
            </a:r>
          </a:p>
          <a:p/>
          <a:p>
            <a:r>
              <a:t>TIMED DELIVERY CUES (DIRECTIONS ARE NOT SPOKEN)</a:t>
            </a:r>
          </a:p>
          <a:p>
            <a:r>
              <a:t>01:36–01:41</a:t>
            </a:r>
          </a:p>
          <a:p>
            <a:r>
              <a:t>ON SCREEN: OpenArm scene and chest/wrist camera views.</a:t>
            </a:r>
          </a:p>
          <a:p>
            <a:r>
              <a:t>SAY: We then bring CAST to OpenArm, using chest and wrist cameras.</a:t>
            </a:r>
          </a:p>
          <a:p/>
          <a:p>
            <a:r>
              <a:t>01:41–01:45</a:t>
            </a:r>
          </a:p>
          <a:p>
            <a:r>
              <a:t>ON SCREEN: Policy block: a flow policy plus residual predicts action chunks.</a:t>
            </a:r>
          </a:p>
          <a:p>
            <a:r>
              <a:t>SAY: Its flow-matching policy predicts short action sequences.</a:t>
            </a:r>
          </a:p>
          <a:p/>
          <a:p>
            <a:r>
              <a:t>01:45–01:52</a:t>
            </a:r>
          </a:p>
          <a:p>
            <a:r>
              <a:t>ON SCREEN: Follow the recorded rollouts → offline refinement → autonomous evaluation diagram.</a:t>
            </a:r>
          </a:p>
          <a:p>
            <a:r>
              <a:t>SAY: We refine that policy offline, using recorded successes and failures, before testing autonomous placement and stacking.</a:t>
            </a:r>
          </a:p>
          <a:p/>
          <a:p>
            <a:r>
              <a:t>VISUAL CUES</a:t>
            </a:r>
          </a:p>
          <a:p>
            <a:r>
              <a:t>Static slide; no animation required.</a:t>
            </a:r>
          </a:p>
          <a:p/>
          <a:p>
            <a:r>
              <a:t>SOURCES</a:t>
            </a:r>
          </a:p>
          <a:p>
            <a:r>
              <a:t>_ICRA_2027__CAST/sections/05_real_robot.tex</a:t>
            </a:r>
          </a:p>
          <a:p>
            <a:r>
              <a:t>_ICRA_2027__CAST/sections/05_experimental_supplement.tex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01:52–02:08 | 16 seconds</a:t>
            </a:r>
          </a:p>
          <a:p/>
          <a:p>
            <a:r>
              <a:t>NARRATION</a:t>
            </a:r>
          </a:p>
          <a:p>
            <a:r>
              <a:t>In placement, the robot must put the toy fully inside the case. CAST increases success from fifty-five percent to ninety-five percent. That’s higher than behavior cloning and DICE-RL refinement.</a:t>
            </a:r>
          </a:p>
          <a:p/>
          <a:p>
            <a:r>
              <a:t>TIMED DELIVERY CUES (DIRECTIONS ARE NOT SPOKEN)</a:t>
            </a:r>
          </a:p>
          <a:p>
            <a:r>
              <a:t>01:52–01:57</a:t>
            </a:r>
          </a:p>
          <a:p>
            <a:r>
              <a:t>ON SCREEN: Placement task illustration; autonomous footage slot V01 currently contains a labeled demonstration still.</a:t>
            </a:r>
          </a:p>
          <a:p>
            <a:r>
              <a:t>SAY: In placement, the robot must put the toy fully inside the case.</a:t>
            </a:r>
          </a:p>
          <a:p/>
          <a:p>
            <a:r>
              <a:t>01:57–02:03</a:t>
            </a:r>
          </a:p>
          <a:p>
            <a:r>
              <a:t>ON SCREEN: Read base 55% and CAST 95% bars; leave a short pause around the percentages.</a:t>
            </a:r>
          </a:p>
          <a:p>
            <a:r>
              <a:t>SAY: CAST increases success from fifty-five percent to ninety-five percent.</a:t>
            </a:r>
          </a:p>
          <a:p/>
          <a:p>
            <a:r>
              <a:t>02:03–02:08</a:t>
            </a:r>
          </a:p>
          <a:p>
            <a:r>
              <a:t>ON SCREEN: BC 80% and DICE-RL 90% remain visible; do not read every number.</a:t>
            </a:r>
          </a:p>
          <a:p>
            <a:r>
              <a:t>SAY: That’s higher than behavior cloning and DICE-RL refinement.</a:t>
            </a:r>
          </a:p>
          <a:p/>
          <a:p>
            <a:r>
              <a:t>VISUAL CUES</a:t>
            </a:r>
          </a:p>
          <a:p>
            <a:r>
              <a:t>V01: Insert an actual autonomous placement rollout. Current still is a labeled teleoperated illustration, not a CAST evaluation.</a:t>
            </a:r>
          </a:p>
          <a:p/>
          <a:p>
            <a:r>
              <a:t>SOURCES</a:t>
            </a:r>
          </a:p>
          <a:p>
            <a:r>
              <a:t>_ICRA_2027__CAST/sections/05_real_robot.tex</a:t>
            </a:r>
          </a:p>
          <a:p>
            <a:r>
              <a:t>_ICRA_2027__CAST/real_robot_results.json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02:08–02:28 | 20 seconds</a:t>
            </a:r>
          </a:p>
          <a:p/>
          <a:p>
            <a:r>
              <a:t>NARRATION</a:t>
            </a:r>
          </a:p>
          <a:p>
            <a:r>
              <a:t>Stacking adds another challenge: a correct approach can still end in a failed release. With sparse rewards, that final failure makes the earlier actions harder to judge. Here, CAST increases success from thirty-five to seventy percent, again exceeding both refinement baselines.</a:t>
            </a:r>
          </a:p>
          <a:p/>
          <a:p>
            <a:r>
              <a:t>TIMED DELIVERY CUES (DIRECTIONS ARE NOT SPOKEN)</a:t>
            </a:r>
          </a:p>
          <a:p>
            <a:r>
              <a:t>02:08–02:15</a:t>
            </a:r>
          </a:p>
          <a:p>
            <a:r>
              <a:t>ON SCREEN: Stacking task illustration; V02 currently contains a labeled demonstration still. Explain the observed release failure.</a:t>
            </a:r>
          </a:p>
          <a:p>
            <a:r>
              <a:t>SAY: Stacking adds another challenge: a correct approach can still end in a failed release.</a:t>
            </a:r>
          </a:p>
          <a:p/>
          <a:p>
            <a:r>
              <a:t>02:15–02:21</a:t>
            </a:r>
          </a:p>
          <a:p>
            <a:r>
              <a:t>ON SCREEN: Connect the release failure to sparse-reward credit assignment; this is an interpretation, not a separate measured result.</a:t>
            </a:r>
          </a:p>
          <a:p>
            <a:r>
              <a:t>SAY: With sparse rewards, that final failure makes the earlier actions harder to judge.</a:t>
            </a:r>
          </a:p>
          <a:p/>
          <a:p>
            <a:r>
              <a:t>02:21–02:28</a:t>
            </a:r>
          </a:p>
          <a:p>
            <a:r>
              <a:t>ON SCREEN: Read base 35% and CAST 70%; BC 65% and DICE-RL 60% remain visible.</a:t>
            </a:r>
          </a:p>
          <a:p>
            <a:r>
              <a:t>SAY: Here, CAST increases success from thirty-five to seventy percent, again exceeding both refinement baselines.</a:t>
            </a:r>
          </a:p>
          <a:p/>
          <a:p>
            <a:r>
              <a:t>VISUAL CUES</a:t>
            </a:r>
          </a:p>
          <a:p>
            <a:r>
              <a:t>V02: Insert an actual autonomous stacking rollout showing release and stable final stack. Current still is teleoperated; no per-method clip is available here.</a:t>
            </a:r>
          </a:p>
          <a:p/>
          <a:p>
            <a:r>
              <a:t>SOURCES</a:t>
            </a:r>
          </a:p>
          <a:p>
            <a:r>
              <a:t>_ICRA_2027__CAST/sections/05_real_robot.tex</a:t>
            </a:r>
          </a:p>
          <a:p>
            <a:r>
              <a:t>_ICRA_2027__CAST/real_robot_results.json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02:28–02:36 | 8 seconds</a:t>
            </a:r>
          </a:p>
          <a:p/>
          <a:p>
            <a:r>
              <a:t>NARRATION</a:t>
            </a:r>
          </a:p>
          <a:p>
            <a:r>
              <a:t>In short, we guide improvement, limit each target step, and keep the original skill as a reference.</a:t>
            </a:r>
          </a:p>
          <a:p/>
          <a:p>
            <a:r>
              <a:t>TIMED DELIVERY CUES (DIRECTIONS ARE NOT SPOKEN)</a:t>
            </a:r>
          </a:p>
          <a:p>
            <a:r>
              <a:t>02:28–02:32</a:t>
            </a:r>
          </a:p>
          <a:p>
            <a:r>
              <a:t>ON SCREEN: Point through the three cards: critic guidance, soft restoration, bounded target steps.</a:t>
            </a:r>
          </a:p>
          <a:p>
            <a:r>
              <a:t>SAY: In short, we guide improvement, limit each target step,</a:t>
            </a:r>
          </a:p>
          <a:p/>
          <a:p>
            <a:r>
              <a:t>02:32–02:36</a:t>
            </a:r>
          </a:p>
          <a:p>
            <a:r>
              <a:t>ON SCREEN: Hold the closing title and project address.</a:t>
            </a:r>
          </a:p>
          <a:p>
            <a:r>
              <a:t>SAY: and keep the original skill as a reference.</a:t>
            </a:r>
          </a:p>
          <a:p/>
          <a:p>
            <a:r>
              <a:t>VISUAL CUES</a:t>
            </a:r>
          </a:p>
          <a:p>
            <a:r>
              <a:t>Static slide; no animation required.</a:t>
            </a:r>
          </a:p>
          <a:p/>
          <a:p>
            <a:r>
              <a:t>SOURCES</a:t>
            </a:r>
          </a:p>
          <a:p>
            <a:r>
              <a:t>_ICRA_2027__CAST/sections/06_conclusion.tex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01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THE IDEA</a:t>
            </a:r>
          </a:p>
        </p:txBody>
      </p:sp>
      <p:sp>
        <p:nvSpPr>
          <p:cNvPr id="3" name="S01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IDEA + METHOD</a:t>
            </a:r>
          </a:p>
        </p:txBody>
      </p:sp>
      <p:sp>
        <p:nvSpPr>
          <p:cNvPr id="4" name="S01_003"/>
          <p:cNvSpPr txBox="1"/>
          <p:nvPr/>
        </p:nvSpPr>
        <p:spPr>
          <a:xfrm>
            <a:off x="533400" y="1143000"/>
            <a:ext cx="6223000" cy="1308100"/>
          </a:xfrm>
          <a:prstGeom prst="rect">
            <a:avLst/>
          </a:prstGeom>
          <a:noFill/>
        </p:spPr>
        <p:txBody>
          <a:bodyPr wrap="none" lIns="0" rIns="0" tIns="0" bIns="0" anchor="t">
            <a:spAutoFit/>
          </a:bodyPr>
          <a:lstStyle/>
          <a:p>
            <a:pPr algn="l">
              <a:lnSpc>
                <a:spcPts val="9243"/>
              </a:lnSpc>
              <a:spcBef>
                <a:spcPts val="0"/>
              </a:spcBef>
              <a:spcAft>
                <a:spcPts val="0"/>
              </a:spcAft>
            </a:pPr>
            <a:r>
              <a:rPr sz="7900" b="1">
                <a:solidFill>
                  <a:srgbClr val="42D7B4"/>
                </a:solidFill>
                <a:latin typeface="DejaVu Sans"/>
              </a:rPr>
              <a:t>CAST</a:t>
            </a:r>
          </a:p>
        </p:txBody>
      </p:sp>
      <p:sp>
        <p:nvSpPr>
          <p:cNvPr id="5" name="S01_004"/>
          <p:cNvSpPr txBox="1"/>
          <p:nvPr/>
        </p:nvSpPr>
        <p:spPr>
          <a:xfrm>
            <a:off x="571500" y="2552700"/>
            <a:ext cx="6223000" cy="977900"/>
          </a:xfrm>
          <a:prstGeom prst="rect">
            <a:avLst/>
          </a:prstGeom>
          <a:noFill/>
        </p:spPr>
        <p:txBody>
          <a:bodyPr wrap="none" lIns="0" rIns="0" tIns="0" bIns="0" anchor="t">
            <a:spAutoFit/>
          </a:bodyPr>
          <a:lstStyle/>
          <a:p>
            <a:pPr algn="l">
              <a:lnSpc>
                <a:spcPts val="2808"/>
              </a:lnSpc>
              <a:spcBef>
                <a:spcPts val="0"/>
              </a:spcBef>
              <a:spcAft>
                <a:spcPts val="0"/>
              </a:spcAft>
            </a:pPr>
            <a:r>
              <a:rPr sz="2400" b="0">
                <a:solidFill>
                  <a:srgbClr val="F3F6FA"/>
                </a:solidFill>
                <a:latin typeface="DejaVu Sans"/>
              </a:rPr>
              <a:t>Anchoring critic-guided fine-tuning</a:t>
            </a:r>
          </a:p>
          <a:p>
            <a:pPr algn="l">
              <a:lnSpc>
                <a:spcPts val="2808"/>
              </a:lnSpc>
              <a:spcBef>
                <a:spcPts val="0"/>
              </a:spcBef>
              <a:spcAft>
                <a:spcPts val="0"/>
              </a:spcAft>
            </a:pPr>
            <a:r>
              <a:rPr sz="2400" b="0">
                <a:solidFill>
                  <a:srgbClr val="F3F6FA"/>
                </a:solidFill>
                <a:latin typeface="DejaVu Sans"/>
              </a:rPr>
              <a:t>of generative robot policies</a:t>
            </a:r>
          </a:p>
        </p:txBody>
      </p:sp>
      <p:sp>
        <p:nvSpPr>
          <p:cNvPr id="6" name="S01_005"/>
          <p:cNvSpPr txBox="1"/>
          <p:nvPr/>
        </p:nvSpPr>
        <p:spPr>
          <a:xfrm>
            <a:off x="571500" y="4089400"/>
            <a:ext cx="5905500" cy="1295400"/>
          </a:xfrm>
          <a:prstGeom prst="rect">
            <a:avLst/>
          </a:prstGeom>
          <a:noFill/>
        </p:spPr>
        <p:txBody>
          <a:bodyPr wrap="none" lIns="0" rIns="0" tIns="0" bIns="0" anchor="t">
            <a:spAutoFit/>
          </a:bodyPr>
          <a:lstStyle/>
          <a:p>
            <a:pPr algn="l">
              <a:lnSpc>
                <a:spcPts val="3978"/>
              </a:lnSpc>
              <a:spcBef>
                <a:spcPts val="0"/>
              </a:spcBef>
              <a:spcAft>
                <a:spcPts val="0"/>
              </a:spcAft>
            </a:pPr>
            <a:r>
              <a:rPr sz="3400" b="1">
                <a:solidFill>
                  <a:srgbClr val="F3F6FA"/>
                </a:solidFill>
                <a:latin typeface="DejaVu Sans"/>
              </a:rPr>
              <a:t>Improve the skill.</a:t>
            </a:r>
          </a:p>
          <a:p>
            <a:pPr algn="l">
              <a:lnSpc>
                <a:spcPts val="3978"/>
              </a:lnSpc>
              <a:spcBef>
                <a:spcPts val="0"/>
              </a:spcBef>
              <a:spcAft>
                <a:spcPts val="0"/>
              </a:spcAft>
            </a:pPr>
            <a:r>
              <a:rPr sz="3400" b="1">
                <a:solidFill>
                  <a:srgbClr val="F3F6FA"/>
                </a:solidFill>
                <a:latin typeface="DejaVu Sans"/>
              </a:rPr>
              <a:t>Keep what works.</a:t>
            </a:r>
          </a:p>
        </p:txBody>
      </p:sp>
      <p:sp>
        <p:nvSpPr>
          <p:cNvPr id="7" name="S01_006"/>
          <p:cNvSpPr/>
          <p:nvPr/>
        </p:nvSpPr>
        <p:spPr>
          <a:xfrm>
            <a:off x="7035800" y="1168400"/>
            <a:ext cx="4622800" cy="4368800"/>
          </a:xfrm>
          <a:prstGeom prst="roundRect">
            <a:avLst>
              <a:gd name="adj" fmla="val 2906"/>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S01_007" descr="image.png"/>
          <p:cNvPicPr>
            <a:picLocks noChangeAspect="1"/>
          </p:cNvPicPr>
          <p:nvPr/>
        </p:nvPicPr>
        <p:blipFill>
          <a:blip r:embed="rId2"/>
          <a:stretch>
            <a:fillRect/>
          </a:stretch>
        </p:blipFill>
        <p:spPr>
          <a:xfrm>
            <a:off x="7213600" y="1358900"/>
            <a:ext cx="4267200" cy="3136900"/>
          </a:xfrm>
          <a:prstGeom prst="rect">
            <a:avLst/>
          </a:prstGeom>
        </p:spPr>
      </p:pic>
      <p:sp>
        <p:nvSpPr>
          <p:cNvPr id="9" name="S01_008"/>
          <p:cNvSpPr txBox="1"/>
          <p:nvPr/>
        </p:nvSpPr>
        <p:spPr>
          <a:xfrm>
            <a:off x="7239000" y="4724400"/>
            <a:ext cx="4191000" cy="571500"/>
          </a:xfrm>
          <a:prstGeom prst="rect">
            <a:avLst/>
          </a:prstGeom>
          <a:noFill/>
        </p:spPr>
        <p:txBody>
          <a:bodyPr wrap="none" lIns="0" rIns="0" tIns="0" bIns="0" anchor="t">
            <a:spAutoFit/>
          </a:bodyPr>
          <a:lstStyle/>
          <a:p>
            <a:pPr algn="l">
              <a:lnSpc>
                <a:spcPts val="1989"/>
              </a:lnSpc>
              <a:spcBef>
                <a:spcPts val="0"/>
              </a:spcBef>
              <a:spcAft>
                <a:spcPts val="0"/>
              </a:spcAft>
            </a:pPr>
            <a:r>
              <a:rPr sz="1700" b="1">
                <a:solidFill>
                  <a:srgbClr val="F3F6FA"/>
                </a:solidFill>
                <a:latin typeface="DejaVu Sans"/>
              </a:rPr>
              <a:t>OpenArm · staircase manipulation</a:t>
            </a:r>
          </a:p>
        </p:txBody>
      </p:sp>
      <p:sp>
        <p:nvSpPr>
          <p:cNvPr id="10" name="S01_009"/>
          <p:cNvSpPr txBox="1"/>
          <p:nvPr/>
        </p:nvSpPr>
        <p:spPr>
          <a:xfrm>
            <a:off x="7239000" y="5219700"/>
            <a:ext cx="4191000" cy="215900"/>
          </a:xfrm>
          <a:prstGeom prst="rect">
            <a:avLst/>
          </a:prstGeom>
          <a:noFill/>
        </p:spPr>
        <p:txBody>
          <a:bodyPr wrap="none" lIns="0" rIns="0" tIns="0" bIns="0" anchor="t">
            <a:spAutoFit/>
          </a:bodyPr>
          <a:lstStyle/>
          <a:p>
            <a:pPr algn="l">
              <a:lnSpc>
                <a:spcPts val="1170"/>
              </a:lnSpc>
              <a:spcBef>
                <a:spcPts val="0"/>
              </a:spcBef>
              <a:spcAft>
                <a:spcPts val="0"/>
              </a:spcAft>
            </a:pPr>
            <a:r>
              <a:rPr sz="1000" b="0">
                <a:solidFill>
                  <a:srgbClr val="AFBDD0"/>
                </a:solidFill>
                <a:latin typeface="DejaVu Sans"/>
              </a:rPr>
              <a:t>Teleoperated demonstration frame</a:t>
            </a:r>
          </a:p>
        </p:txBody>
      </p:sp>
      <p:sp>
        <p:nvSpPr>
          <p:cNvPr id="11" name="S01_010"/>
          <p:cNvSpPr txBox="1"/>
          <p:nvPr/>
        </p:nvSpPr>
        <p:spPr>
          <a:xfrm>
            <a:off x="571500" y="5867400"/>
            <a:ext cx="10604500" cy="304800"/>
          </a:xfrm>
          <a:prstGeom prst="rect">
            <a:avLst/>
          </a:prstGeom>
          <a:noFill/>
        </p:spPr>
        <p:txBody>
          <a:bodyPr wrap="none" lIns="0" rIns="0" tIns="0" bIns="0" anchor="t">
            <a:spAutoFit/>
          </a:bodyPr>
          <a:lstStyle/>
          <a:p>
            <a:pPr algn="l">
              <a:lnSpc>
                <a:spcPts val="2222"/>
              </a:lnSpc>
              <a:spcBef>
                <a:spcPts val="0"/>
              </a:spcBef>
              <a:spcAft>
                <a:spcPts val="0"/>
              </a:spcAft>
            </a:pPr>
            <a:r>
              <a:rPr sz="1900" b="0">
                <a:solidFill>
                  <a:srgbClr val="AFBDD0"/>
                </a:solidFill>
                <a:latin typeface="DejaVu Sans"/>
              </a:rPr>
              <a:t>Persistent reference + useful adaptation</a:t>
            </a:r>
          </a:p>
        </p:txBody>
      </p:sp>
      <p:sp>
        <p:nvSpPr>
          <p:cNvPr id="12" name="S01_011"/>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13" name="S01_012"/>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01 / 10</a:t>
            </a:r>
          </a:p>
        </p:txBody>
      </p:sp>
      <p:sp>
        <p:nvSpPr>
          <p:cNvPr id="14" name="S01_013"/>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1_014"/>
          <p:cNvSpPr/>
          <p:nvPr/>
        </p:nvSpPr>
        <p:spPr>
          <a:xfrm>
            <a:off x="0" y="6807200"/>
            <a:ext cx="468923"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6000"/>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02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WHY ANCHORING MATTERS</a:t>
            </a:r>
          </a:p>
        </p:txBody>
      </p:sp>
      <p:sp>
        <p:nvSpPr>
          <p:cNvPr id="3" name="S02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IDEA + METHOD</a:t>
            </a:r>
          </a:p>
        </p:txBody>
      </p:sp>
      <p:sp>
        <p:nvSpPr>
          <p:cNvPr id="4" name="S02_003"/>
          <p:cNvSpPr txBox="1"/>
          <p:nvPr/>
        </p:nvSpPr>
        <p:spPr>
          <a:xfrm>
            <a:off x="533400" y="787400"/>
            <a:ext cx="11125200" cy="1003300"/>
          </a:xfrm>
          <a:prstGeom prst="rect">
            <a:avLst/>
          </a:prstGeom>
          <a:noFill/>
        </p:spPr>
        <p:txBody>
          <a:bodyPr wrap="none" lIns="0" rIns="0" tIns="0" bIns="0" anchor="t">
            <a:spAutoFit/>
          </a:bodyPr>
          <a:lstStyle/>
          <a:p>
            <a:pPr algn="l">
              <a:lnSpc>
                <a:spcPts val="3626"/>
              </a:lnSpc>
              <a:spcBef>
                <a:spcPts val="0"/>
              </a:spcBef>
              <a:spcAft>
                <a:spcPts val="0"/>
              </a:spcAft>
            </a:pPr>
            <a:r>
              <a:rPr sz="3100" b="1">
                <a:solidFill>
                  <a:srgbClr val="F3F6FA"/>
                </a:solidFill>
                <a:latin typeface="DejaVu Sans"/>
              </a:rPr>
              <a:t>Small steps can still drift.</a:t>
            </a:r>
          </a:p>
        </p:txBody>
      </p:sp>
      <p:sp>
        <p:nvSpPr>
          <p:cNvPr id="5" name="S02_004"/>
          <p:cNvSpPr txBox="1"/>
          <p:nvPr/>
        </p:nvSpPr>
        <p:spPr>
          <a:xfrm>
            <a:off x="558800" y="1435100"/>
            <a:ext cx="11023600" cy="342900"/>
          </a:xfrm>
          <a:prstGeom prst="rect">
            <a:avLst/>
          </a:prstGeom>
          <a:noFill/>
        </p:spPr>
        <p:txBody>
          <a:bodyPr wrap="none" lIns="0" rIns="0" tIns="0" bIns="0" anchor="t">
            <a:spAutoFit/>
          </a:bodyPr>
          <a:lstStyle/>
          <a:p>
            <a:pPr algn="l">
              <a:lnSpc>
                <a:spcPts val="1989"/>
              </a:lnSpc>
              <a:spcBef>
                <a:spcPts val="0"/>
              </a:spcBef>
              <a:spcAft>
                <a:spcPts val="0"/>
              </a:spcAft>
            </a:pPr>
            <a:r>
              <a:rPr sz="1700" b="0">
                <a:solidFill>
                  <a:srgbClr val="AFBDD0"/>
                </a:solidFill>
                <a:latin typeface="DejaVu Sans"/>
              </a:rPr>
              <a:t>An imperfect critic can turn local corrections into cumulative drift.</a:t>
            </a:r>
          </a:p>
        </p:txBody>
      </p:sp>
      <p:sp>
        <p:nvSpPr>
          <p:cNvPr id="6" name="MEDIA_A01_FRAME"/>
          <p:cNvSpPr/>
          <p:nvPr/>
        </p:nvSpPr>
        <p:spPr>
          <a:xfrm>
            <a:off x="533400" y="1943100"/>
            <a:ext cx="7670800" cy="4305300"/>
          </a:xfrm>
          <a:prstGeom prst="roundRect">
            <a:avLst>
              <a:gd name="adj" fmla="val 2359"/>
            </a:avLst>
          </a:prstGeom>
          <a:solidFill>
            <a:srgbClr val="16273B"/>
          </a:solidFill>
          <a:ln w="12700">
            <a:solidFill>
              <a:srgbClr val="334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MEDIA_A01_LABEL"/>
          <p:cNvSpPr txBox="1"/>
          <p:nvPr/>
        </p:nvSpPr>
        <p:spPr>
          <a:xfrm>
            <a:off x="736600" y="2095500"/>
            <a:ext cx="7264400" cy="2540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A01 / Accumulated drift</a:t>
            </a:r>
          </a:p>
        </p:txBody>
      </p:sp>
      <p:sp>
        <p:nvSpPr>
          <p:cNvPr id="8" name="MEDIA_A01_STATUS"/>
          <p:cNvSpPr txBox="1"/>
          <p:nvPr/>
        </p:nvSpPr>
        <p:spPr>
          <a:xfrm>
            <a:off x="736600" y="5956300"/>
            <a:ext cx="7264400" cy="2032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STATIC PREVIEW · ANIMATION RESERVED</a:t>
            </a:r>
          </a:p>
        </p:txBody>
      </p:sp>
      <p:sp>
        <p:nvSpPr>
          <p:cNvPr id="9" name="S02_008"/>
          <p:cNvSpPr txBox="1"/>
          <p:nvPr/>
        </p:nvSpPr>
        <p:spPr>
          <a:xfrm>
            <a:off x="825500" y="2527300"/>
            <a:ext cx="3505200" cy="317500"/>
          </a:xfrm>
          <a:prstGeom prst="rect">
            <a:avLst/>
          </a:prstGeom>
          <a:noFill/>
        </p:spPr>
        <p:txBody>
          <a:bodyPr wrap="none" lIns="0" rIns="0" tIns="0" bIns="0" anchor="t">
            <a:spAutoFit/>
          </a:bodyPr>
          <a:lstStyle/>
          <a:p>
            <a:pPr algn="l">
              <a:lnSpc>
                <a:spcPts val="2106"/>
              </a:lnSpc>
              <a:spcBef>
                <a:spcPts val="0"/>
              </a:spcBef>
              <a:spcAft>
                <a:spcPts val="0"/>
              </a:spcAft>
            </a:pPr>
            <a:r>
              <a:rPr sz="1800" b="1">
                <a:solidFill>
                  <a:srgbClr val="F0B360"/>
                </a:solidFill>
                <a:latin typeface="DejaVu Sans"/>
              </a:rPr>
              <a:t>Clipping only</a:t>
            </a:r>
          </a:p>
        </p:txBody>
      </p:sp>
      <p:sp>
        <p:nvSpPr>
          <p:cNvPr id="10" name="S02_009"/>
          <p:cNvSpPr/>
          <p:nvPr/>
        </p:nvSpPr>
        <p:spPr>
          <a:xfrm>
            <a:off x="1016000" y="3962400"/>
            <a:ext cx="1346200" cy="914400"/>
          </a:xfrm>
          <a:prstGeom prst="ellipse">
            <a:avLst/>
          </a:prstGeom>
          <a:solidFill>
            <a:srgbClr val="102135"/>
          </a:solidFill>
          <a:ln w="12700">
            <a:solidFill>
              <a:srgbClr val="7FB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02_010"/>
          <p:cNvSpPr/>
          <p:nvPr/>
        </p:nvSpPr>
        <p:spPr>
          <a:xfrm>
            <a:off x="1384300" y="43815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02_011"/>
          <p:cNvSpPr/>
          <p:nvPr/>
        </p:nvSpPr>
        <p:spPr>
          <a:xfrm>
            <a:off x="1511300" y="42545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02_012"/>
          <p:cNvSpPr/>
          <p:nvPr/>
        </p:nvSpPr>
        <p:spPr>
          <a:xfrm>
            <a:off x="1651000" y="44450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02_013"/>
          <p:cNvSpPr/>
          <p:nvPr/>
        </p:nvSpPr>
        <p:spPr>
          <a:xfrm>
            <a:off x="1854200" y="43561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2_014"/>
          <p:cNvSpPr/>
          <p:nvPr/>
        </p:nvSpPr>
        <p:spPr>
          <a:xfrm>
            <a:off x="1727200" y="45974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02_015"/>
          <p:cNvSpPr txBox="1"/>
          <p:nvPr/>
        </p:nvSpPr>
        <p:spPr>
          <a:xfrm>
            <a:off x="1041400" y="4978400"/>
            <a:ext cx="2540000" cy="292100"/>
          </a:xfrm>
          <a:prstGeom prst="rect">
            <a:avLst/>
          </a:prstGeom>
          <a:noFill/>
        </p:spPr>
        <p:txBody>
          <a:bodyPr wrap="none" lIns="0" rIns="0" tIns="0" bIns="0" anchor="t">
            <a:spAutoFit/>
          </a:bodyPr>
          <a:lstStyle/>
          <a:p>
            <a:pPr algn="l">
              <a:lnSpc>
                <a:spcPts val="1638"/>
              </a:lnSpc>
              <a:spcBef>
                <a:spcPts val="0"/>
              </a:spcBef>
              <a:spcAft>
                <a:spcPts val="0"/>
              </a:spcAft>
            </a:pPr>
            <a:r>
              <a:rPr sz="1400" b="0">
                <a:solidFill>
                  <a:srgbClr val="7FB0ED"/>
                </a:solidFill>
                <a:latin typeface="DejaVu Sans"/>
              </a:rPr>
              <a:t>Frozen base</a:t>
            </a:r>
          </a:p>
        </p:txBody>
      </p:sp>
      <p:cxnSp>
        <p:nvCxnSpPr>
          <p:cNvPr id="17" name="S02_016"/>
          <p:cNvCxnSpPr/>
          <p:nvPr/>
        </p:nvCxnSpPr>
        <p:spPr>
          <a:xfrm flipV="1">
            <a:off x="1689100" y="4127500"/>
            <a:ext cx="457200" cy="292100"/>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18" name="S02_017"/>
          <p:cNvCxnSpPr/>
          <p:nvPr/>
        </p:nvCxnSpPr>
        <p:spPr>
          <a:xfrm flipH="1">
            <a:off x="2112986" y="4127500"/>
            <a:ext cx="33314" cy="54059"/>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19" name="S02_018"/>
          <p:cNvCxnSpPr/>
          <p:nvPr/>
        </p:nvCxnSpPr>
        <p:spPr>
          <a:xfrm flipH="1">
            <a:off x="2083245" y="4127500"/>
            <a:ext cx="63055" cy="7508"/>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20" name="S02_019"/>
          <p:cNvCxnSpPr/>
          <p:nvPr/>
        </p:nvCxnSpPr>
        <p:spPr>
          <a:xfrm flipV="1">
            <a:off x="2146300" y="3797300"/>
            <a:ext cx="482600" cy="330200"/>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21" name="S02_020"/>
          <p:cNvCxnSpPr/>
          <p:nvPr/>
        </p:nvCxnSpPr>
        <p:spPr>
          <a:xfrm flipH="1">
            <a:off x="2597307" y="3797300"/>
            <a:ext cx="31593" cy="55082"/>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22" name="S02_021"/>
          <p:cNvCxnSpPr/>
          <p:nvPr/>
        </p:nvCxnSpPr>
        <p:spPr>
          <a:xfrm flipH="1">
            <a:off x="2566113" y="3797300"/>
            <a:ext cx="62787" cy="9492"/>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23" name="S02_022"/>
          <p:cNvCxnSpPr/>
          <p:nvPr/>
        </p:nvCxnSpPr>
        <p:spPr>
          <a:xfrm flipV="1">
            <a:off x="2628900" y="3403600"/>
            <a:ext cx="482600" cy="393700"/>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24" name="S02_023"/>
          <p:cNvCxnSpPr/>
          <p:nvPr/>
        </p:nvCxnSpPr>
        <p:spPr>
          <a:xfrm flipH="1">
            <a:off x="3084654" y="3403600"/>
            <a:ext cx="26846" cy="57546"/>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25" name="S02_024"/>
          <p:cNvCxnSpPr/>
          <p:nvPr/>
        </p:nvCxnSpPr>
        <p:spPr>
          <a:xfrm flipH="1">
            <a:off x="3049734" y="3403600"/>
            <a:ext cx="61766" cy="14741"/>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26" name="S02_025"/>
          <p:cNvCxnSpPr/>
          <p:nvPr/>
        </p:nvCxnSpPr>
        <p:spPr>
          <a:xfrm flipV="1">
            <a:off x="3111500" y="3048000"/>
            <a:ext cx="584200" cy="355600"/>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27" name="S02_026"/>
          <p:cNvCxnSpPr/>
          <p:nvPr/>
        </p:nvCxnSpPr>
        <p:spPr>
          <a:xfrm flipH="1">
            <a:off x="3661219" y="3048000"/>
            <a:ext cx="34481" cy="53322"/>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cxnSp>
        <p:nvCxnSpPr>
          <p:cNvPr id="28" name="S02_027"/>
          <p:cNvCxnSpPr/>
          <p:nvPr/>
        </p:nvCxnSpPr>
        <p:spPr>
          <a:xfrm flipH="1">
            <a:off x="3632497" y="3048000"/>
            <a:ext cx="63203" cy="6136"/>
          </a:xfrm>
          <a:prstGeom prst="line">
            <a:avLst/>
          </a:prstGeom>
          <a:ln w="25400">
            <a:solidFill>
              <a:srgbClr val="F0B360"/>
            </a:solidFill>
          </a:ln>
        </p:spPr>
        <p:style>
          <a:lnRef idx="2">
            <a:schemeClr val="accent1"/>
          </a:lnRef>
          <a:fillRef idx="0">
            <a:schemeClr val="accent1"/>
          </a:fillRef>
          <a:effectRef idx="1">
            <a:schemeClr val="accent1"/>
          </a:effectRef>
          <a:fontRef idx="minor">
            <a:schemeClr val="tx1"/>
          </a:fontRef>
        </p:style>
      </p:cxnSp>
      <p:sp>
        <p:nvSpPr>
          <p:cNvPr id="29" name="S02_028"/>
          <p:cNvSpPr/>
          <p:nvPr/>
        </p:nvSpPr>
        <p:spPr>
          <a:xfrm>
            <a:off x="3632200" y="2984500"/>
            <a:ext cx="127000" cy="127000"/>
          </a:xfrm>
          <a:prstGeom prst="ellipse">
            <a:avLst/>
          </a:prstGeom>
          <a:solidFill>
            <a:srgbClr val="F0B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02_029"/>
          <p:cNvSpPr txBox="1"/>
          <p:nvPr/>
        </p:nvSpPr>
        <p:spPr>
          <a:xfrm>
            <a:off x="4584700" y="2527300"/>
            <a:ext cx="3505200" cy="317500"/>
          </a:xfrm>
          <a:prstGeom prst="rect">
            <a:avLst/>
          </a:prstGeom>
          <a:noFill/>
        </p:spPr>
        <p:txBody>
          <a:bodyPr wrap="none" lIns="0" rIns="0" tIns="0" bIns="0" anchor="t">
            <a:spAutoFit/>
          </a:bodyPr>
          <a:lstStyle/>
          <a:p>
            <a:pPr algn="l">
              <a:lnSpc>
                <a:spcPts val="2106"/>
              </a:lnSpc>
              <a:spcBef>
                <a:spcPts val="0"/>
              </a:spcBef>
              <a:spcAft>
                <a:spcPts val="0"/>
              </a:spcAft>
            </a:pPr>
            <a:r>
              <a:rPr sz="1800" b="1">
                <a:solidFill>
                  <a:srgbClr val="42D7B4"/>
                </a:solidFill>
                <a:latin typeface="DejaVu Sans"/>
              </a:rPr>
              <a:t>With restoration</a:t>
            </a:r>
          </a:p>
        </p:txBody>
      </p:sp>
      <p:sp>
        <p:nvSpPr>
          <p:cNvPr id="31" name="S02_030"/>
          <p:cNvSpPr/>
          <p:nvPr/>
        </p:nvSpPr>
        <p:spPr>
          <a:xfrm>
            <a:off x="4775200" y="3962400"/>
            <a:ext cx="1346200" cy="914400"/>
          </a:xfrm>
          <a:prstGeom prst="ellipse">
            <a:avLst/>
          </a:prstGeom>
          <a:solidFill>
            <a:srgbClr val="102135"/>
          </a:solidFill>
          <a:ln w="12700">
            <a:solidFill>
              <a:srgbClr val="7FB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S02_031"/>
          <p:cNvSpPr/>
          <p:nvPr/>
        </p:nvSpPr>
        <p:spPr>
          <a:xfrm>
            <a:off x="5143500" y="43815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02_032"/>
          <p:cNvSpPr/>
          <p:nvPr/>
        </p:nvSpPr>
        <p:spPr>
          <a:xfrm>
            <a:off x="5270500" y="42545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02_033"/>
          <p:cNvSpPr/>
          <p:nvPr/>
        </p:nvSpPr>
        <p:spPr>
          <a:xfrm>
            <a:off x="5410200" y="44450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S02_034"/>
          <p:cNvSpPr/>
          <p:nvPr/>
        </p:nvSpPr>
        <p:spPr>
          <a:xfrm>
            <a:off x="5613400" y="43561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02_035"/>
          <p:cNvSpPr/>
          <p:nvPr/>
        </p:nvSpPr>
        <p:spPr>
          <a:xfrm>
            <a:off x="5486400" y="4597400"/>
            <a:ext cx="76200" cy="762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S02_036"/>
          <p:cNvSpPr txBox="1"/>
          <p:nvPr/>
        </p:nvSpPr>
        <p:spPr>
          <a:xfrm>
            <a:off x="4800600" y="4978400"/>
            <a:ext cx="2540000" cy="292100"/>
          </a:xfrm>
          <a:prstGeom prst="rect">
            <a:avLst/>
          </a:prstGeom>
          <a:noFill/>
        </p:spPr>
        <p:txBody>
          <a:bodyPr wrap="none" lIns="0" rIns="0" tIns="0" bIns="0" anchor="t">
            <a:spAutoFit/>
          </a:bodyPr>
          <a:lstStyle/>
          <a:p>
            <a:pPr algn="l">
              <a:lnSpc>
                <a:spcPts val="1638"/>
              </a:lnSpc>
              <a:spcBef>
                <a:spcPts val="0"/>
              </a:spcBef>
              <a:spcAft>
                <a:spcPts val="0"/>
              </a:spcAft>
            </a:pPr>
            <a:r>
              <a:rPr sz="1400" b="0">
                <a:solidFill>
                  <a:srgbClr val="7FB0ED"/>
                </a:solidFill>
                <a:latin typeface="DejaVu Sans"/>
              </a:rPr>
              <a:t>Frozen base</a:t>
            </a:r>
          </a:p>
        </p:txBody>
      </p:sp>
      <p:cxnSp>
        <p:nvCxnSpPr>
          <p:cNvPr id="38" name="S02_037"/>
          <p:cNvCxnSpPr/>
          <p:nvPr/>
        </p:nvCxnSpPr>
        <p:spPr>
          <a:xfrm flipV="1">
            <a:off x="5448300" y="4127500"/>
            <a:ext cx="457200" cy="29210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39" name="S02_038"/>
          <p:cNvCxnSpPr/>
          <p:nvPr/>
        </p:nvCxnSpPr>
        <p:spPr>
          <a:xfrm flipH="1">
            <a:off x="5872186" y="4127500"/>
            <a:ext cx="33314" cy="54059"/>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0" name="S02_039"/>
          <p:cNvCxnSpPr/>
          <p:nvPr/>
        </p:nvCxnSpPr>
        <p:spPr>
          <a:xfrm flipH="1">
            <a:off x="5842445" y="4127500"/>
            <a:ext cx="63055" cy="7508"/>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1" name="S02_040"/>
          <p:cNvCxnSpPr/>
          <p:nvPr/>
        </p:nvCxnSpPr>
        <p:spPr>
          <a:xfrm flipV="1">
            <a:off x="5905500" y="3949700"/>
            <a:ext cx="190500" cy="17780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2" name="S02_041"/>
          <p:cNvCxnSpPr/>
          <p:nvPr/>
        </p:nvCxnSpPr>
        <p:spPr>
          <a:xfrm flipH="1">
            <a:off x="6073045" y="3949700"/>
            <a:ext cx="22955" cy="59205"/>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3" name="S02_042"/>
          <p:cNvCxnSpPr/>
          <p:nvPr/>
        </p:nvCxnSpPr>
        <p:spPr>
          <a:xfrm flipH="1">
            <a:off x="6035353" y="3949700"/>
            <a:ext cx="60647" cy="18821"/>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4" name="S02_043"/>
          <p:cNvCxnSpPr/>
          <p:nvPr/>
        </p:nvCxnSpPr>
        <p:spPr>
          <a:xfrm flipH="1">
            <a:off x="6019800" y="3949700"/>
            <a:ext cx="76200" cy="15240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5" name="S02_044"/>
          <p:cNvCxnSpPr/>
          <p:nvPr/>
        </p:nvCxnSpPr>
        <p:spPr>
          <a:xfrm flipV="1">
            <a:off x="6019800" y="4038605"/>
            <a:ext cx="866" cy="63495"/>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6" name="S02_045"/>
          <p:cNvCxnSpPr/>
          <p:nvPr/>
        </p:nvCxnSpPr>
        <p:spPr>
          <a:xfrm flipV="1">
            <a:off x="6019800" y="4063310"/>
            <a:ext cx="50275" cy="3879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7" name="S02_046"/>
          <p:cNvCxnSpPr/>
          <p:nvPr/>
        </p:nvCxnSpPr>
        <p:spPr>
          <a:xfrm flipV="1">
            <a:off x="6019800" y="4051300"/>
            <a:ext cx="76200" cy="5080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8" name="S02_047"/>
          <p:cNvCxnSpPr/>
          <p:nvPr/>
        </p:nvCxnSpPr>
        <p:spPr>
          <a:xfrm flipH="1">
            <a:off x="6063745" y="4051300"/>
            <a:ext cx="32255" cy="54698"/>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9" name="S02_048"/>
          <p:cNvCxnSpPr/>
          <p:nvPr/>
        </p:nvCxnSpPr>
        <p:spPr>
          <a:xfrm flipH="1">
            <a:off x="6033103" y="4051300"/>
            <a:ext cx="62897" cy="8735"/>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sp>
        <p:nvSpPr>
          <p:cNvPr id="50" name="S02_049"/>
          <p:cNvSpPr/>
          <p:nvPr/>
        </p:nvSpPr>
        <p:spPr>
          <a:xfrm>
            <a:off x="6032500" y="3987800"/>
            <a:ext cx="127000" cy="127000"/>
          </a:xfrm>
          <a:prstGeom prst="ellipse">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S02_050"/>
          <p:cNvCxnSpPr/>
          <p:nvPr/>
        </p:nvCxnSpPr>
        <p:spPr>
          <a:xfrm flipV="1">
            <a:off x="5448300" y="4051300"/>
            <a:ext cx="647700" cy="368300"/>
          </a:xfrm>
          <a:prstGeom prst="line">
            <a:avLst/>
          </a:prstGeom>
          <a:ln w="12700">
            <a:solidFill>
              <a:srgbClr val="7FB0ED"/>
            </a:solidFill>
            <a:prstDash val="dash"/>
          </a:ln>
        </p:spPr>
        <p:style>
          <a:lnRef idx="2">
            <a:schemeClr val="accent1"/>
          </a:lnRef>
          <a:fillRef idx="0">
            <a:schemeClr val="accent1"/>
          </a:fillRef>
          <a:effectRef idx="1">
            <a:schemeClr val="accent1"/>
          </a:effectRef>
          <a:fontRef idx="minor">
            <a:schemeClr val="tx1"/>
          </a:fontRef>
        </p:style>
      </p:cxnSp>
      <p:cxnSp>
        <p:nvCxnSpPr>
          <p:cNvPr id="52" name="S02_051"/>
          <p:cNvCxnSpPr/>
          <p:nvPr/>
        </p:nvCxnSpPr>
        <p:spPr>
          <a:xfrm>
            <a:off x="4368800" y="2527300"/>
            <a:ext cx="0" cy="3048000"/>
          </a:xfrm>
          <a:prstGeom prst="line">
            <a:avLst/>
          </a:prstGeom>
          <a:ln w="12700">
            <a:solidFill>
              <a:srgbClr val="33455B"/>
            </a:solidFill>
          </a:ln>
        </p:spPr>
        <p:style>
          <a:lnRef idx="2">
            <a:schemeClr val="accent1"/>
          </a:lnRef>
          <a:fillRef idx="0">
            <a:schemeClr val="accent1"/>
          </a:fillRef>
          <a:effectRef idx="1">
            <a:schemeClr val="accent1"/>
          </a:effectRef>
          <a:fontRef idx="minor">
            <a:schemeClr val="tx1"/>
          </a:fontRef>
        </p:style>
      </p:cxnSp>
      <p:sp>
        <p:nvSpPr>
          <p:cNvPr id="53" name="S02_052"/>
          <p:cNvSpPr txBox="1"/>
          <p:nvPr/>
        </p:nvSpPr>
        <p:spPr>
          <a:xfrm>
            <a:off x="901700" y="5626100"/>
            <a:ext cx="6858000" cy="279400"/>
          </a:xfrm>
          <a:prstGeom prst="rect">
            <a:avLst/>
          </a:prstGeom>
          <a:noFill/>
        </p:spPr>
        <p:txBody>
          <a:bodyPr wrap="none" lIns="0" rIns="0" tIns="0" bIns="0" anchor="t">
            <a:spAutoFit/>
          </a:bodyPr>
          <a:lstStyle/>
          <a:p>
            <a:pPr algn="ctr">
              <a:lnSpc>
                <a:spcPts val="1404"/>
              </a:lnSpc>
              <a:spcBef>
                <a:spcPts val="0"/>
              </a:spcBef>
              <a:spcAft>
                <a:spcPts val="0"/>
              </a:spcAft>
            </a:pPr>
            <a:r>
              <a:rPr sz="1200" b="0">
                <a:solidFill>
                  <a:srgbClr val="AFBDD0"/>
                </a:solidFill>
                <a:latin typeface="DejaVu Sans"/>
              </a:rPr>
              <a:t>Illustrative action space · not a measured learning curve</a:t>
            </a:r>
          </a:p>
        </p:txBody>
      </p:sp>
      <p:sp>
        <p:nvSpPr>
          <p:cNvPr id="54" name="S02_053"/>
          <p:cNvSpPr/>
          <p:nvPr/>
        </p:nvSpPr>
        <p:spPr>
          <a:xfrm>
            <a:off x="8496300" y="2184400"/>
            <a:ext cx="3162300" cy="1511300"/>
          </a:xfrm>
          <a:prstGeom prst="roundRect">
            <a:avLst>
              <a:gd name="adj" fmla="val 5882"/>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S02_054"/>
          <p:cNvSpPr/>
          <p:nvPr/>
        </p:nvSpPr>
        <p:spPr>
          <a:xfrm>
            <a:off x="8496300" y="2184400"/>
            <a:ext cx="50800" cy="1511300"/>
          </a:xfrm>
          <a:prstGeom prst="rect">
            <a:avLst/>
          </a:prstGeom>
          <a:solidFill>
            <a:srgbClr val="F0B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S02_055"/>
          <p:cNvSpPr txBox="1"/>
          <p:nvPr/>
        </p:nvSpPr>
        <p:spPr>
          <a:xfrm>
            <a:off x="8699500" y="2336800"/>
            <a:ext cx="2755900" cy="342900"/>
          </a:xfrm>
          <a:prstGeom prst="rect">
            <a:avLst/>
          </a:prstGeom>
          <a:noFill/>
        </p:spPr>
        <p:txBody>
          <a:bodyPr wrap="none" lIns="0" rIns="0" tIns="0" bIns="0" anchor="t">
            <a:spAutoFit/>
          </a:bodyPr>
          <a:lstStyle/>
          <a:p>
            <a:pPr algn="l">
              <a:lnSpc>
                <a:spcPts val="2106"/>
              </a:lnSpc>
              <a:spcBef>
                <a:spcPts val="0"/>
              </a:spcBef>
              <a:spcAft>
                <a:spcPts val="0"/>
              </a:spcAft>
            </a:pPr>
            <a:r>
              <a:rPr sz="1800" b="1">
                <a:solidFill>
                  <a:srgbClr val="F0B360"/>
                </a:solidFill>
                <a:latin typeface="DejaVu Sans"/>
              </a:rPr>
              <a:t>Clipping</a:t>
            </a:r>
          </a:p>
        </p:txBody>
      </p:sp>
      <p:sp>
        <p:nvSpPr>
          <p:cNvPr id="57" name="S02_056"/>
          <p:cNvSpPr txBox="1"/>
          <p:nvPr/>
        </p:nvSpPr>
        <p:spPr>
          <a:xfrm>
            <a:off x="8699500" y="2717800"/>
            <a:ext cx="2755900" cy="914400"/>
          </a:xfrm>
          <a:prstGeom prst="rect">
            <a:avLst/>
          </a:prstGeom>
          <a:noFill/>
        </p:spPr>
        <p:txBody>
          <a:bodyPr wrap="none" lIns="0" rIns="0" tIns="0" bIns="0" anchor="t">
            <a:spAutoFit/>
          </a:bodyPr>
          <a:lstStyle/>
          <a:p>
            <a:pPr algn="l">
              <a:lnSpc>
                <a:spcPts val="1638"/>
              </a:lnSpc>
              <a:spcBef>
                <a:spcPts val="0"/>
              </a:spcBef>
              <a:spcAft>
                <a:spcPts val="0"/>
              </a:spcAft>
            </a:pPr>
            <a:r>
              <a:rPr sz="1400" b="0">
                <a:solidFill>
                  <a:srgbClr val="AFBDD0"/>
                </a:solidFill>
                <a:latin typeface="DejaVu Sans"/>
              </a:rPr>
              <a:t>Limits each individual</a:t>
            </a:r>
          </a:p>
          <a:p>
            <a:pPr algn="l">
              <a:lnSpc>
                <a:spcPts val="1638"/>
              </a:lnSpc>
              <a:spcBef>
                <a:spcPts val="0"/>
              </a:spcBef>
              <a:spcAft>
                <a:spcPts val="0"/>
              </a:spcAft>
            </a:pPr>
            <a:r>
              <a:rPr sz="1400" b="0">
                <a:solidFill>
                  <a:srgbClr val="AFBDD0"/>
                </a:solidFill>
                <a:latin typeface="DejaVu Sans"/>
              </a:rPr>
              <a:t>correction.</a:t>
            </a:r>
          </a:p>
        </p:txBody>
      </p:sp>
      <p:sp>
        <p:nvSpPr>
          <p:cNvPr id="58" name="S02_057"/>
          <p:cNvSpPr/>
          <p:nvPr/>
        </p:nvSpPr>
        <p:spPr>
          <a:xfrm>
            <a:off x="8496300" y="3987800"/>
            <a:ext cx="3162300" cy="1765300"/>
          </a:xfrm>
          <a:prstGeom prst="roundRect">
            <a:avLst>
              <a:gd name="adj" fmla="val 5035"/>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S02_058"/>
          <p:cNvSpPr/>
          <p:nvPr/>
        </p:nvSpPr>
        <p:spPr>
          <a:xfrm>
            <a:off x="8496300" y="3987800"/>
            <a:ext cx="50800" cy="17653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S02_059"/>
          <p:cNvSpPr txBox="1"/>
          <p:nvPr/>
        </p:nvSpPr>
        <p:spPr>
          <a:xfrm>
            <a:off x="8699500" y="4140200"/>
            <a:ext cx="2755900" cy="342900"/>
          </a:xfrm>
          <a:prstGeom prst="rect">
            <a:avLst/>
          </a:prstGeom>
          <a:noFill/>
        </p:spPr>
        <p:txBody>
          <a:bodyPr wrap="none" lIns="0" rIns="0" tIns="0" bIns="0" anchor="t">
            <a:spAutoFit/>
          </a:bodyPr>
          <a:lstStyle/>
          <a:p>
            <a:pPr algn="l">
              <a:lnSpc>
                <a:spcPts val="2106"/>
              </a:lnSpc>
              <a:spcBef>
                <a:spcPts val="0"/>
              </a:spcBef>
              <a:spcAft>
                <a:spcPts val="0"/>
              </a:spcAft>
            </a:pPr>
            <a:r>
              <a:rPr sz="1800" b="1">
                <a:solidFill>
                  <a:srgbClr val="42D7B4"/>
                </a:solidFill>
                <a:latin typeface="DejaVu Sans"/>
              </a:rPr>
              <a:t>Restoration</a:t>
            </a:r>
          </a:p>
        </p:txBody>
      </p:sp>
      <p:sp>
        <p:nvSpPr>
          <p:cNvPr id="61" name="S02_060"/>
          <p:cNvSpPr txBox="1"/>
          <p:nvPr/>
        </p:nvSpPr>
        <p:spPr>
          <a:xfrm>
            <a:off x="8699500" y="4521200"/>
            <a:ext cx="2755900" cy="1168400"/>
          </a:xfrm>
          <a:prstGeom prst="rect">
            <a:avLst/>
          </a:prstGeom>
          <a:noFill/>
        </p:spPr>
        <p:txBody>
          <a:bodyPr wrap="none" lIns="0" rIns="0" tIns="0" bIns="0" anchor="t">
            <a:spAutoFit/>
          </a:bodyPr>
          <a:lstStyle/>
          <a:p>
            <a:pPr algn="l">
              <a:lnSpc>
                <a:spcPts val="1638"/>
              </a:lnSpc>
              <a:spcBef>
                <a:spcPts val="0"/>
              </a:spcBef>
              <a:spcAft>
                <a:spcPts val="0"/>
              </a:spcAft>
            </a:pPr>
            <a:r>
              <a:rPr sz="1400" b="0">
                <a:solidFill>
                  <a:srgbClr val="AFBDD0"/>
                </a:solidFill>
                <a:latin typeface="DejaVu Sans"/>
              </a:rPr>
              <a:t>Responds to departure</a:t>
            </a:r>
          </a:p>
          <a:p>
            <a:pPr algn="l">
              <a:lnSpc>
                <a:spcPts val="1638"/>
              </a:lnSpc>
              <a:spcBef>
                <a:spcPts val="0"/>
              </a:spcBef>
              <a:spcAft>
                <a:spcPts val="0"/>
              </a:spcAft>
            </a:pPr>
            <a:r>
              <a:rPr sz="1400" b="0">
                <a:solidFill>
                  <a:srgbClr val="AFBDD0"/>
                </a:solidFill>
                <a:latin typeface="DejaVu Sans"/>
              </a:rPr>
              <a:t>already accumulated.</a:t>
            </a:r>
          </a:p>
        </p:txBody>
      </p:sp>
      <p:sp>
        <p:nvSpPr>
          <p:cNvPr id="62" name="MEDIA_A01_MASK"/>
          <p:cNvSpPr/>
          <p:nvPr/>
        </p:nvSpPr>
        <p:spPr>
          <a:xfrm>
            <a:off x="533400" y="1943100"/>
            <a:ext cx="7670800" cy="43053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S02_062" descr="image.png"/>
          <p:cNvPicPr>
            <a:picLocks noChangeAspect="1"/>
          </p:cNvPicPr>
          <p:nvPr/>
        </p:nvPicPr>
        <p:blipFill>
          <a:blip r:embed="rId2"/>
          <a:stretch>
            <a:fillRect/>
          </a:stretch>
        </p:blipFill>
        <p:spPr>
          <a:xfrm>
            <a:off x="541866" y="1943100"/>
            <a:ext cx="7653866" cy="4305300"/>
          </a:xfrm>
          <a:prstGeom prst="rect">
            <a:avLst/>
          </a:prstGeom>
        </p:spPr>
      </p:pic>
      <p:pic>
        <p:nvPicPr>
          <p:cNvPr id="64" name="MEDIA_A01_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2"/>
          <a:stretch>
            <a:fillRect/>
          </a:stretch>
        </p:blipFill>
        <p:spPr>
          <a:xfrm>
            <a:off x="541866" y="1943100"/>
            <a:ext cx="7653866" cy="4305300"/>
          </a:xfrm>
          <a:prstGeom prst="rect">
            <a:avLst/>
          </a:prstGeom>
        </p:spPr>
      </p:pic>
      <p:sp>
        <p:nvSpPr>
          <p:cNvPr id="65" name="S02_064"/>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66" name="S02_065"/>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02 / 10</a:t>
            </a:r>
          </a:p>
        </p:txBody>
      </p:sp>
      <p:sp>
        <p:nvSpPr>
          <p:cNvPr id="67" name="S02_066"/>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S02_067"/>
          <p:cNvSpPr/>
          <p:nvPr/>
        </p:nvSpPr>
        <p:spPr>
          <a:xfrm>
            <a:off x="0" y="6807200"/>
            <a:ext cx="1406769"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12000"/>
  <p:timing>
    <p:tnLst>
      <p:par>
        <p:cTn id="1" dur="indefinite" restart="never" nodeType="tmRoot">
          <p:childTnLst>
            <p:video>
              <p:cMediaNode vol="80000">
                <p:cTn id="2" fill="hold" display="0">
                  <p:stCondLst>
                    <p:cond delay="0"/>
                  </p:stCondLst>
                </p:cTn>
                <p:tgtEl>
                  <p:spTgt spid="6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03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POLICY ARCHITECTURE</a:t>
            </a:r>
          </a:p>
        </p:txBody>
      </p:sp>
      <p:sp>
        <p:nvSpPr>
          <p:cNvPr id="3" name="S03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IDEA + METHOD</a:t>
            </a:r>
          </a:p>
        </p:txBody>
      </p:sp>
      <p:sp>
        <p:nvSpPr>
          <p:cNvPr id="4" name="S03_003"/>
          <p:cNvSpPr txBox="1"/>
          <p:nvPr/>
        </p:nvSpPr>
        <p:spPr>
          <a:xfrm>
            <a:off x="533400" y="787400"/>
            <a:ext cx="11125200" cy="1003300"/>
          </a:xfrm>
          <a:prstGeom prst="rect">
            <a:avLst/>
          </a:prstGeom>
          <a:noFill/>
        </p:spPr>
        <p:txBody>
          <a:bodyPr wrap="none" lIns="0" rIns="0" tIns="0" bIns="0" anchor="t">
            <a:spAutoFit/>
          </a:bodyPr>
          <a:lstStyle/>
          <a:p>
            <a:pPr algn="l">
              <a:lnSpc>
                <a:spcPts val="3626"/>
              </a:lnSpc>
              <a:spcBef>
                <a:spcPts val="0"/>
              </a:spcBef>
              <a:spcAft>
                <a:spcPts val="0"/>
              </a:spcAft>
            </a:pPr>
            <a:r>
              <a:rPr sz="3100" b="1">
                <a:solidFill>
                  <a:srgbClr val="F3F6FA"/>
                </a:solidFill>
                <a:latin typeface="DejaVu Sans"/>
              </a:rPr>
              <a:t>Freeze the base. Learn a correction.</a:t>
            </a:r>
          </a:p>
        </p:txBody>
      </p:sp>
      <p:sp>
        <p:nvSpPr>
          <p:cNvPr id="5" name="S03_004"/>
          <p:cNvSpPr txBox="1"/>
          <p:nvPr/>
        </p:nvSpPr>
        <p:spPr>
          <a:xfrm>
            <a:off x="546100" y="1473200"/>
            <a:ext cx="11099800" cy="304800"/>
          </a:xfrm>
          <a:prstGeom prst="rect">
            <a:avLst/>
          </a:prstGeom>
          <a:noFill/>
        </p:spPr>
        <p:txBody>
          <a:bodyPr wrap="none" lIns="0" rIns="0" tIns="0" bIns="0" anchor="t">
            <a:spAutoFit/>
          </a:bodyPr>
          <a:lstStyle/>
          <a:p>
            <a:pPr algn="l">
              <a:lnSpc>
                <a:spcPts val="1872"/>
              </a:lnSpc>
              <a:spcBef>
                <a:spcPts val="0"/>
              </a:spcBef>
              <a:spcAft>
                <a:spcPts val="0"/>
              </a:spcAft>
            </a:pPr>
            <a:r>
              <a:rPr sz="1600" b="0">
                <a:solidFill>
                  <a:srgbClr val="AFBDD0"/>
                </a:solidFill>
                <a:latin typeface="DejaVu Sans"/>
              </a:rPr>
              <a:t>Use the same observation and noise to pair the base and current action.</a:t>
            </a:r>
          </a:p>
        </p:txBody>
      </p:sp>
      <p:sp>
        <p:nvSpPr>
          <p:cNvPr id="6" name="S03_005"/>
          <p:cNvSpPr/>
          <p:nvPr/>
        </p:nvSpPr>
        <p:spPr>
          <a:xfrm>
            <a:off x="546100" y="2019300"/>
            <a:ext cx="5067300" cy="3860800"/>
          </a:xfrm>
          <a:prstGeom prst="roundRect">
            <a:avLst>
              <a:gd name="adj" fmla="val 2631"/>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3_006"/>
          <p:cNvSpPr txBox="1"/>
          <p:nvPr/>
        </p:nvSpPr>
        <p:spPr>
          <a:xfrm>
            <a:off x="812800" y="2298700"/>
            <a:ext cx="4533900" cy="381000"/>
          </a:xfrm>
          <a:prstGeom prst="rect">
            <a:avLst/>
          </a:prstGeom>
          <a:noFill/>
        </p:spPr>
        <p:txBody>
          <a:bodyPr wrap="none" lIns="0" rIns="0" tIns="0" bIns="0" anchor="t">
            <a:spAutoFit/>
          </a:bodyPr>
          <a:lstStyle/>
          <a:p>
            <a:pPr algn="ctr">
              <a:lnSpc>
                <a:spcPts val="2106"/>
              </a:lnSpc>
              <a:spcBef>
                <a:spcPts val="0"/>
              </a:spcBef>
              <a:spcAft>
                <a:spcPts val="0"/>
              </a:spcAft>
            </a:pPr>
            <a:r>
              <a:rPr sz="1800" b="0">
                <a:solidFill>
                  <a:srgbClr val="F3F6FA"/>
                </a:solidFill>
                <a:latin typeface="DejaVu Sans"/>
              </a:rPr>
              <a:t>Observation s + shared noise z</a:t>
            </a:r>
          </a:p>
        </p:txBody>
      </p:sp>
      <p:cxnSp>
        <p:nvCxnSpPr>
          <p:cNvPr id="8" name="S03_007"/>
          <p:cNvCxnSpPr/>
          <p:nvPr/>
        </p:nvCxnSpPr>
        <p:spPr>
          <a:xfrm>
            <a:off x="2032000" y="2743200"/>
            <a:ext cx="0" cy="317500"/>
          </a:xfrm>
          <a:prstGeom prst="line">
            <a:avLst/>
          </a:prstGeom>
          <a:ln w="25400">
            <a:solidFill>
              <a:srgbClr val="7FB0ED"/>
            </a:solidFill>
          </a:ln>
        </p:spPr>
        <p:style>
          <a:lnRef idx="2">
            <a:schemeClr val="accent1"/>
          </a:lnRef>
          <a:fillRef idx="0">
            <a:schemeClr val="accent1"/>
          </a:fillRef>
          <a:effectRef idx="1">
            <a:schemeClr val="accent1"/>
          </a:effectRef>
          <a:fontRef idx="minor">
            <a:schemeClr val="tx1"/>
          </a:fontRef>
        </p:style>
      </p:cxnSp>
      <p:cxnSp>
        <p:nvCxnSpPr>
          <p:cNvPr id="9" name="S03_008"/>
          <p:cNvCxnSpPr/>
          <p:nvPr/>
        </p:nvCxnSpPr>
        <p:spPr>
          <a:xfrm flipH="1" flipV="1">
            <a:off x="1987807" y="2969214"/>
            <a:ext cx="44193" cy="91486"/>
          </a:xfrm>
          <a:prstGeom prst="line">
            <a:avLst/>
          </a:prstGeom>
          <a:ln w="25400">
            <a:solidFill>
              <a:srgbClr val="7FB0ED"/>
            </a:solidFill>
          </a:ln>
        </p:spPr>
        <p:style>
          <a:lnRef idx="2">
            <a:schemeClr val="accent1"/>
          </a:lnRef>
          <a:fillRef idx="0">
            <a:schemeClr val="accent1"/>
          </a:fillRef>
          <a:effectRef idx="1">
            <a:schemeClr val="accent1"/>
          </a:effectRef>
          <a:fontRef idx="minor">
            <a:schemeClr val="tx1"/>
          </a:fontRef>
        </p:style>
      </p:cxnSp>
      <p:cxnSp>
        <p:nvCxnSpPr>
          <p:cNvPr id="10" name="S03_009"/>
          <p:cNvCxnSpPr/>
          <p:nvPr/>
        </p:nvCxnSpPr>
        <p:spPr>
          <a:xfrm flipV="1">
            <a:off x="2032000" y="2969214"/>
            <a:ext cx="44192" cy="91486"/>
          </a:xfrm>
          <a:prstGeom prst="line">
            <a:avLst/>
          </a:prstGeom>
          <a:ln w="25400">
            <a:solidFill>
              <a:srgbClr val="7FB0ED"/>
            </a:solidFill>
          </a:ln>
        </p:spPr>
        <p:style>
          <a:lnRef idx="2">
            <a:schemeClr val="accent1"/>
          </a:lnRef>
          <a:fillRef idx="0">
            <a:schemeClr val="accent1"/>
          </a:fillRef>
          <a:effectRef idx="1">
            <a:schemeClr val="accent1"/>
          </a:effectRef>
          <a:fontRef idx="minor">
            <a:schemeClr val="tx1"/>
          </a:fontRef>
        </p:style>
      </p:cxnSp>
      <p:cxnSp>
        <p:nvCxnSpPr>
          <p:cNvPr id="11" name="S03_010"/>
          <p:cNvCxnSpPr/>
          <p:nvPr/>
        </p:nvCxnSpPr>
        <p:spPr>
          <a:xfrm>
            <a:off x="4254500" y="2743200"/>
            <a:ext cx="0" cy="31750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12" name="S03_011"/>
          <p:cNvCxnSpPr/>
          <p:nvPr/>
        </p:nvCxnSpPr>
        <p:spPr>
          <a:xfrm flipH="1" flipV="1">
            <a:off x="4210307" y="2969214"/>
            <a:ext cx="44193" cy="91486"/>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13" name="S03_012"/>
          <p:cNvCxnSpPr/>
          <p:nvPr/>
        </p:nvCxnSpPr>
        <p:spPr>
          <a:xfrm flipV="1">
            <a:off x="4254500" y="2969214"/>
            <a:ext cx="44192" cy="91486"/>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sp>
        <p:nvSpPr>
          <p:cNvPr id="14" name="S03_013"/>
          <p:cNvSpPr/>
          <p:nvPr/>
        </p:nvSpPr>
        <p:spPr>
          <a:xfrm>
            <a:off x="838200" y="3149600"/>
            <a:ext cx="2120900" cy="1054100"/>
          </a:xfrm>
          <a:prstGeom prst="roundRect">
            <a:avLst>
              <a:gd name="adj" fmla="val 8433"/>
            </a:avLst>
          </a:prstGeom>
          <a:solidFill>
            <a:srgbClr val="102135"/>
          </a:solidFill>
          <a:ln w="12700">
            <a:solidFill>
              <a:srgbClr val="7FB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3_014"/>
          <p:cNvSpPr txBox="1"/>
          <p:nvPr/>
        </p:nvSpPr>
        <p:spPr>
          <a:xfrm>
            <a:off x="990600" y="3352800"/>
            <a:ext cx="1816100" cy="330200"/>
          </a:xfrm>
          <a:prstGeom prst="rect">
            <a:avLst/>
          </a:prstGeom>
          <a:noFill/>
        </p:spPr>
        <p:txBody>
          <a:bodyPr wrap="none" lIns="0" rIns="0" tIns="0" bIns="0" anchor="t">
            <a:spAutoFit/>
          </a:bodyPr>
          <a:lstStyle/>
          <a:p>
            <a:pPr algn="ctr">
              <a:lnSpc>
                <a:spcPts val="2222"/>
              </a:lnSpc>
              <a:spcBef>
                <a:spcPts val="0"/>
              </a:spcBef>
              <a:spcAft>
                <a:spcPts val="0"/>
              </a:spcAft>
            </a:pPr>
            <a:r>
              <a:rPr sz="1900" b="1">
                <a:solidFill>
                  <a:srgbClr val="7FB0ED"/>
                </a:solidFill>
                <a:latin typeface="DejaVu Sans"/>
              </a:rPr>
              <a:t>Base policy</a:t>
            </a:r>
          </a:p>
        </p:txBody>
      </p:sp>
      <p:sp>
        <p:nvSpPr>
          <p:cNvPr id="16" name="S03_015"/>
          <p:cNvSpPr txBox="1"/>
          <p:nvPr/>
        </p:nvSpPr>
        <p:spPr>
          <a:xfrm>
            <a:off x="990600" y="3746500"/>
            <a:ext cx="1816100" cy="266700"/>
          </a:xfrm>
          <a:prstGeom prst="rect">
            <a:avLst/>
          </a:prstGeom>
          <a:noFill/>
        </p:spPr>
        <p:txBody>
          <a:bodyPr wrap="none" lIns="0" rIns="0" tIns="0" bIns="0" anchor="t">
            <a:spAutoFit/>
          </a:bodyPr>
          <a:lstStyle/>
          <a:p>
            <a:pPr algn="ctr">
              <a:lnSpc>
                <a:spcPts val="1754"/>
              </a:lnSpc>
              <a:spcBef>
                <a:spcPts val="0"/>
              </a:spcBef>
              <a:spcAft>
                <a:spcPts val="0"/>
              </a:spcAft>
            </a:pPr>
            <a:r>
              <a:rPr sz="1500" b="0">
                <a:solidFill>
                  <a:srgbClr val="AFBDD0"/>
                </a:solidFill>
                <a:latin typeface="DejaVu Sans"/>
              </a:rPr>
              <a:t>Frozen</a:t>
            </a:r>
          </a:p>
        </p:txBody>
      </p:sp>
      <p:sp>
        <p:nvSpPr>
          <p:cNvPr id="17" name="S03_016"/>
          <p:cNvSpPr/>
          <p:nvPr/>
        </p:nvSpPr>
        <p:spPr>
          <a:xfrm>
            <a:off x="3213100" y="3149600"/>
            <a:ext cx="2120900" cy="1054100"/>
          </a:xfrm>
          <a:prstGeom prst="roundRect">
            <a:avLst>
              <a:gd name="adj" fmla="val 8433"/>
            </a:avLst>
          </a:prstGeom>
          <a:solidFill>
            <a:srgbClr val="102135"/>
          </a:solidFill>
          <a:ln w="12700">
            <a:solidFill>
              <a:srgbClr val="42D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03_017"/>
          <p:cNvSpPr txBox="1"/>
          <p:nvPr/>
        </p:nvSpPr>
        <p:spPr>
          <a:xfrm>
            <a:off x="3365500" y="3352800"/>
            <a:ext cx="1816100" cy="330200"/>
          </a:xfrm>
          <a:prstGeom prst="rect">
            <a:avLst/>
          </a:prstGeom>
          <a:noFill/>
        </p:spPr>
        <p:txBody>
          <a:bodyPr wrap="none" lIns="0" rIns="0" tIns="0" bIns="0" anchor="t">
            <a:spAutoFit/>
          </a:bodyPr>
          <a:lstStyle/>
          <a:p>
            <a:pPr algn="ctr">
              <a:lnSpc>
                <a:spcPts val="2222"/>
              </a:lnSpc>
              <a:spcBef>
                <a:spcPts val="0"/>
              </a:spcBef>
              <a:spcAft>
                <a:spcPts val="0"/>
              </a:spcAft>
            </a:pPr>
            <a:r>
              <a:rPr sz="1900" b="1">
                <a:solidFill>
                  <a:srgbClr val="42D7B4"/>
                </a:solidFill>
                <a:latin typeface="DejaVu Sans"/>
              </a:rPr>
              <a:t>Residual</a:t>
            </a:r>
          </a:p>
        </p:txBody>
      </p:sp>
      <p:sp>
        <p:nvSpPr>
          <p:cNvPr id="19" name="S03_018"/>
          <p:cNvSpPr txBox="1"/>
          <p:nvPr/>
        </p:nvSpPr>
        <p:spPr>
          <a:xfrm>
            <a:off x="3365500" y="3746500"/>
            <a:ext cx="1816100" cy="266700"/>
          </a:xfrm>
          <a:prstGeom prst="rect">
            <a:avLst/>
          </a:prstGeom>
          <a:noFill/>
        </p:spPr>
        <p:txBody>
          <a:bodyPr wrap="none" lIns="0" rIns="0" tIns="0" bIns="0" anchor="t">
            <a:spAutoFit/>
          </a:bodyPr>
          <a:lstStyle/>
          <a:p>
            <a:pPr algn="ctr">
              <a:lnSpc>
                <a:spcPts val="1754"/>
              </a:lnSpc>
              <a:spcBef>
                <a:spcPts val="0"/>
              </a:spcBef>
              <a:spcAft>
                <a:spcPts val="0"/>
              </a:spcAft>
            </a:pPr>
            <a:r>
              <a:rPr sz="1500" b="0">
                <a:solidFill>
                  <a:srgbClr val="AFBDD0"/>
                </a:solidFill>
                <a:latin typeface="DejaVu Sans"/>
              </a:rPr>
              <a:t>Learned</a:t>
            </a:r>
          </a:p>
        </p:txBody>
      </p:sp>
      <p:cxnSp>
        <p:nvCxnSpPr>
          <p:cNvPr id="20" name="S03_019"/>
          <p:cNvCxnSpPr/>
          <p:nvPr/>
        </p:nvCxnSpPr>
        <p:spPr>
          <a:xfrm>
            <a:off x="1905000" y="4267200"/>
            <a:ext cx="800100" cy="393700"/>
          </a:xfrm>
          <a:prstGeom prst="line">
            <a:avLst/>
          </a:prstGeom>
          <a:ln w="25400">
            <a:solidFill>
              <a:srgbClr val="7FB0ED"/>
            </a:solidFill>
          </a:ln>
        </p:spPr>
        <p:style>
          <a:lnRef idx="2">
            <a:schemeClr val="accent1"/>
          </a:lnRef>
          <a:fillRef idx="0">
            <a:schemeClr val="accent1"/>
          </a:fillRef>
          <a:effectRef idx="1">
            <a:schemeClr val="accent1"/>
          </a:effectRef>
          <a:fontRef idx="minor">
            <a:schemeClr val="tx1"/>
          </a:fontRef>
        </p:style>
      </p:cxnSp>
      <p:cxnSp>
        <p:nvCxnSpPr>
          <p:cNvPr id="21" name="S03_020"/>
          <p:cNvCxnSpPr/>
          <p:nvPr/>
        </p:nvCxnSpPr>
        <p:spPr>
          <a:xfrm flipH="1" flipV="1">
            <a:off x="2603502" y="4660160"/>
            <a:ext cx="101598" cy="740"/>
          </a:xfrm>
          <a:prstGeom prst="line">
            <a:avLst/>
          </a:prstGeom>
          <a:ln w="25400">
            <a:solidFill>
              <a:srgbClr val="7FB0ED"/>
            </a:solidFill>
          </a:ln>
        </p:spPr>
        <p:style>
          <a:lnRef idx="2">
            <a:schemeClr val="accent1"/>
          </a:lnRef>
          <a:fillRef idx="0">
            <a:schemeClr val="accent1"/>
          </a:fillRef>
          <a:effectRef idx="1">
            <a:schemeClr val="accent1"/>
          </a:effectRef>
          <a:fontRef idx="minor">
            <a:schemeClr val="tx1"/>
          </a:fontRef>
        </p:style>
      </p:cxnSp>
      <p:cxnSp>
        <p:nvCxnSpPr>
          <p:cNvPr id="22" name="S03_021"/>
          <p:cNvCxnSpPr/>
          <p:nvPr/>
        </p:nvCxnSpPr>
        <p:spPr>
          <a:xfrm flipH="1" flipV="1">
            <a:off x="2642525" y="4580856"/>
            <a:ext cx="62575" cy="80044"/>
          </a:xfrm>
          <a:prstGeom prst="line">
            <a:avLst/>
          </a:prstGeom>
          <a:ln w="25400">
            <a:solidFill>
              <a:srgbClr val="7FB0ED"/>
            </a:solidFill>
          </a:ln>
        </p:spPr>
        <p:style>
          <a:lnRef idx="2">
            <a:schemeClr val="accent1"/>
          </a:lnRef>
          <a:fillRef idx="0">
            <a:schemeClr val="accent1"/>
          </a:fillRef>
          <a:effectRef idx="1">
            <a:schemeClr val="accent1"/>
          </a:effectRef>
          <a:fontRef idx="minor">
            <a:schemeClr val="tx1"/>
          </a:fontRef>
        </p:style>
      </p:cxnSp>
      <p:cxnSp>
        <p:nvCxnSpPr>
          <p:cNvPr id="23" name="S03_022"/>
          <p:cNvCxnSpPr/>
          <p:nvPr/>
        </p:nvCxnSpPr>
        <p:spPr>
          <a:xfrm flipH="1">
            <a:off x="3429000" y="4267200"/>
            <a:ext cx="825500" cy="39370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24" name="S03_023"/>
          <p:cNvCxnSpPr/>
          <p:nvPr/>
        </p:nvCxnSpPr>
        <p:spPr>
          <a:xfrm flipV="1">
            <a:off x="3429000" y="4581629"/>
            <a:ext cx="63551" cy="79271"/>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25" name="S03_024"/>
          <p:cNvCxnSpPr/>
          <p:nvPr/>
        </p:nvCxnSpPr>
        <p:spPr>
          <a:xfrm>
            <a:off x="3429000" y="4660900"/>
            <a:ext cx="101598" cy="506"/>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pic>
        <p:nvPicPr>
          <p:cNvPr id="26" name="S03_025" descr="image.png"/>
          <p:cNvPicPr>
            <a:picLocks noChangeAspect="1"/>
          </p:cNvPicPr>
          <p:nvPr/>
        </p:nvPicPr>
        <p:blipFill>
          <a:blip r:embed="rId2"/>
          <a:stretch>
            <a:fillRect/>
          </a:stretch>
        </p:blipFill>
        <p:spPr>
          <a:xfrm>
            <a:off x="812800" y="4872161"/>
            <a:ext cx="4521200" cy="402976"/>
          </a:xfrm>
          <a:prstGeom prst="rect">
            <a:avLst/>
          </a:prstGeom>
        </p:spPr>
      </p:pic>
      <p:sp>
        <p:nvSpPr>
          <p:cNvPr id="27" name="S03_026"/>
          <p:cNvSpPr txBox="1"/>
          <p:nvPr/>
        </p:nvSpPr>
        <p:spPr>
          <a:xfrm>
            <a:off x="812800" y="5499100"/>
            <a:ext cx="4533900" cy="292100"/>
          </a:xfrm>
          <a:prstGeom prst="rect">
            <a:avLst/>
          </a:prstGeom>
          <a:noFill/>
        </p:spPr>
        <p:txBody>
          <a:bodyPr wrap="none" lIns="0" rIns="0" tIns="0" bIns="0" anchor="t">
            <a:spAutoFit/>
          </a:bodyPr>
          <a:lstStyle/>
          <a:p>
            <a:pPr algn="ctr">
              <a:lnSpc>
                <a:spcPts val="1521"/>
              </a:lnSpc>
              <a:spcBef>
                <a:spcPts val="0"/>
              </a:spcBef>
              <a:spcAft>
                <a:spcPts val="0"/>
              </a:spcAft>
            </a:pPr>
            <a:r>
              <a:rPr sz="1300" b="0">
                <a:solidFill>
                  <a:srgbClr val="AFBDD0"/>
                </a:solidFill>
                <a:latin typeface="DejaVu Sans"/>
              </a:rPr>
              <a:t>The base supplies samples, not likelihoods.</a:t>
            </a:r>
          </a:p>
        </p:txBody>
      </p:sp>
      <p:sp>
        <p:nvSpPr>
          <p:cNvPr id="28" name="MEDIA_A02_FRAME"/>
          <p:cNvSpPr/>
          <p:nvPr/>
        </p:nvSpPr>
        <p:spPr>
          <a:xfrm>
            <a:off x="5943600" y="2019300"/>
            <a:ext cx="5715000" cy="3860800"/>
          </a:xfrm>
          <a:prstGeom prst="roundRect">
            <a:avLst>
              <a:gd name="adj" fmla="val 2631"/>
            </a:avLst>
          </a:prstGeom>
          <a:solidFill>
            <a:srgbClr val="16273B"/>
          </a:solidFill>
          <a:ln w="12700">
            <a:solidFill>
              <a:srgbClr val="334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EDIA_A02_LABEL"/>
          <p:cNvSpPr txBox="1"/>
          <p:nvPr/>
        </p:nvSpPr>
        <p:spPr>
          <a:xfrm>
            <a:off x="6146800" y="2171700"/>
            <a:ext cx="5308600" cy="2540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A02 / Paired residual actions</a:t>
            </a:r>
          </a:p>
        </p:txBody>
      </p:sp>
      <p:sp>
        <p:nvSpPr>
          <p:cNvPr id="30" name="MEDIA_A02_STATUS"/>
          <p:cNvSpPr txBox="1"/>
          <p:nvPr/>
        </p:nvSpPr>
        <p:spPr>
          <a:xfrm>
            <a:off x="6146800" y="5588000"/>
            <a:ext cx="5308600" cy="2032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STATIC PREVIEW · ANIMATION RESERVED</a:t>
            </a:r>
          </a:p>
        </p:txBody>
      </p:sp>
      <p:sp>
        <p:nvSpPr>
          <p:cNvPr id="31" name="S03_030"/>
          <p:cNvSpPr txBox="1"/>
          <p:nvPr/>
        </p:nvSpPr>
        <p:spPr>
          <a:xfrm>
            <a:off x="6210300" y="2578100"/>
            <a:ext cx="5181600" cy="317500"/>
          </a:xfrm>
          <a:prstGeom prst="rect">
            <a:avLst/>
          </a:prstGeom>
          <a:noFill/>
        </p:spPr>
        <p:txBody>
          <a:bodyPr wrap="none" lIns="0" rIns="0" tIns="0" bIns="0" anchor="t">
            <a:spAutoFit/>
          </a:bodyPr>
          <a:lstStyle/>
          <a:p>
            <a:pPr algn="ctr">
              <a:lnSpc>
                <a:spcPts val="1989"/>
              </a:lnSpc>
              <a:spcBef>
                <a:spcPts val="0"/>
              </a:spcBef>
              <a:spcAft>
                <a:spcPts val="0"/>
              </a:spcAft>
            </a:pPr>
            <a:r>
              <a:rPr sz="1700" b="1">
                <a:solidFill>
                  <a:srgbClr val="F3F6FA"/>
                </a:solidFill>
                <a:latin typeface="DejaVu Sans"/>
              </a:rPr>
              <a:t>Same noise → consistent reference</a:t>
            </a:r>
          </a:p>
        </p:txBody>
      </p:sp>
      <p:sp>
        <p:nvSpPr>
          <p:cNvPr id="32" name="S03_031"/>
          <p:cNvSpPr/>
          <p:nvPr/>
        </p:nvSpPr>
        <p:spPr>
          <a:xfrm>
            <a:off x="6629400" y="3619500"/>
            <a:ext cx="127000" cy="1270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S03_032"/>
          <p:cNvCxnSpPr/>
          <p:nvPr/>
        </p:nvCxnSpPr>
        <p:spPr>
          <a:xfrm flipV="1">
            <a:off x="6794500" y="3429000"/>
            <a:ext cx="1206500" cy="25400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34" name="S03_033"/>
          <p:cNvCxnSpPr/>
          <p:nvPr/>
        </p:nvCxnSpPr>
        <p:spPr>
          <a:xfrm flipH="1">
            <a:off x="7920581" y="3429000"/>
            <a:ext cx="80419" cy="62091"/>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35" name="S03_034"/>
          <p:cNvCxnSpPr/>
          <p:nvPr/>
        </p:nvCxnSpPr>
        <p:spPr>
          <a:xfrm flipH="1" flipV="1">
            <a:off x="7902372" y="3404602"/>
            <a:ext cx="98628" cy="24398"/>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sp>
        <p:nvSpPr>
          <p:cNvPr id="36" name="S03_035"/>
          <p:cNvSpPr/>
          <p:nvPr/>
        </p:nvSpPr>
        <p:spPr>
          <a:xfrm>
            <a:off x="8039100" y="3365500"/>
            <a:ext cx="127000" cy="127000"/>
          </a:xfrm>
          <a:prstGeom prst="ellipse">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S03_036"/>
          <p:cNvSpPr/>
          <p:nvPr/>
        </p:nvSpPr>
        <p:spPr>
          <a:xfrm>
            <a:off x="6832600" y="4292600"/>
            <a:ext cx="127000" cy="1270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S03_037"/>
          <p:cNvCxnSpPr/>
          <p:nvPr/>
        </p:nvCxnSpPr>
        <p:spPr>
          <a:xfrm flipV="1">
            <a:off x="6997700" y="4254500"/>
            <a:ext cx="1346200" cy="10160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39" name="S03_038"/>
          <p:cNvCxnSpPr/>
          <p:nvPr/>
        </p:nvCxnSpPr>
        <p:spPr>
          <a:xfrm flipH="1">
            <a:off x="8255999" y="4254500"/>
            <a:ext cx="87901" cy="50952"/>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0" name="S03_039"/>
          <p:cNvCxnSpPr/>
          <p:nvPr/>
        </p:nvCxnSpPr>
        <p:spPr>
          <a:xfrm flipH="1" flipV="1">
            <a:off x="8249348" y="4217317"/>
            <a:ext cx="94552" cy="37183"/>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sp>
        <p:nvSpPr>
          <p:cNvPr id="41" name="S03_040"/>
          <p:cNvSpPr/>
          <p:nvPr/>
        </p:nvSpPr>
        <p:spPr>
          <a:xfrm>
            <a:off x="8382000" y="4191000"/>
            <a:ext cx="127000" cy="127000"/>
          </a:xfrm>
          <a:prstGeom prst="ellipse">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03_041"/>
          <p:cNvSpPr/>
          <p:nvPr/>
        </p:nvSpPr>
        <p:spPr>
          <a:xfrm>
            <a:off x="7086600" y="4826000"/>
            <a:ext cx="127000" cy="127000"/>
          </a:xfrm>
          <a:prstGeom prst="ellipse">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S03_042"/>
          <p:cNvCxnSpPr/>
          <p:nvPr/>
        </p:nvCxnSpPr>
        <p:spPr>
          <a:xfrm flipV="1">
            <a:off x="7251700" y="4775200"/>
            <a:ext cx="1587500" cy="114300"/>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4" name="S03_043"/>
          <p:cNvCxnSpPr/>
          <p:nvPr/>
        </p:nvCxnSpPr>
        <p:spPr>
          <a:xfrm flipH="1">
            <a:off x="8751124" y="4775200"/>
            <a:ext cx="88076" cy="50648"/>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5" name="S03_044"/>
          <p:cNvCxnSpPr/>
          <p:nvPr/>
        </p:nvCxnSpPr>
        <p:spPr>
          <a:xfrm flipH="1" flipV="1">
            <a:off x="8744777" y="4737691"/>
            <a:ext cx="94423" cy="37509"/>
          </a:xfrm>
          <a:prstGeom prst="line">
            <a:avLst/>
          </a:prstGeom>
          <a:ln w="25400">
            <a:solidFill>
              <a:srgbClr val="42D7B4"/>
            </a:solidFill>
          </a:ln>
        </p:spPr>
        <p:style>
          <a:lnRef idx="2">
            <a:schemeClr val="accent1"/>
          </a:lnRef>
          <a:fillRef idx="0">
            <a:schemeClr val="accent1"/>
          </a:fillRef>
          <a:effectRef idx="1">
            <a:schemeClr val="accent1"/>
          </a:effectRef>
          <a:fontRef idx="minor">
            <a:schemeClr val="tx1"/>
          </a:fontRef>
        </p:style>
      </p:cxnSp>
      <p:sp>
        <p:nvSpPr>
          <p:cNvPr id="46" name="S03_045"/>
          <p:cNvSpPr/>
          <p:nvPr/>
        </p:nvSpPr>
        <p:spPr>
          <a:xfrm>
            <a:off x="8877300" y="4711700"/>
            <a:ext cx="127000" cy="127000"/>
          </a:xfrm>
          <a:prstGeom prst="ellipse">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S03_046"/>
          <p:cNvSpPr txBox="1"/>
          <p:nvPr/>
        </p:nvSpPr>
        <p:spPr>
          <a:xfrm>
            <a:off x="9359900" y="3581400"/>
            <a:ext cx="1917700" cy="2921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7FB0ED"/>
                </a:solidFill>
                <a:latin typeface="DejaVu Sans"/>
              </a:rPr>
              <a:t>Base action</a:t>
            </a:r>
          </a:p>
        </p:txBody>
      </p:sp>
      <p:sp>
        <p:nvSpPr>
          <p:cNvPr id="48" name="S03_047"/>
          <p:cNvSpPr txBox="1"/>
          <p:nvPr/>
        </p:nvSpPr>
        <p:spPr>
          <a:xfrm>
            <a:off x="9359900" y="4038600"/>
            <a:ext cx="1917700" cy="558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42D7B4"/>
                </a:solidFill>
                <a:latin typeface="DejaVu Sans"/>
              </a:rPr>
              <a:t>Residual</a:t>
            </a:r>
          </a:p>
          <a:p>
            <a:pPr algn="l">
              <a:lnSpc>
                <a:spcPts val="1754"/>
              </a:lnSpc>
              <a:spcBef>
                <a:spcPts val="0"/>
              </a:spcBef>
              <a:spcAft>
                <a:spcPts val="0"/>
              </a:spcAft>
            </a:pPr>
            <a:r>
              <a:rPr sz="1500" b="0">
                <a:solidFill>
                  <a:srgbClr val="42D7B4"/>
                </a:solidFill>
                <a:latin typeface="DejaVu Sans"/>
              </a:rPr>
              <a:t>correction</a:t>
            </a:r>
          </a:p>
        </p:txBody>
      </p:sp>
      <p:sp>
        <p:nvSpPr>
          <p:cNvPr id="49" name="S03_048"/>
          <p:cNvSpPr txBox="1"/>
          <p:nvPr/>
        </p:nvSpPr>
        <p:spPr>
          <a:xfrm>
            <a:off x="9359900" y="4838700"/>
            <a:ext cx="1917700" cy="317500"/>
          </a:xfrm>
          <a:prstGeom prst="rect">
            <a:avLst/>
          </a:prstGeom>
          <a:noFill/>
        </p:spPr>
        <p:txBody>
          <a:bodyPr wrap="none" lIns="0" rIns="0" tIns="0" bIns="0" anchor="t">
            <a:spAutoFit/>
          </a:bodyPr>
          <a:lstStyle/>
          <a:p>
            <a:pPr algn="l">
              <a:lnSpc>
                <a:spcPts val="1638"/>
              </a:lnSpc>
              <a:spcBef>
                <a:spcPts val="0"/>
              </a:spcBef>
              <a:spcAft>
                <a:spcPts val="0"/>
              </a:spcAft>
            </a:pPr>
            <a:r>
              <a:rPr sz="1400" b="0">
                <a:solidFill>
                  <a:srgbClr val="8D9BAC"/>
                </a:solidFill>
                <a:latin typeface="DejaVu Sans"/>
              </a:rPr>
              <a:t>Current action</a:t>
            </a:r>
          </a:p>
        </p:txBody>
      </p:sp>
      <p:sp>
        <p:nvSpPr>
          <p:cNvPr id="50" name="MEDIA_A02_MASK"/>
          <p:cNvSpPr/>
          <p:nvPr/>
        </p:nvSpPr>
        <p:spPr>
          <a:xfrm>
            <a:off x="5943600" y="2019300"/>
            <a:ext cx="5715000" cy="386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S03_050" descr="image.png"/>
          <p:cNvPicPr>
            <a:picLocks noChangeAspect="1"/>
          </p:cNvPicPr>
          <p:nvPr/>
        </p:nvPicPr>
        <p:blipFill>
          <a:blip r:embed="rId3"/>
          <a:stretch>
            <a:fillRect/>
          </a:stretch>
        </p:blipFill>
        <p:spPr>
          <a:xfrm>
            <a:off x="5943600" y="2342356"/>
            <a:ext cx="5715000" cy="3214687"/>
          </a:xfrm>
          <a:prstGeom prst="rect">
            <a:avLst/>
          </a:prstGeom>
        </p:spPr>
      </p:pic>
      <p:pic>
        <p:nvPicPr>
          <p:cNvPr id="52" name="MEDIA_A02_VIDEO">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5943600" y="2342356"/>
            <a:ext cx="5715000" cy="3214687"/>
          </a:xfrm>
          <a:prstGeom prst="rect">
            <a:avLst/>
          </a:prstGeom>
        </p:spPr>
      </p:pic>
      <p:sp>
        <p:nvSpPr>
          <p:cNvPr id="53" name="S03_052"/>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54" name="S03_053"/>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03 / 10</a:t>
            </a:r>
          </a:p>
        </p:txBody>
      </p:sp>
      <p:sp>
        <p:nvSpPr>
          <p:cNvPr id="55" name="S03_054"/>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S03_055"/>
          <p:cNvSpPr/>
          <p:nvPr/>
        </p:nvSpPr>
        <p:spPr>
          <a:xfrm>
            <a:off x="0" y="6807200"/>
            <a:ext cx="2032000"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8000"/>
  <p:timing>
    <p:tnLst>
      <p:par>
        <p:cTn id="1" dur="indefinite" restart="never" nodeType="tmRoot">
          <p:childTnLst>
            <p:video>
              <p:cMediaNode vol="80000">
                <p:cTn id="2" fill="hold" display="0">
                  <p:stCondLst>
                    <p:cond delay="0"/>
                  </p:stCondLst>
                </p:cTn>
                <p:tgtEl>
                  <p:spTgt spid="52"/>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04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METHOD AND EQUATIONS</a:t>
            </a:r>
          </a:p>
        </p:txBody>
      </p:sp>
      <p:sp>
        <p:nvSpPr>
          <p:cNvPr id="3" name="S04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IDEA + METHOD</a:t>
            </a:r>
          </a:p>
        </p:txBody>
      </p:sp>
      <p:sp>
        <p:nvSpPr>
          <p:cNvPr id="4" name="S04_003"/>
          <p:cNvSpPr txBox="1"/>
          <p:nvPr/>
        </p:nvSpPr>
        <p:spPr>
          <a:xfrm>
            <a:off x="533400" y="787400"/>
            <a:ext cx="11125200" cy="1003300"/>
          </a:xfrm>
          <a:prstGeom prst="rect">
            <a:avLst/>
          </a:prstGeom>
          <a:noFill/>
        </p:spPr>
        <p:txBody>
          <a:bodyPr wrap="none" lIns="0" rIns="0" tIns="0" bIns="0" anchor="t">
            <a:spAutoFit/>
          </a:bodyPr>
          <a:lstStyle/>
          <a:p>
            <a:pPr algn="l">
              <a:lnSpc>
                <a:spcPts val="3626"/>
              </a:lnSpc>
              <a:spcBef>
                <a:spcPts val="0"/>
              </a:spcBef>
              <a:spcAft>
                <a:spcPts val="0"/>
              </a:spcAft>
            </a:pPr>
            <a:r>
              <a:rPr sz="3100" b="1">
                <a:solidFill>
                  <a:srgbClr val="F3F6FA"/>
                </a:solidFill>
                <a:latin typeface="DejaVu Sans"/>
              </a:rPr>
              <a:t>CAST in four steps: animated Figure 2.</a:t>
            </a:r>
          </a:p>
        </p:txBody>
      </p:sp>
      <p:sp>
        <p:nvSpPr>
          <p:cNvPr id="5" name="MEDIA_A03_FRAME"/>
          <p:cNvSpPr/>
          <p:nvPr/>
        </p:nvSpPr>
        <p:spPr>
          <a:xfrm>
            <a:off x="0" y="0"/>
            <a:ext cx="12192000" cy="6858000"/>
          </a:xfrm>
          <a:prstGeom prst="roundRect">
            <a:avLst>
              <a:gd name="adj" fmla="val 1481"/>
            </a:avLst>
          </a:prstGeom>
          <a:solidFill>
            <a:srgbClr val="16273B"/>
          </a:solidFill>
          <a:ln w="12700">
            <a:solidFill>
              <a:srgbClr val="334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EDIA_A03_LABEL"/>
          <p:cNvSpPr txBox="1"/>
          <p:nvPr/>
        </p:nvSpPr>
        <p:spPr>
          <a:xfrm>
            <a:off x="203200" y="152400"/>
            <a:ext cx="11785600" cy="2540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A03 / Animated Figure 2: sample → propose → constrain → fit</a:t>
            </a:r>
          </a:p>
        </p:txBody>
      </p:sp>
      <p:sp>
        <p:nvSpPr>
          <p:cNvPr id="7" name="MEDIA_A03_STATUS"/>
          <p:cNvSpPr txBox="1"/>
          <p:nvPr/>
        </p:nvSpPr>
        <p:spPr>
          <a:xfrm>
            <a:off x="203200" y="6565900"/>
            <a:ext cx="11785600" cy="2032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STATIC PREVIEW · ANIMATION RESERVED</a:t>
            </a:r>
          </a:p>
        </p:txBody>
      </p:sp>
      <p:sp>
        <p:nvSpPr>
          <p:cNvPr id="8" name="MEDIA_A03_MASK"/>
          <p:cNvSpPr/>
          <p:nvPr/>
        </p:nvSpPr>
        <p:spPr>
          <a:xfrm>
            <a:off x="0" y="0"/>
            <a:ext cx="12192000" cy="68580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S04_008" descr="image.png"/>
          <p:cNvPicPr>
            <a:picLocks noChangeAspect="1"/>
          </p:cNvPicPr>
          <p:nvPr/>
        </p:nvPicPr>
        <p:blipFill>
          <a:blip r:embed="rId2"/>
          <a:stretch>
            <a:fillRect/>
          </a:stretch>
        </p:blipFill>
        <p:spPr>
          <a:xfrm>
            <a:off x="0" y="0"/>
            <a:ext cx="12192000" cy="6858000"/>
          </a:xfrm>
          <a:prstGeom prst="rect">
            <a:avLst/>
          </a:prstGeom>
        </p:spPr>
      </p:pic>
      <p:pic>
        <p:nvPicPr>
          <p:cNvPr id="10" name="MEDIA_A03_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2"/>
          <a:stretch>
            <a:fillRect/>
          </a:stretch>
        </p:blipFill>
        <p:spPr>
          <a:xfrm>
            <a:off x="0" y="0"/>
            <a:ext cx="12192000" cy="6858000"/>
          </a:xfrm>
          <a:prstGeom prst="rect">
            <a:avLst/>
          </a:prstGeom>
        </p:spPr>
      </p:pic>
      <p:sp>
        <p:nvSpPr>
          <p:cNvPr id="11" name="S04_010"/>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12" name="S04_011"/>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04 / 10</a:t>
            </a:r>
          </a:p>
        </p:txBody>
      </p:sp>
      <p:sp>
        <p:nvSpPr>
          <p:cNvPr id="13" name="S04_012"/>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04_013"/>
          <p:cNvSpPr/>
          <p:nvPr/>
        </p:nvSpPr>
        <p:spPr>
          <a:xfrm>
            <a:off x="0" y="6807200"/>
            <a:ext cx="4376615"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30000"/>
  <p:timing>
    <p:tnLst>
      <p:par>
        <p:cTn id="1" dur="indefinite" restart="never" nodeType="tmRoot">
          <p:childTnLst>
            <p:video>
              <p:cMediaNode vol="80000">
                <p:cTn id="2" fill="hold" display="0">
                  <p:stCondLst>
                    <p:cond delay="0"/>
                  </p:stCondLst>
                </p:cTn>
                <p:tgtEl>
                  <p:spTgt spid="10"/>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05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LEARN AND REPEAT</a:t>
            </a:r>
          </a:p>
        </p:txBody>
      </p:sp>
      <p:sp>
        <p:nvSpPr>
          <p:cNvPr id="3" name="S05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IDEA + METHOD</a:t>
            </a:r>
          </a:p>
        </p:txBody>
      </p:sp>
      <p:sp>
        <p:nvSpPr>
          <p:cNvPr id="4" name="S05_003"/>
          <p:cNvSpPr txBox="1"/>
          <p:nvPr/>
        </p:nvSpPr>
        <p:spPr>
          <a:xfrm>
            <a:off x="533400" y="787400"/>
            <a:ext cx="11125200" cy="1003300"/>
          </a:xfrm>
          <a:prstGeom prst="rect">
            <a:avLst/>
          </a:prstGeom>
          <a:noFill/>
        </p:spPr>
        <p:txBody>
          <a:bodyPr wrap="none" lIns="0" rIns="0" tIns="0" bIns="0" anchor="t">
            <a:spAutoFit/>
          </a:bodyPr>
          <a:lstStyle/>
          <a:p>
            <a:pPr algn="l">
              <a:lnSpc>
                <a:spcPts val="3626"/>
              </a:lnSpc>
              <a:spcBef>
                <a:spcPts val="0"/>
              </a:spcBef>
              <a:spcAft>
                <a:spcPts val="0"/>
              </a:spcAft>
            </a:pPr>
            <a:r>
              <a:rPr sz="3100" b="1">
                <a:solidFill>
                  <a:srgbClr val="F3F6FA"/>
                </a:solidFill>
                <a:latin typeface="DejaVu Sans"/>
              </a:rPr>
              <a:t>A soft reference, learned through fixed targets.</a:t>
            </a:r>
          </a:p>
        </p:txBody>
      </p:sp>
      <p:sp>
        <p:nvSpPr>
          <p:cNvPr id="5" name="MEDIA_A04_FRAME"/>
          <p:cNvSpPr/>
          <p:nvPr/>
        </p:nvSpPr>
        <p:spPr>
          <a:xfrm>
            <a:off x="533400" y="1905000"/>
            <a:ext cx="6273800" cy="3708400"/>
          </a:xfrm>
          <a:prstGeom prst="roundRect">
            <a:avLst>
              <a:gd name="adj" fmla="val 2739"/>
            </a:avLst>
          </a:prstGeom>
          <a:solidFill>
            <a:srgbClr val="16273B"/>
          </a:solidFill>
          <a:ln w="12700">
            <a:solidFill>
              <a:srgbClr val="334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EDIA_A04_LABEL"/>
          <p:cNvSpPr txBox="1"/>
          <p:nvPr/>
        </p:nvSpPr>
        <p:spPr>
          <a:xfrm>
            <a:off x="736600" y="2057400"/>
            <a:ext cx="5867400" cy="2540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A04 / Fit → refresh targets</a:t>
            </a:r>
          </a:p>
        </p:txBody>
      </p:sp>
      <p:sp>
        <p:nvSpPr>
          <p:cNvPr id="7" name="MEDIA_A04_STATUS"/>
          <p:cNvSpPr txBox="1"/>
          <p:nvPr/>
        </p:nvSpPr>
        <p:spPr>
          <a:xfrm>
            <a:off x="736600" y="5321300"/>
            <a:ext cx="5867400" cy="2032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STATIC PREVIEW · ANIMATION RESERVED</a:t>
            </a:r>
          </a:p>
        </p:txBody>
      </p:sp>
      <p:sp>
        <p:nvSpPr>
          <p:cNvPr id="8" name="S05_007"/>
          <p:cNvSpPr txBox="1"/>
          <p:nvPr/>
        </p:nvSpPr>
        <p:spPr>
          <a:xfrm>
            <a:off x="825500" y="2463800"/>
            <a:ext cx="5638800" cy="317500"/>
          </a:xfrm>
          <a:prstGeom prst="rect">
            <a:avLst/>
          </a:prstGeom>
          <a:noFill/>
        </p:spPr>
        <p:txBody>
          <a:bodyPr wrap="none" lIns="0" rIns="0" tIns="0" bIns="0" anchor="t">
            <a:spAutoFit/>
          </a:bodyPr>
          <a:lstStyle/>
          <a:p>
            <a:pPr algn="ctr">
              <a:lnSpc>
                <a:spcPts val="1872"/>
              </a:lnSpc>
              <a:spcBef>
                <a:spcPts val="0"/>
              </a:spcBef>
              <a:spcAft>
                <a:spcPts val="0"/>
              </a:spcAft>
            </a:pPr>
            <a:r>
              <a:rPr sz="1600" b="0">
                <a:solidFill>
                  <a:srgbClr val="F3F6FA"/>
                </a:solidFill>
                <a:latin typeface="DejaVu Sans"/>
              </a:rPr>
              <a:t>Targets stay fixed during the actor update.</a:t>
            </a:r>
          </a:p>
        </p:txBody>
      </p:sp>
      <p:sp>
        <p:nvSpPr>
          <p:cNvPr id="9" name="S05_008"/>
          <p:cNvSpPr/>
          <p:nvPr/>
        </p:nvSpPr>
        <p:spPr>
          <a:xfrm>
            <a:off x="1371600" y="3517900"/>
            <a:ext cx="127000" cy="127000"/>
          </a:xfrm>
          <a:prstGeom prst="ellipse">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S05_009"/>
          <p:cNvCxnSpPr/>
          <p:nvPr/>
        </p:nvCxnSpPr>
        <p:spPr>
          <a:xfrm flipV="1">
            <a:off x="1498600" y="3467100"/>
            <a:ext cx="825500" cy="88900"/>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11" name="S05_010"/>
          <p:cNvCxnSpPr/>
          <p:nvPr/>
        </p:nvCxnSpPr>
        <p:spPr>
          <a:xfrm flipH="1">
            <a:off x="2259429" y="3467100"/>
            <a:ext cx="64671" cy="40300"/>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12" name="S05_011"/>
          <p:cNvCxnSpPr/>
          <p:nvPr/>
        </p:nvCxnSpPr>
        <p:spPr>
          <a:xfrm flipH="1" flipV="1">
            <a:off x="2252331" y="3441492"/>
            <a:ext cx="71769" cy="25608"/>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sp>
        <p:nvSpPr>
          <p:cNvPr id="13" name="S05_012"/>
          <p:cNvSpPr/>
          <p:nvPr/>
        </p:nvSpPr>
        <p:spPr>
          <a:xfrm>
            <a:off x="2336800" y="3378200"/>
            <a:ext cx="127000" cy="1270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05_013"/>
          <p:cNvSpPr/>
          <p:nvPr/>
        </p:nvSpPr>
        <p:spPr>
          <a:xfrm>
            <a:off x="1739900" y="4076700"/>
            <a:ext cx="127000" cy="127000"/>
          </a:xfrm>
          <a:prstGeom prst="ellipse">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S05_014"/>
          <p:cNvCxnSpPr/>
          <p:nvPr/>
        </p:nvCxnSpPr>
        <p:spPr>
          <a:xfrm flipV="1">
            <a:off x="1866900" y="3860800"/>
            <a:ext cx="609600" cy="254000"/>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16" name="S05_015"/>
          <p:cNvCxnSpPr/>
          <p:nvPr/>
        </p:nvCxnSpPr>
        <p:spPr>
          <a:xfrm flipH="1">
            <a:off x="2425911" y="3860800"/>
            <a:ext cx="50589" cy="56984"/>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17" name="S05_016"/>
          <p:cNvCxnSpPr/>
          <p:nvPr/>
        </p:nvCxnSpPr>
        <p:spPr>
          <a:xfrm flipH="1" flipV="1">
            <a:off x="2400416" y="3856595"/>
            <a:ext cx="76084" cy="4205"/>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sp>
        <p:nvSpPr>
          <p:cNvPr id="18" name="S05_017"/>
          <p:cNvSpPr/>
          <p:nvPr/>
        </p:nvSpPr>
        <p:spPr>
          <a:xfrm>
            <a:off x="2489200" y="3771900"/>
            <a:ext cx="127000" cy="1270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05_018"/>
          <p:cNvSpPr/>
          <p:nvPr/>
        </p:nvSpPr>
        <p:spPr>
          <a:xfrm>
            <a:off x="3238500" y="3949700"/>
            <a:ext cx="127000" cy="127000"/>
          </a:xfrm>
          <a:prstGeom prst="ellipse">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S05_019"/>
          <p:cNvCxnSpPr/>
          <p:nvPr/>
        </p:nvCxnSpPr>
        <p:spPr>
          <a:xfrm flipV="1">
            <a:off x="3365500" y="3644900"/>
            <a:ext cx="203200" cy="342900"/>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21" name="S05_020"/>
          <p:cNvCxnSpPr/>
          <p:nvPr/>
        </p:nvCxnSpPr>
        <p:spPr>
          <a:xfrm flipH="1">
            <a:off x="3562234" y="3644900"/>
            <a:ext cx="6466" cy="75925"/>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22" name="S05_021"/>
          <p:cNvCxnSpPr/>
          <p:nvPr/>
        </p:nvCxnSpPr>
        <p:spPr>
          <a:xfrm flipH="1">
            <a:off x="3505206" y="3644900"/>
            <a:ext cx="63494" cy="42131"/>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sp>
        <p:nvSpPr>
          <p:cNvPr id="23" name="S05_022"/>
          <p:cNvSpPr/>
          <p:nvPr/>
        </p:nvSpPr>
        <p:spPr>
          <a:xfrm>
            <a:off x="3581400" y="3556000"/>
            <a:ext cx="127000" cy="1270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05_023"/>
          <p:cNvSpPr/>
          <p:nvPr/>
        </p:nvSpPr>
        <p:spPr>
          <a:xfrm>
            <a:off x="4533900" y="3746500"/>
            <a:ext cx="127000" cy="127000"/>
          </a:xfrm>
          <a:prstGeom prst="ellipse">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S05_024"/>
          <p:cNvCxnSpPr/>
          <p:nvPr/>
        </p:nvCxnSpPr>
        <p:spPr>
          <a:xfrm flipH="1" flipV="1">
            <a:off x="4305300" y="3378200"/>
            <a:ext cx="355600" cy="406400"/>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26" name="S05_025"/>
          <p:cNvCxnSpPr/>
          <p:nvPr/>
        </p:nvCxnSpPr>
        <p:spPr>
          <a:xfrm>
            <a:off x="4305300" y="3378200"/>
            <a:ext cx="70126" cy="29811"/>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27" name="S05_026"/>
          <p:cNvCxnSpPr/>
          <p:nvPr/>
        </p:nvCxnSpPr>
        <p:spPr>
          <a:xfrm>
            <a:off x="4305300" y="3378200"/>
            <a:ext cx="20238" cy="73463"/>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sp>
        <p:nvSpPr>
          <p:cNvPr id="28" name="S05_027"/>
          <p:cNvSpPr/>
          <p:nvPr/>
        </p:nvSpPr>
        <p:spPr>
          <a:xfrm>
            <a:off x="4318000" y="3289300"/>
            <a:ext cx="127000" cy="1270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S05_028"/>
          <p:cNvSpPr/>
          <p:nvPr/>
        </p:nvSpPr>
        <p:spPr>
          <a:xfrm>
            <a:off x="5168900" y="4394200"/>
            <a:ext cx="127000" cy="127000"/>
          </a:xfrm>
          <a:prstGeom prst="ellipse">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S05_029"/>
          <p:cNvCxnSpPr/>
          <p:nvPr/>
        </p:nvCxnSpPr>
        <p:spPr>
          <a:xfrm flipH="1" flipV="1">
            <a:off x="4686300" y="4064000"/>
            <a:ext cx="609600" cy="368300"/>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31" name="S05_030"/>
          <p:cNvCxnSpPr/>
          <p:nvPr/>
        </p:nvCxnSpPr>
        <p:spPr>
          <a:xfrm>
            <a:off x="4686300" y="4064000"/>
            <a:ext cx="75867" cy="7112"/>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32" name="S05_031"/>
          <p:cNvCxnSpPr/>
          <p:nvPr/>
        </p:nvCxnSpPr>
        <p:spPr>
          <a:xfrm>
            <a:off x="4686300" y="4064000"/>
            <a:ext cx="41588" cy="63850"/>
          </a:xfrm>
          <a:prstGeom prst="line">
            <a:avLst/>
          </a:prstGeom>
          <a:ln w="21590">
            <a:solidFill>
              <a:srgbClr val="42D7B4"/>
            </a:solidFill>
          </a:ln>
        </p:spPr>
        <p:style>
          <a:lnRef idx="2">
            <a:schemeClr val="accent1"/>
          </a:lnRef>
          <a:fillRef idx="0">
            <a:schemeClr val="accent1"/>
          </a:fillRef>
          <a:effectRef idx="1">
            <a:schemeClr val="accent1"/>
          </a:effectRef>
          <a:fontRef idx="minor">
            <a:schemeClr val="tx1"/>
          </a:fontRef>
        </p:style>
      </p:cxnSp>
      <p:sp>
        <p:nvSpPr>
          <p:cNvPr id="33" name="S05_032"/>
          <p:cNvSpPr/>
          <p:nvPr/>
        </p:nvSpPr>
        <p:spPr>
          <a:xfrm>
            <a:off x="4699000" y="3975100"/>
            <a:ext cx="127000" cy="1270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05_033"/>
          <p:cNvSpPr txBox="1"/>
          <p:nvPr/>
        </p:nvSpPr>
        <p:spPr>
          <a:xfrm>
            <a:off x="914400" y="4724400"/>
            <a:ext cx="5334000" cy="342900"/>
          </a:xfrm>
          <a:prstGeom prst="rect">
            <a:avLst/>
          </a:prstGeom>
          <a:noFill/>
        </p:spPr>
        <p:txBody>
          <a:bodyPr wrap="none" lIns="0" rIns="0" tIns="0" bIns="0" anchor="t">
            <a:spAutoFit/>
          </a:bodyPr>
          <a:lstStyle/>
          <a:p>
            <a:pPr algn="ctr">
              <a:lnSpc>
                <a:spcPts val="1872"/>
              </a:lnSpc>
              <a:spcBef>
                <a:spcPts val="0"/>
              </a:spcBef>
              <a:spcAft>
                <a:spcPts val="0"/>
              </a:spcAft>
            </a:pPr>
            <a:r>
              <a:rPr sz="1600" b="0">
                <a:solidFill>
                  <a:srgbClr val="42D7B4"/>
                </a:solidFill>
                <a:latin typeface="DejaVu Sans"/>
              </a:rPr>
              <a:t>Regress the residual → build fresh targets</a:t>
            </a:r>
          </a:p>
        </p:txBody>
      </p:sp>
      <p:sp>
        <p:nvSpPr>
          <p:cNvPr id="35" name="S05_034"/>
          <p:cNvSpPr/>
          <p:nvPr/>
        </p:nvSpPr>
        <p:spPr>
          <a:xfrm>
            <a:off x="7099300" y="1905000"/>
            <a:ext cx="4559300" cy="3708400"/>
          </a:xfrm>
          <a:prstGeom prst="roundRect">
            <a:avLst>
              <a:gd name="adj" fmla="val 2739"/>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05_035"/>
          <p:cNvSpPr txBox="1"/>
          <p:nvPr/>
        </p:nvSpPr>
        <p:spPr>
          <a:xfrm>
            <a:off x="7366000" y="2197100"/>
            <a:ext cx="4051300" cy="635000"/>
          </a:xfrm>
          <a:prstGeom prst="rect">
            <a:avLst/>
          </a:prstGeom>
          <a:noFill/>
        </p:spPr>
        <p:txBody>
          <a:bodyPr wrap="none" lIns="0" rIns="0" tIns="0" bIns="0" anchor="t">
            <a:spAutoFit/>
          </a:bodyPr>
          <a:lstStyle/>
          <a:p>
            <a:pPr algn="l">
              <a:lnSpc>
                <a:spcPts val="2340"/>
              </a:lnSpc>
              <a:spcBef>
                <a:spcPts val="0"/>
              </a:spcBef>
              <a:spcAft>
                <a:spcPts val="0"/>
              </a:spcAft>
            </a:pPr>
            <a:r>
              <a:rPr sz="2000" b="1">
                <a:solidFill>
                  <a:srgbClr val="F3F6FA"/>
                </a:solidFill>
                <a:latin typeface="DejaVu Sans"/>
              </a:rPr>
              <a:t>Restoration penalizes</a:t>
            </a:r>
          </a:p>
          <a:p>
            <a:pPr algn="l">
              <a:lnSpc>
                <a:spcPts val="2340"/>
              </a:lnSpc>
              <a:spcBef>
                <a:spcPts val="0"/>
              </a:spcBef>
              <a:spcAft>
                <a:spcPts val="0"/>
              </a:spcAft>
            </a:pPr>
            <a:r>
              <a:rPr sz="2000" b="1">
                <a:solidFill>
                  <a:srgbClr val="F3F6FA"/>
                </a:solidFill>
                <a:latin typeface="DejaVu Sans"/>
              </a:rPr>
              <a:t>departure from the base.</a:t>
            </a:r>
          </a:p>
        </p:txBody>
      </p:sp>
      <p:sp>
        <p:nvSpPr>
          <p:cNvPr id="37" name="S05_036"/>
          <p:cNvSpPr txBox="1"/>
          <p:nvPr/>
        </p:nvSpPr>
        <p:spPr>
          <a:xfrm>
            <a:off x="7391400" y="2959100"/>
            <a:ext cx="3937000" cy="279400"/>
          </a:xfrm>
          <a:prstGeom prst="rect">
            <a:avLst/>
          </a:prstGeom>
          <a:noFill/>
        </p:spPr>
        <p:txBody>
          <a:bodyPr wrap="none" lIns="0" rIns="0" tIns="0" bIns="0" anchor="t">
            <a:spAutoFit/>
          </a:bodyPr>
          <a:lstStyle/>
          <a:p>
            <a:pPr algn="l">
              <a:lnSpc>
                <a:spcPts val="1521"/>
              </a:lnSpc>
              <a:spcBef>
                <a:spcPts val="0"/>
              </a:spcBef>
              <a:spcAft>
                <a:spcPts val="0"/>
              </a:spcAft>
            </a:pPr>
            <a:r>
              <a:rPr sz="1300" b="0">
                <a:solidFill>
                  <a:srgbClr val="AFBDD0"/>
                </a:solidFill>
                <a:latin typeface="DejaVu Sans"/>
              </a:rPr>
              <a:t>Illustrative penalty U(r)</a:t>
            </a:r>
          </a:p>
        </p:txBody>
      </p:sp>
      <p:cxnSp>
        <p:nvCxnSpPr>
          <p:cNvPr id="38" name="S05_037"/>
          <p:cNvCxnSpPr/>
          <p:nvPr/>
        </p:nvCxnSpPr>
        <p:spPr>
          <a:xfrm>
            <a:off x="7645400" y="4775200"/>
            <a:ext cx="3530600" cy="0"/>
          </a:xfrm>
          <a:prstGeom prst="line">
            <a:avLst/>
          </a:prstGeom>
          <a:ln w="12700">
            <a:solidFill>
              <a:srgbClr val="AFBDD0"/>
            </a:solidFill>
          </a:ln>
        </p:spPr>
        <p:style>
          <a:lnRef idx="2">
            <a:schemeClr val="accent1"/>
          </a:lnRef>
          <a:fillRef idx="0">
            <a:schemeClr val="accent1"/>
          </a:fillRef>
          <a:effectRef idx="1">
            <a:schemeClr val="accent1"/>
          </a:effectRef>
          <a:fontRef idx="minor">
            <a:schemeClr val="tx1"/>
          </a:fontRef>
        </p:style>
      </p:cxnSp>
      <p:cxnSp>
        <p:nvCxnSpPr>
          <p:cNvPr id="39" name="S05_038"/>
          <p:cNvCxnSpPr/>
          <p:nvPr/>
        </p:nvCxnSpPr>
        <p:spPr>
          <a:xfrm flipV="1">
            <a:off x="7645400" y="3581400"/>
            <a:ext cx="0" cy="1193800"/>
          </a:xfrm>
          <a:prstGeom prst="line">
            <a:avLst/>
          </a:prstGeom>
          <a:ln w="12700">
            <a:solidFill>
              <a:srgbClr val="AFBDD0"/>
            </a:solidFill>
          </a:ln>
        </p:spPr>
        <p:style>
          <a:lnRef idx="2">
            <a:schemeClr val="accent1"/>
          </a:lnRef>
          <a:fillRef idx="0">
            <a:schemeClr val="accent1"/>
          </a:fillRef>
          <a:effectRef idx="1">
            <a:schemeClr val="accent1"/>
          </a:effectRef>
          <a:fontRef idx="minor">
            <a:schemeClr val="tx1"/>
          </a:fontRef>
        </p:style>
      </p:cxnSp>
      <p:cxnSp>
        <p:nvCxnSpPr>
          <p:cNvPr id="40" name="S05_039"/>
          <p:cNvCxnSpPr/>
          <p:nvPr/>
        </p:nvCxnSpPr>
        <p:spPr>
          <a:xfrm flipV="1">
            <a:off x="7645400" y="4774990"/>
            <a:ext cx="100874" cy="210"/>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1" name="S05_040"/>
          <p:cNvCxnSpPr/>
          <p:nvPr/>
        </p:nvCxnSpPr>
        <p:spPr>
          <a:xfrm flipV="1">
            <a:off x="7746274" y="4774363"/>
            <a:ext cx="100874" cy="627"/>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2" name="S05_041"/>
          <p:cNvCxnSpPr/>
          <p:nvPr/>
        </p:nvCxnSpPr>
        <p:spPr>
          <a:xfrm flipV="1">
            <a:off x="7847148" y="4773318"/>
            <a:ext cx="100874" cy="1045"/>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3" name="S05_042"/>
          <p:cNvCxnSpPr/>
          <p:nvPr/>
        </p:nvCxnSpPr>
        <p:spPr>
          <a:xfrm flipV="1">
            <a:off x="7948022" y="4771855"/>
            <a:ext cx="100875" cy="1463"/>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4" name="S05_043"/>
          <p:cNvCxnSpPr/>
          <p:nvPr/>
        </p:nvCxnSpPr>
        <p:spPr>
          <a:xfrm flipV="1">
            <a:off x="8048897" y="4769973"/>
            <a:ext cx="100874" cy="1882"/>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5" name="S05_044"/>
          <p:cNvCxnSpPr/>
          <p:nvPr/>
        </p:nvCxnSpPr>
        <p:spPr>
          <a:xfrm flipV="1">
            <a:off x="8149771" y="4767674"/>
            <a:ext cx="100874" cy="2299"/>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6" name="S05_045"/>
          <p:cNvCxnSpPr/>
          <p:nvPr/>
        </p:nvCxnSpPr>
        <p:spPr>
          <a:xfrm flipV="1">
            <a:off x="8250645" y="4764956"/>
            <a:ext cx="100875" cy="2718"/>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7" name="S05_046"/>
          <p:cNvCxnSpPr/>
          <p:nvPr/>
        </p:nvCxnSpPr>
        <p:spPr>
          <a:xfrm flipV="1">
            <a:off x="8351520" y="4761820"/>
            <a:ext cx="100874" cy="3136"/>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8" name="S05_047"/>
          <p:cNvCxnSpPr/>
          <p:nvPr/>
        </p:nvCxnSpPr>
        <p:spPr>
          <a:xfrm flipV="1">
            <a:off x="8452394" y="4758266"/>
            <a:ext cx="100874" cy="3554"/>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49" name="S05_048"/>
          <p:cNvCxnSpPr/>
          <p:nvPr/>
        </p:nvCxnSpPr>
        <p:spPr>
          <a:xfrm flipV="1">
            <a:off x="8553268" y="4754294"/>
            <a:ext cx="100874" cy="3972"/>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0" name="S05_049"/>
          <p:cNvCxnSpPr/>
          <p:nvPr/>
        </p:nvCxnSpPr>
        <p:spPr>
          <a:xfrm flipV="1">
            <a:off x="8654142" y="4749904"/>
            <a:ext cx="100875" cy="4390"/>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1" name="S05_050"/>
          <p:cNvCxnSpPr/>
          <p:nvPr/>
        </p:nvCxnSpPr>
        <p:spPr>
          <a:xfrm flipV="1">
            <a:off x="8755017" y="4745096"/>
            <a:ext cx="100874" cy="4808"/>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2" name="S05_051"/>
          <p:cNvCxnSpPr/>
          <p:nvPr/>
        </p:nvCxnSpPr>
        <p:spPr>
          <a:xfrm flipV="1">
            <a:off x="8855891" y="4738851"/>
            <a:ext cx="100874" cy="6245"/>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3" name="S05_052"/>
          <p:cNvCxnSpPr/>
          <p:nvPr/>
        </p:nvCxnSpPr>
        <p:spPr>
          <a:xfrm flipV="1">
            <a:off x="8956765" y="4728677"/>
            <a:ext cx="100875" cy="10174"/>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4" name="S05_053"/>
          <p:cNvCxnSpPr/>
          <p:nvPr/>
        </p:nvCxnSpPr>
        <p:spPr>
          <a:xfrm flipV="1">
            <a:off x="9057640" y="4714461"/>
            <a:ext cx="100874" cy="14216"/>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5" name="S05_054"/>
          <p:cNvCxnSpPr/>
          <p:nvPr/>
        </p:nvCxnSpPr>
        <p:spPr>
          <a:xfrm flipV="1">
            <a:off x="9158514" y="4696204"/>
            <a:ext cx="100874" cy="18257"/>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6" name="S05_055"/>
          <p:cNvCxnSpPr/>
          <p:nvPr/>
        </p:nvCxnSpPr>
        <p:spPr>
          <a:xfrm flipV="1">
            <a:off x="9259388" y="4673905"/>
            <a:ext cx="100874" cy="22299"/>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7" name="S05_056"/>
          <p:cNvCxnSpPr/>
          <p:nvPr/>
        </p:nvCxnSpPr>
        <p:spPr>
          <a:xfrm flipV="1">
            <a:off x="9360262" y="4647565"/>
            <a:ext cx="100875" cy="26340"/>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8" name="S05_057"/>
          <p:cNvCxnSpPr/>
          <p:nvPr/>
        </p:nvCxnSpPr>
        <p:spPr>
          <a:xfrm flipV="1">
            <a:off x="9461137" y="4617182"/>
            <a:ext cx="100874" cy="30383"/>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59" name="S05_058"/>
          <p:cNvCxnSpPr/>
          <p:nvPr/>
        </p:nvCxnSpPr>
        <p:spPr>
          <a:xfrm flipV="1">
            <a:off x="9562011" y="4582758"/>
            <a:ext cx="100874" cy="34424"/>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0" name="S05_059"/>
          <p:cNvCxnSpPr/>
          <p:nvPr/>
        </p:nvCxnSpPr>
        <p:spPr>
          <a:xfrm flipV="1">
            <a:off x="9662885" y="4544293"/>
            <a:ext cx="100875" cy="38465"/>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1" name="S05_060"/>
          <p:cNvCxnSpPr/>
          <p:nvPr/>
        </p:nvCxnSpPr>
        <p:spPr>
          <a:xfrm flipV="1">
            <a:off x="9763760" y="4501786"/>
            <a:ext cx="100874" cy="42507"/>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2" name="S05_061"/>
          <p:cNvCxnSpPr/>
          <p:nvPr/>
        </p:nvCxnSpPr>
        <p:spPr>
          <a:xfrm flipV="1">
            <a:off x="9864634" y="4455237"/>
            <a:ext cx="100874" cy="46549"/>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3" name="S05_062"/>
          <p:cNvCxnSpPr/>
          <p:nvPr/>
        </p:nvCxnSpPr>
        <p:spPr>
          <a:xfrm flipV="1">
            <a:off x="9965508" y="4404646"/>
            <a:ext cx="100874" cy="50591"/>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4" name="S05_063"/>
          <p:cNvCxnSpPr/>
          <p:nvPr/>
        </p:nvCxnSpPr>
        <p:spPr>
          <a:xfrm flipV="1">
            <a:off x="10066382" y="4350014"/>
            <a:ext cx="100875" cy="54632"/>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5" name="S05_064"/>
          <p:cNvCxnSpPr/>
          <p:nvPr/>
        </p:nvCxnSpPr>
        <p:spPr>
          <a:xfrm flipV="1">
            <a:off x="10167257" y="4291340"/>
            <a:ext cx="100874" cy="58674"/>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6" name="S05_065"/>
          <p:cNvCxnSpPr/>
          <p:nvPr/>
        </p:nvCxnSpPr>
        <p:spPr>
          <a:xfrm flipV="1">
            <a:off x="10268131" y="4228624"/>
            <a:ext cx="100874" cy="62716"/>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7" name="S05_066"/>
          <p:cNvCxnSpPr/>
          <p:nvPr/>
        </p:nvCxnSpPr>
        <p:spPr>
          <a:xfrm flipV="1">
            <a:off x="10369005" y="4161867"/>
            <a:ext cx="100875" cy="66757"/>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8" name="S05_067"/>
          <p:cNvCxnSpPr/>
          <p:nvPr/>
        </p:nvCxnSpPr>
        <p:spPr>
          <a:xfrm flipV="1">
            <a:off x="10469880" y="4091068"/>
            <a:ext cx="100874" cy="70799"/>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69" name="S05_068"/>
          <p:cNvCxnSpPr/>
          <p:nvPr/>
        </p:nvCxnSpPr>
        <p:spPr>
          <a:xfrm flipV="1">
            <a:off x="10570754" y="4016228"/>
            <a:ext cx="100874" cy="74840"/>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70" name="S05_069"/>
          <p:cNvCxnSpPr/>
          <p:nvPr/>
        </p:nvCxnSpPr>
        <p:spPr>
          <a:xfrm flipV="1">
            <a:off x="10671628" y="3937345"/>
            <a:ext cx="100874" cy="78883"/>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71" name="S05_070"/>
          <p:cNvCxnSpPr/>
          <p:nvPr/>
        </p:nvCxnSpPr>
        <p:spPr>
          <a:xfrm flipV="1">
            <a:off x="10772502" y="3854421"/>
            <a:ext cx="100875" cy="82924"/>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72" name="S05_071"/>
          <p:cNvCxnSpPr/>
          <p:nvPr/>
        </p:nvCxnSpPr>
        <p:spPr>
          <a:xfrm flipV="1">
            <a:off x="10873377" y="3767456"/>
            <a:ext cx="100874" cy="86965"/>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73" name="S05_072"/>
          <p:cNvCxnSpPr/>
          <p:nvPr/>
        </p:nvCxnSpPr>
        <p:spPr>
          <a:xfrm flipV="1">
            <a:off x="10974251" y="3676448"/>
            <a:ext cx="100874" cy="91008"/>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74" name="S05_073"/>
          <p:cNvCxnSpPr/>
          <p:nvPr/>
        </p:nvCxnSpPr>
        <p:spPr>
          <a:xfrm flipV="1">
            <a:off x="11075125" y="3581400"/>
            <a:ext cx="100875" cy="95048"/>
          </a:xfrm>
          <a:prstGeom prst="line">
            <a:avLst/>
          </a:prstGeom>
          <a:ln w="31750">
            <a:solidFill>
              <a:srgbClr val="42D7B4"/>
            </a:solidFill>
          </a:ln>
        </p:spPr>
        <p:style>
          <a:lnRef idx="2">
            <a:schemeClr val="accent1"/>
          </a:lnRef>
          <a:fillRef idx="0">
            <a:schemeClr val="accent1"/>
          </a:fillRef>
          <a:effectRef idx="1">
            <a:schemeClr val="accent1"/>
          </a:effectRef>
          <a:fontRef idx="minor">
            <a:schemeClr val="tx1"/>
          </a:fontRef>
        </p:style>
      </p:cxnSp>
      <p:cxnSp>
        <p:nvCxnSpPr>
          <p:cNvPr id="75" name="S05_074"/>
          <p:cNvCxnSpPr/>
          <p:nvPr/>
        </p:nvCxnSpPr>
        <p:spPr>
          <a:xfrm flipV="1">
            <a:off x="8881110" y="3581400"/>
            <a:ext cx="0" cy="1219200"/>
          </a:xfrm>
          <a:prstGeom prst="line">
            <a:avLst/>
          </a:prstGeom>
          <a:ln w="12700">
            <a:solidFill>
              <a:srgbClr val="33455B"/>
            </a:solidFill>
            <a:prstDash val="dash"/>
          </a:ln>
        </p:spPr>
        <p:style>
          <a:lnRef idx="2">
            <a:schemeClr val="accent1"/>
          </a:lnRef>
          <a:fillRef idx="0">
            <a:schemeClr val="accent1"/>
          </a:fillRef>
          <a:effectRef idx="1">
            <a:schemeClr val="accent1"/>
          </a:effectRef>
          <a:fontRef idx="minor">
            <a:schemeClr val="tx1"/>
          </a:fontRef>
        </p:style>
      </p:cxnSp>
      <p:sp>
        <p:nvSpPr>
          <p:cNvPr id="76" name="S05_075"/>
          <p:cNvSpPr txBox="1"/>
          <p:nvPr/>
        </p:nvSpPr>
        <p:spPr>
          <a:xfrm>
            <a:off x="8627110" y="4838700"/>
            <a:ext cx="1016000" cy="266700"/>
          </a:xfrm>
          <a:prstGeom prst="rect">
            <a:avLst/>
          </a:prstGeom>
          <a:noFill/>
        </p:spPr>
        <p:txBody>
          <a:bodyPr wrap="none" lIns="0" rIns="0" tIns="0" bIns="0" anchor="t">
            <a:spAutoFit/>
          </a:bodyPr>
          <a:lstStyle/>
          <a:p>
            <a:pPr algn="l">
              <a:lnSpc>
                <a:spcPts val="1287"/>
              </a:lnSpc>
              <a:spcBef>
                <a:spcPts val="0"/>
              </a:spcBef>
              <a:spcAft>
                <a:spcPts val="0"/>
              </a:spcAft>
            </a:pPr>
            <a:r>
              <a:rPr sz="1100" b="0">
                <a:solidFill>
                  <a:srgbClr val="AFBDD0"/>
                </a:solidFill>
                <a:latin typeface="DejaVu Sans"/>
              </a:rPr>
              <a:t>radius</a:t>
            </a:r>
          </a:p>
        </p:txBody>
      </p:sp>
      <p:sp>
        <p:nvSpPr>
          <p:cNvPr id="77" name="S05_076"/>
          <p:cNvSpPr txBox="1"/>
          <p:nvPr/>
        </p:nvSpPr>
        <p:spPr>
          <a:xfrm>
            <a:off x="7645400" y="5181600"/>
            <a:ext cx="3556000" cy="279400"/>
          </a:xfrm>
          <a:prstGeom prst="rect">
            <a:avLst/>
          </a:prstGeom>
          <a:noFill/>
        </p:spPr>
        <p:txBody>
          <a:bodyPr wrap="none" lIns="0" rIns="0" tIns="0" bIns="0" anchor="t">
            <a:spAutoFit/>
          </a:bodyPr>
          <a:lstStyle/>
          <a:p>
            <a:pPr algn="l">
              <a:lnSpc>
                <a:spcPts val="1521"/>
              </a:lnSpc>
              <a:spcBef>
                <a:spcPts val="0"/>
              </a:spcBef>
              <a:spcAft>
                <a:spcPts val="0"/>
              </a:spcAft>
            </a:pPr>
            <a:r>
              <a:rPr sz="1300" b="0">
                <a:solidFill>
                  <a:srgbClr val="42D7B4"/>
                </a:solidFill>
                <a:latin typeface="DejaVu Sans"/>
              </a:rPr>
              <a:t>Soft threshold, not a hard wall</a:t>
            </a:r>
          </a:p>
        </p:txBody>
      </p:sp>
      <p:sp>
        <p:nvSpPr>
          <p:cNvPr id="78" name="S05_077"/>
          <p:cNvSpPr txBox="1"/>
          <p:nvPr/>
        </p:nvSpPr>
        <p:spPr>
          <a:xfrm>
            <a:off x="558800" y="5842000"/>
            <a:ext cx="11074400" cy="533400"/>
          </a:xfrm>
          <a:prstGeom prst="rect">
            <a:avLst/>
          </a:prstGeom>
          <a:noFill/>
        </p:spPr>
        <p:txBody>
          <a:bodyPr wrap="none" lIns="0" rIns="0" tIns="0" bIns="0" anchor="t">
            <a:spAutoFit/>
          </a:bodyPr>
          <a:lstStyle/>
          <a:p>
            <a:pPr algn="ctr">
              <a:lnSpc>
                <a:spcPts val="1872"/>
              </a:lnSpc>
              <a:spcBef>
                <a:spcPts val="0"/>
              </a:spcBef>
              <a:spcAft>
                <a:spcPts val="0"/>
              </a:spcAft>
            </a:pPr>
            <a:r>
              <a:rPr sz="1600" b="0">
                <a:solidFill>
                  <a:srgbClr val="AFBDD0"/>
                </a:solidFill>
                <a:latin typeface="DejaVu Sans"/>
              </a:rPr>
              <a:t>With inactive caps: the same local gradient direction as regularized critic optimization.</a:t>
            </a:r>
          </a:p>
        </p:txBody>
      </p:sp>
      <p:sp>
        <p:nvSpPr>
          <p:cNvPr id="79" name="MEDIA_A04_MASK"/>
          <p:cNvSpPr/>
          <p:nvPr/>
        </p:nvSpPr>
        <p:spPr>
          <a:xfrm>
            <a:off x="533400" y="1905000"/>
            <a:ext cx="6273800" cy="37084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0" name="S05_079" descr="image.png"/>
          <p:cNvPicPr>
            <a:picLocks noChangeAspect="1"/>
          </p:cNvPicPr>
          <p:nvPr/>
        </p:nvPicPr>
        <p:blipFill>
          <a:blip r:embed="rId2"/>
          <a:stretch>
            <a:fillRect/>
          </a:stretch>
        </p:blipFill>
        <p:spPr>
          <a:xfrm>
            <a:off x="533400" y="1994693"/>
            <a:ext cx="6273800" cy="3529012"/>
          </a:xfrm>
          <a:prstGeom prst="rect">
            <a:avLst/>
          </a:prstGeom>
        </p:spPr>
      </p:pic>
      <p:pic>
        <p:nvPicPr>
          <p:cNvPr id="81" name="MEDIA_A04_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2"/>
          <a:stretch>
            <a:fillRect/>
          </a:stretch>
        </p:blipFill>
        <p:spPr>
          <a:xfrm>
            <a:off x="533400" y="1994693"/>
            <a:ext cx="6273800" cy="3529012"/>
          </a:xfrm>
          <a:prstGeom prst="rect">
            <a:avLst/>
          </a:prstGeom>
        </p:spPr>
      </p:pic>
      <p:sp>
        <p:nvSpPr>
          <p:cNvPr id="82" name="S05_081"/>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83" name="S05_082"/>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05 / 10</a:t>
            </a:r>
          </a:p>
        </p:txBody>
      </p:sp>
      <p:sp>
        <p:nvSpPr>
          <p:cNvPr id="84" name="S05_083"/>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S05_084"/>
          <p:cNvSpPr/>
          <p:nvPr/>
        </p:nvSpPr>
        <p:spPr>
          <a:xfrm>
            <a:off x="0" y="6807200"/>
            <a:ext cx="5158153"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10000"/>
  <p:timing>
    <p:tnLst>
      <p:par>
        <p:cTn id="1" dur="indefinite" restart="never" nodeType="tmRoot">
          <p:childTnLst>
            <p:video>
              <p:cMediaNode vol="80000">
                <p:cTn id="2" fill="hold" display="0">
                  <p:stCondLst>
                    <p:cond delay="0"/>
                  </p:stCondLst>
                </p:cTn>
                <p:tgtEl>
                  <p:spTgt spid="81"/>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06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SIMULATION EVIDENCE</a:t>
            </a:r>
          </a:p>
        </p:txBody>
      </p:sp>
      <p:sp>
        <p:nvSpPr>
          <p:cNvPr id="3" name="S06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IDEA + METHOD</a:t>
            </a:r>
          </a:p>
        </p:txBody>
      </p:sp>
      <p:sp>
        <p:nvSpPr>
          <p:cNvPr id="4" name="S06_003"/>
          <p:cNvSpPr txBox="1"/>
          <p:nvPr/>
        </p:nvSpPr>
        <p:spPr>
          <a:xfrm>
            <a:off x="533400" y="787400"/>
            <a:ext cx="11125200" cy="1003300"/>
          </a:xfrm>
          <a:prstGeom prst="rect">
            <a:avLst/>
          </a:prstGeom>
          <a:noFill/>
        </p:spPr>
        <p:txBody>
          <a:bodyPr wrap="none" lIns="0" rIns="0" tIns="0" bIns="0" anchor="t">
            <a:spAutoFit/>
          </a:bodyPr>
          <a:lstStyle/>
          <a:p>
            <a:pPr algn="l">
              <a:lnSpc>
                <a:spcPts val="3626"/>
              </a:lnSpc>
              <a:spcBef>
                <a:spcPts val="0"/>
              </a:spcBef>
              <a:spcAft>
                <a:spcPts val="0"/>
              </a:spcAft>
            </a:pPr>
            <a:r>
              <a:rPr sz="3100" b="1">
                <a:solidFill>
                  <a:srgbClr val="F3F6FA"/>
                </a:solidFill>
                <a:latin typeface="DejaVu Sans"/>
              </a:rPr>
              <a:t>Reach useful performance with less experience.</a:t>
            </a:r>
          </a:p>
        </p:txBody>
      </p:sp>
      <p:sp>
        <p:nvSpPr>
          <p:cNvPr id="5" name="MEDIA_A05_FRAME"/>
          <p:cNvSpPr/>
          <p:nvPr/>
        </p:nvSpPr>
        <p:spPr>
          <a:xfrm>
            <a:off x="533400" y="1866900"/>
            <a:ext cx="5880100" cy="3848100"/>
          </a:xfrm>
          <a:prstGeom prst="roundRect">
            <a:avLst>
              <a:gd name="adj" fmla="val 2640"/>
            </a:avLst>
          </a:prstGeom>
          <a:solidFill>
            <a:srgbClr val="16273B"/>
          </a:solidFill>
          <a:ln w="12700">
            <a:solidFill>
              <a:srgbClr val="334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EDIA_A05_LABEL"/>
          <p:cNvSpPr txBox="1"/>
          <p:nvPr/>
        </p:nvSpPr>
        <p:spPr>
          <a:xfrm>
            <a:off x="736600" y="2019300"/>
            <a:ext cx="5473700" cy="2540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A05 / Benchmark tasks and measured ablation</a:t>
            </a:r>
          </a:p>
        </p:txBody>
      </p:sp>
      <p:sp>
        <p:nvSpPr>
          <p:cNvPr id="7" name="MEDIA_A05_STATUS"/>
          <p:cNvSpPr txBox="1"/>
          <p:nvPr/>
        </p:nvSpPr>
        <p:spPr>
          <a:xfrm>
            <a:off x="736600" y="5422900"/>
            <a:ext cx="5473700" cy="2032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STATIC PREVIEW · ANIMATION RESERVED</a:t>
            </a:r>
          </a:p>
        </p:txBody>
      </p:sp>
      <p:sp>
        <p:nvSpPr>
          <p:cNvPr id="8" name="S06_007"/>
          <p:cNvSpPr txBox="1"/>
          <p:nvPr/>
        </p:nvSpPr>
        <p:spPr>
          <a:xfrm>
            <a:off x="876300" y="2501900"/>
            <a:ext cx="5194300" cy="342900"/>
          </a:xfrm>
          <a:prstGeom prst="rect">
            <a:avLst/>
          </a:prstGeom>
          <a:noFill/>
        </p:spPr>
        <p:txBody>
          <a:bodyPr wrap="none" lIns="0" rIns="0" tIns="0" bIns="0" anchor="t">
            <a:spAutoFit/>
          </a:bodyPr>
          <a:lstStyle/>
          <a:p>
            <a:pPr algn="l">
              <a:lnSpc>
                <a:spcPts val="2222"/>
              </a:lnSpc>
              <a:spcBef>
                <a:spcPts val="0"/>
              </a:spcBef>
              <a:spcAft>
                <a:spcPts val="0"/>
              </a:spcAft>
            </a:pPr>
            <a:r>
              <a:rPr sz="1900" b="1">
                <a:solidFill>
                  <a:srgbClr val="F3F6FA"/>
                </a:solidFill>
                <a:latin typeface="DejaVu Sans"/>
              </a:rPr>
              <a:t>Success over training</a:t>
            </a:r>
          </a:p>
        </p:txBody>
      </p:sp>
      <p:cxnSp>
        <p:nvCxnSpPr>
          <p:cNvPr id="9" name="S06_008"/>
          <p:cNvCxnSpPr/>
          <p:nvPr/>
        </p:nvCxnSpPr>
        <p:spPr>
          <a:xfrm>
            <a:off x="1130300" y="4813300"/>
            <a:ext cx="4813300" cy="0"/>
          </a:xfrm>
          <a:prstGeom prst="line">
            <a:avLst/>
          </a:prstGeom>
          <a:ln w="12700">
            <a:solidFill>
              <a:srgbClr val="33455B"/>
            </a:solidFill>
          </a:ln>
        </p:spPr>
        <p:style>
          <a:lnRef idx="2">
            <a:schemeClr val="accent1"/>
          </a:lnRef>
          <a:fillRef idx="0">
            <a:schemeClr val="accent1"/>
          </a:fillRef>
          <a:effectRef idx="1">
            <a:schemeClr val="accent1"/>
          </a:effectRef>
          <a:fontRef idx="minor">
            <a:schemeClr val="tx1"/>
          </a:fontRef>
        </p:style>
      </p:cxnSp>
      <p:cxnSp>
        <p:nvCxnSpPr>
          <p:cNvPr id="10" name="S06_009"/>
          <p:cNvCxnSpPr/>
          <p:nvPr/>
        </p:nvCxnSpPr>
        <p:spPr>
          <a:xfrm>
            <a:off x="1130300" y="3124200"/>
            <a:ext cx="0" cy="1689100"/>
          </a:xfrm>
          <a:prstGeom prst="line">
            <a:avLst/>
          </a:prstGeom>
          <a:ln w="12700">
            <a:solidFill>
              <a:srgbClr val="33455B"/>
            </a:solidFill>
          </a:ln>
        </p:spPr>
        <p:style>
          <a:lnRef idx="2">
            <a:schemeClr val="accent1"/>
          </a:lnRef>
          <a:fillRef idx="0">
            <a:schemeClr val="accent1"/>
          </a:fillRef>
          <a:effectRef idx="1">
            <a:schemeClr val="accent1"/>
          </a:effectRef>
          <a:fontRef idx="minor">
            <a:schemeClr val="tx1"/>
          </a:fontRef>
        </p:style>
      </p:cxnSp>
      <p:cxnSp>
        <p:nvCxnSpPr>
          <p:cNvPr id="11" name="S06_010"/>
          <p:cNvCxnSpPr/>
          <p:nvPr/>
        </p:nvCxnSpPr>
        <p:spPr>
          <a:xfrm>
            <a:off x="1130300" y="3340100"/>
            <a:ext cx="4813300" cy="0"/>
          </a:xfrm>
          <a:prstGeom prst="line">
            <a:avLst/>
          </a:prstGeom>
          <a:ln w="12700">
            <a:solidFill>
              <a:srgbClr val="33455B"/>
            </a:solidFill>
            <a:prstDash val="dash"/>
          </a:ln>
        </p:spPr>
        <p:style>
          <a:lnRef idx="2">
            <a:schemeClr val="accent1"/>
          </a:lnRef>
          <a:fillRef idx="0">
            <a:schemeClr val="accent1"/>
          </a:fillRef>
          <a:effectRef idx="1">
            <a:schemeClr val="accent1"/>
          </a:effectRef>
          <a:fontRef idx="minor">
            <a:schemeClr val="tx1"/>
          </a:fontRef>
        </p:style>
      </p:cxnSp>
      <p:sp>
        <p:nvSpPr>
          <p:cNvPr id="12" name="S06_011"/>
          <p:cNvSpPr txBox="1"/>
          <p:nvPr/>
        </p:nvSpPr>
        <p:spPr>
          <a:xfrm>
            <a:off x="1409700" y="3530600"/>
            <a:ext cx="4241800" cy="660400"/>
          </a:xfrm>
          <a:prstGeom prst="rect">
            <a:avLst/>
          </a:prstGeom>
          <a:noFill/>
        </p:spPr>
        <p:txBody>
          <a:bodyPr wrap="none" lIns="0" rIns="0" tIns="0" bIns="0" anchor="t">
            <a:spAutoFit/>
          </a:bodyPr>
          <a:lstStyle/>
          <a:p>
            <a:pPr algn="ctr">
              <a:lnSpc>
                <a:spcPts val="2340"/>
              </a:lnSpc>
              <a:spcBef>
                <a:spcPts val="0"/>
              </a:spcBef>
              <a:spcAft>
                <a:spcPts val="0"/>
              </a:spcAft>
            </a:pPr>
            <a:r>
              <a:rPr sz="2000" b="0">
                <a:solidFill>
                  <a:srgbClr val="AFBDD0"/>
                </a:solidFill>
                <a:latin typeface="DejaVu Sans"/>
              </a:rPr>
              <a:t>Insert measured evaluation</a:t>
            </a:r>
          </a:p>
          <a:p>
            <a:pPr algn="ctr">
              <a:lnSpc>
                <a:spcPts val="2340"/>
              </a:lnSpc>
              <a:spcBef>
                <a:spcPts val="0"/>
              </a:spcBef>
              <a:spcAft>
                <a:spcPts val="0"/>
              </a:spcAft>
            </a:pPr>
            <a:r>
              <a:rPr sz="2000" b="0">
                <a:solidFill>
                  <a:srgbClr val="AFBDD0"/>
                </a:solidFill>
                <a:latin typeface="DejaVu Sans"/>
              </a:rPr>
              <a:t>curves</a:t>
            </a:r>
          </a:p>
        </p:txBody>
      </p:sp>
      <p:sp>
        <p:nvSpPr>
          <p:cNvPr id="13" name="S06_012"/>
          <p:cNvSpPr txBox="1"/>
          <p:nvPr/>
        </p:nvSpPr>
        <p:spPr>
          <a:xfrm>
            <a:off x="1435100" y="4381500"/>
            <a:ext cx="4216400" cy="304800"/>
          </a:xfrm>
          <a:prstGeom prst="rect">
            <a:avLst/>
          </a:prstGeom>
          <a:noFill/>
        </p:spPr>
        <p:txBody>
          <a:bodyPr wrap="none" lIns="0" rIns="0" tIns="0" bIns="0" anchor="t">
            <a:spAutoFit/>
          </a:bodyPr>
          <a:lstStyle/>
          <a:p>
            <a:pPr algn="ctr">
              <a:lnSpc>
                <a:spcPts val="1521"/>
              </a:lnSpc>
              <a:spcBef>
                <a:spcPts val="0"/>
              </a:spcBef>
              <a:spcAft>
                <a:spcPts val="0"/>
              </a:spcAft>
            </a:pPr>
            <a:r>
              <a:rPr sz="1300" b="0">
                <a:solidFill>
                  <a:srgbClr val="42D7B4"/>
                </a:solidFill>
                <a:latin typeface="DejaVu Sans"/>
              </a:rPr>
              <a:t>Curve animation reserved</a:t>
            </a:r>
          </a:p>
        </p:txBody>
      </p:sp>
      <p:sp>
        <p:nvSpPr>
          <p:cNvPr id="14" name="S06_013"/>
          <p:cNvSpPr txBox="1"/>
          <p:nvPr/>
        </p:nvSpPr>
        <p:spPr>
          <a:xfrm>
            <a:off x="1828800" y="5054600"/>
            <a:ext cx="3543300" cy="266700"/>
          </a:xfrm>
          <a:prstGeom prst="rect">
            <a:avLst/>
          </a:prstGeom>
          <a:noFill/>
        </p:spPr>
        <p:txBody>
          <a:bodyPr wrap="none" lIns="0" rIns="0" tIns="0" bIns="0" anchor="t">
            <a:spAutoFit/>
          </a:bodyPr>
          <a:lstStyle/>
          <a:p>
            <a:pPr algn="ctr">
              <a:lnSpc>
                <a:spcPts val="1521"/>
              </a:lnSpc>
              <a:spcBef>
                <a:spcPts val="0"/>
              </a:spcBef>
              <a:spcAft>
                <a:spcPts val="0"/>
              </a:spcAft>
            </a:pPr>
            <a:r>
              <a:rPr sz="1300" b="0">
                <a:solidFill>
                  <a:srgbClr val="AFBDD0"/>
                </a:solidFill>
                <a:latin typeface="DejaVu Sans"/>
              </a:rPr>
              <a:t>Environment steps</a:t>
            </a:r>
          </a:p>
        </p:txBody>
      </p:sp>
      <p:sp>
        <p:nvSpPr>
          <p:cNvPr id="15" name="S06_014"/>
          <p:cNvSpPr txBox="1"/>
          <p:nvPr/>
        </p:nvSpPr>
        <p:spPr>
          <a:xfrm>
            <a:off x="6921500" y="1943100"/>
            <a:ext cx="4686300" cy="660400"/>
          </a:xfrm>
          <a:prstGeom prst="rect">
            <a:avLst/>
          </a:prstGeom>
          <a:noFill/>
        </p:spPr>
        <p:txBody>
          <a:bodyPr wrap="none" lIns="0" rIns="0" tIns="0" bIns="0" anchor="t">
            <a:spAutoFit/>
          </a:bodyPr>
          <a:lstStyle/>
          <a:p>
            <a:pPr algn="l">
              <a:lnSpc>
                <a:spcPts val="2690"/>
              </a:lnSpc>
              <a:spcBef>
                <a:spcPts val="0"/>
              </a:spcBef>
              <a:spcAft>
                <a:spcPts val="0"/>
              </a:spcAft>
            </a:pPr>
            <a:r>
              <a:rPr sz="2300" b="1">
                <a:solidFill>
                  <a:srgbClr val="F3F6FA"/>
                </a:solidFill>
                <a:latin typeface="DejaVu Sans"/>
              </a:rPr>
              <a:t>Steps to 90% success</a:t>
            </a:r>
          </a:p>
        </p:txBody>
      </p:sp>
      <p:sp>
        <p:nvSpPr>
          <p:cNvPr id="16" name="S06_015"/>
          <p:cNvSpPr txBox="1"/>
          <p:nvPr/>
        </p:nvSpPr>
        <p:spPr>
          <a:xfrm>
            <a:off x="6946900" y="3009900"/>
            <a:ext cx="1168400" cy="342900"/>
          </a:xfrm>
          <a:prstGeom prst="rect">
            <a:avLst/>
          </a:prstGeom>
          <a:noFill/>
        </p:spPr>
        <p:txBody>
          <a:bodyPr wrap="none" lIns="0" rIns="0" tIns="0" bIns="0" anchor="t">
            <a:spAutoFit/>
          </a:bodyPr>
          <a:lstStyle/>
          <a:p>
            <a:pPr algn="l">
              <a:lnSpc>
                <a:spcPts val="2106"/>
              </a:lnSpc>
              <a:spcBef>
                <a:spcPts val="0"/>
              </a:spcBef>
              <a:spcAft>
                <a:spcPts val="0"/>
              </a:spcAft>
            </a:pPr>
            <a:r>
              <a:rPr sz="1800" b="1">
                <a:solidFill>
                  <a:srgbClr val="42D7B4"/>
                </a:solidFill>
                <a:latin typeface="DejaVu Sans"/>
              </a:rPr>
              <a:t>CAST</a:t>
            </a:r>
          </a:p>
        </p:txBody>
      </p:sp>
      <p:sp>
        <p:nvSpPr>
          <p:cNvPr id="17" name="S06_016"/>
          <p:cNvSpPr/>
          <p:nvPr/>
        </p:nvSpPr>
        <p:spPr>
          <a:xfrm>
            <a:off x="8204200" y="2959100"/>
            <a:ext cx="1327573" cy="3683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06_017"/>
          <p:cNvSpPr txBox="1"/>
          <p:nvPr/>
        </p:nvSpPr>
        <p:spPr>
          <a:xfrm>
            <a:off x="9646073" y="2997200"/>
            <a:ext cx="952500" cy="342900"/>
          </a:xfrm>
          <a:prstGeom prst="rect">
            <a:avLst/>
          </a:prstGeom>
          <a:noFill/>
        </p:spPr>
        <p:txBody>
          <a:bodyPr wrap="none" lIns="0" rIns="0" tIns="0" bIns="0" anchor="t">
            <a:spAutoFit/>
          </a:bodyPr>
          <a:lstStyle/>
          <a:p>
            <a:pPr algn="l">
              <a:lnSpc>
                <a:spcPts val="1989"/>
              </a:lnSpc>
              <a:spcBef>
                <a:spcPts val="0"/>
              </a:spcBef>
              <a:spcAft>
                <a:spcPts val="0"/>
              </a:spcAft>
            </a:pPr>
            <a:r>
              <a:rPr sz="1700" b="0">
                <a:solidFill>
                  <a:srgbClr val="F3F6FA"/>
                </a:solidFill>
                <a:latin typeface="DejaVu Sans"/>
              </a:rPr>
              <a:t>149.3K</a:t>
            </a:r>
          </a:p>
        </p:txBody>
      </p:sp>
      <p:sp>
        <p:nvSpPr>
          <p:cNvPr id="19" name="S06_018"/>
          <p:cNvSpPr txBox="1"/>
          <p:nvPr/>
        </p:nvSpPr>
        <p:spPr>
          <a:xfrm>
            <a:off x="6946900" y="3771900"/>
            <a:ext cx="1168400" cy="342900"/>
          </a:xfrm>
          <a:prstGeom prst="rect">
            <a:avLst/>
          </a:prstGeom>
          <a:noFill/>
        </p:spPr>
        <p:txBody>
          <a:bodyPr wrap="none" lIns="0" rIns="0" tIns="0" bIns="0" anchor="t">
            <a:spAutoFit/>
          </a:bodyPr>
          <a:lstStyle/>
          <a:p>
            <a:pPr algn="l">
              <a:lnSpc>
                <a:spcPts val="2106"/>
              </a:lnSpc>
              <a:spcBef>
                <a:spcPts val="0"/>
              </a:spcBef>
              <a:spcAft>
                <a:spcPts val="0"/>
              </a:spcAft>
            </a:pPr>
            <a:r>
              <a:rPr sz="1800" b="1">
                <a:solidFill>
                  <a:srgbClr val="7FB0ED"/>
                </a:solidFill>
                <a:latin typeface="DejaVu Sans"/>
              </a:rPr>
              <a:t>DICE-RL</a:t>
            </a:r>
          </a:p>
        </p:txBody>
      </p:sp>
      <p:sp>
        <p:nvSpPr>
          <p:cNvPr id="20" name="S06_019"/>
          <p:cNvSpPr/>
          <p:nvPr/>
        </p:nvSpPr>
        <p:spPr>
          <a:xfrm>
            <a:off x="8204200" y="3721100"/>
            <a:ext cx="2133600" cy="368300"/>
          </a:xfrm>
          <a:prstGeom prst="rect">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06_020"/>
          <p:cNvSpPr txBox="1"/>
          <p:nvPr/>
        </p:nvSpPr>
        <p:spPr>
          <a:xfrm>
            <a:off x="10452100" y="3759200"/>
            <a:ext cx="952500" cy="342900"/>
          </a:xfrm>
          <a:prstGeom prst="rect">
            <a:avLst/>
          </a:prstGeom>
          <a:noFill/>
        </p:spPr>
        <p:txBody>
          <a:bodyPr wrap="none" lIns="0" rIns="0" tIns="0" bIns="0" anchor="t">
            <a:spAutoFit/>
          </a:bodyPr>
          <a:lstStyle/>
          <a:p>
            <a:pPr algn="l">
              <a:lnSpc>
                <a:spcPts val="1989"/>
              </a:lnSpc>
              <a:spcBef>
                <a:spcPts val="0"/>
              </a:spcBef>
              <a:spcAft>
                <a:spcPts val="0"/>
              </a:spcAft>
            </a:pPr>
            <a:r>
              <a:rPr sz="1700" b="0">
                <a:solidFill>
                  <a:srgbClr val="F3F6FA"/>
                </a:solidFill>
                <a:latin typeface="DejaVu Sans"/>
              </a:rPr>
              <a:t>240.0K</a:t>
            </a:r>
          </a:p>
        </p:txBody>
      </p:sp>
      <p:sp>
        <p:nvSpPr>
          <p:cNvPr id="22" name="S06_021"/>
          <p:cNvSpPr txBox="1"/>
          <p:nvPr/>
        </p:nvSpPr>
        <p:spPr>
          <a:xfrm>
            <a:off x="6959600" y="4559300"/>
            <a:ext cx="1841500" cy="736600"/>
          </a:xfrm>
          <a:prstGeom prst="rect">
            <a:avLst/>
          </a:prstGeom>
          <a:noFill/>
        </p:spPr>
        <p:txBody>
          <a:bodyPr wrap="none" lIns="0" rIns="0" tIns="0" bIns="0" anchor="t">
            <a:spAutoFit/>
          </a:bodyPr>
          <a:lstStyle/>
          <a:p>
            <a:pPr algn="l">
              <a:lnSpc>
                <a:spcPts val="5148"/>
              </a:lnSpc>
              <a:spcBef>
                <a:spcPts val="0"/>
              </a:spcBef>
              <a:spcAft>
                <a:spcPts val="0"/>
              </a:spcAft>
            </a:pPr>
            <a:r>
              <a:rPr sz="4400" b="1">
                <a:solidFill>
                  <a:srgbClr val="42D7B4"/>
                </a:solidFill>
                <a:latin typeface="DejaVu Sans"/>
              </a:rPr>
              <a:t>38%</a:t>
            </a:r>
          </a:p>
        </p:txBody>
      </p:sp>
      <p:sp>
        <p:nvSpPr>
          <p:cNvPr id="23" name="S06_022"/>
          <p:cNvSpPr txBox="1"/>
          <p:nvPr/>
        </p:nvSpPr>
        <p:spPr>
          <a:xfrm>
            <a:off x="8851900" y="4686300"/>
            <a:ext cx="2603500" cy="558800"/>
          </a:xfrm>
          <a:prstGeom prst="rect">
            <a:avLst/>
          </a:prstGeom>
          <a:noFill/>
        </p:spPr>
        <p:txBody>
          <a:bodyPr wrap="none" lIns="0" rIns="0" tIns="0" bIns="0" anchor="t">
            <a:spAutoFit/>
          </a:bodyPr>
          <a:lstStyle/>
          <a:p>
            <a:pPr algn="l">
              <a:lnSpc>
                <a:spcPts val="1989"/>
              </a:lnSpc>
              <a:spcBef>
                <a:spcPts val="0"/>
              </a:spcBef>
              <a:spcAft>
                <a:spcPts val="0"/>
              </a:spcAft>
            </a:pPr>
            <a:r>
              <a:rPr sz="1700" b="0">
                <a:solidFill>
                  <a:srgbClr val="F3F6FA"/>
                </a:solidFill>
                <a:latin typeface="DejaVu Sans"/>
              </a:rPr>
              <a:t>fewer environment</a:t>
            </a:r>
          </a:p>
          <a:p>
            <a:pPr algn="l">
              <a:lnSpc>
                <a:spcPts val="1989"/>
              </a:lnSpc>
              <a:spcBef>
                <a:spcPts val="0"/>
              </a:spcBef>
              <a:spcAft>
                <a:spcPts val="0"/>
              </a:spcAft>
            </a:pPr>
            <a:r>
              <a:rPr sz="1700" b="0">
                <a:solidFill>
                  <a:srgbClr val="F3F6FA"/>
                </a:solidFill>
                <a:latin typeface="DejaVu Sans"/>
              </a:rPr>
              <a:t>steps on average</a:t>
            </a:r>
          </a:p>
        </p:txBody>
      </p:sp>
      <p:sp>
        <p:nvSpPr>
          <p:cNvPr id="24" name="S06_023"/>
          <p:cNvSpPr txBox="1"/>
          <p:nvPr/>
        </p:nvSpPr>
        <p:spPr>
          <a:xfrm>
            <a:off x="6946900" y="5346700"/>
            <a:ext cx="4635500" cy="279400"/>
          </a:xfrm>
          <a:prstGeom prst="rect">
            <a:avLst/>
          </a:prstGeom>
          <a:noFill/>
        </p:spPr>
        <p:txBody>
          <a:bodyPr wrap="none" lIns="0" rIns="0" tIns="0" bIns="0" anchor="t">
            <a:spAutoFit/>
          </a:bodyPr>
          <a:lstStyle/>
          <a:p>
            <a:pPr algn="l">
              <a:lnSpc>
                <a:spcPts val="1404"/>
              </a:lnSpc>
              <a:spcBef>
                <a:spcPts val="0"/>
              </a:spcBef>
              <a:spcAft>
                <a:spcPts val="0"/>
              </a:spcAft>
            </a:pPr>
            <a:r>
              <a:rPr sz="1200" b="0">
                <a:solidFill>
                  <a:srgbClr val="AFBDD0"/>
                </a:solidFill>
                <a:latin typeface="DejaVu Sans"/>
              </a:rPr>
              <a:t>Shared diffusion base · three runs</a:t>
            </a:r>
          </a:p>
        </p:txBody>
      </p:sp>
      <p:sp>
        <p:nvSpPr>
          <p:cNvPr id="25" name="S06_024"/>
          <p:cNvSpPr txBox="1"/>
          <p:nvPr/>
        </p:nvSpPr>
        <p:spPr>
          <a:xfrm>
            <a:off x="571500" y="5943600"/>
            <a:ext cx="11049000" cy="469900"/>
          </a:xfrm>
          <a:prstGeom prst="rect">
            <a:avLst/>
          </a:prstGeom>
          <a:noFill/>
        </p:spPr>
        <p:txBody>
          <a:bodyPr wrap="none" lIns="0" rIns="0" tIns="0" bIns="0" anchor="t">
            <a:spAutoFit/>
          </a:bodyPr>
          <a:lstStyle/>
          <a:p>
            <a:pPr algn="ctr">
              <a:lnSpc>
                <a:spcPts val="1872"/>
              </a:lnSpc>
              <a:spcBef>
                <a:spcPts val="0"/>
              </a:spcBef>
              <a:spcAft>
                <a:spcPts val="0"/>
              </a:spcAft>
            </a:pPr>
            <a:r>
              <a:rPr sz="1600" b="0">
                <a:solidFill>
                  <a:srgbClr val="F3F6FA"/>
                </a:solidFill>
                <a:latin typeface="DejaVu Sans"/>
              </a:rPr>
              <a:t>LIBERO: clipping without restoration loses all success on five tested tasks.</a:t>
            </a:r>
          </a:p>
        </p:txBody>
      </p:sp>
      <p:sp>
        <p:nvSpPr>
          <p:cNvPr id="26" name="MEDIA_A05_MASK"/>
          <p:cNvSpPr/>
          <p:nvPr/>
        </p:nvSpPr>
        <p:spPr>
          <a:xfrm>
            <a:off x="533400" y="1866900"/>
            <a:ext cx="5880100" cy="38481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S06_026" descr="image.png"/>
          <p:cNvPicPr>
            <a:picLocks noChangeAspect="1"/>
          </p:cNvPicPr>
          <p:nvPr/>
        </p:nvPicPr>
        <p:blipFill>
          <a:blip r:embed="rId2"/>
          <a:stretch>
            <a:fillRect/>
          </a:stretch>
        </p:blipFill>
        <p:spPr>
          <a:xfrm>
            <a:off x="533400" y="2137171"/>
            <a:ext cx="5880100" cy="3307556"/>
          </a:xfrm>
          <a:prstGeom prst="rect">
            <a:avLst/>
          </a:prstGeom>
        </p:spPr>
      </p:pic>
      <p:pic>
        <p:nvPicPr>
          <p:cNvPr id="28" name="MEDIA_A05_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2"/>
          <a:stretch>
            <a:fillRect/>
          </a:stretch>
        </p:blipFill>
        <p:spPr>
          <a:xfrm>
            <a:off x="533400" y="2137171"/>
            <a:ext cx="5880100" cy="3307556"/>
          </a:xfrm>
          <a:prstGeom prst="rect">
            <a:avLst/>
          </a:prstGeom>
        </p:spPr>
      </p:pic>
      <p:sp>
        <p:nvSpPr>
          <p:cNvPr id="29" name="S06_028"/>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30" name="S06_029"/>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06 / 10</a:t>
            </a:r>
          </a:p>
        </p:txBody>
      </p:sp>
      <p:sp>
        <p:nvSpPr>
          <p:cNvPr id="31" name="S06_030"/>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S06_031"/>
          <p:cNvSpPr/>
          <p:nvPr/>
        </p:nvSpPr>
        <p:spPr>
          <a:xfrm>
            <a:off x="0" y="6807200"/>
            <a:ext cx="7502769"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30000"/>
  <p:timing>
    <p:tnLst>
      <p:par>
        <p:cTn id="1" dur="indefinite" restart="never" nodeType="tmRoot">
          <p:childTnLst>
            <p:video>
              <p:cMediaNode vol="80000">
                <p:cTn id="2" fill="hold" display="0">
                  <p:stCondLst>
                    <p:cond delay="0"/>
                  </p:stCondLst>
                </p:cTn>
                <p:tgtEl>
                  <p:spTgt spid="28"/>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07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REAL ROBOT — SETUP</a:t>
            </a:r>
          </a:p>
        </p:txBody>
      </p:sp>
      <p:sp>
        <p:nvSpPr>
          <p:cNvPr id="3" name="S07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REAL ROBOT</a:t>
            </a:r>
          </a:p>
        </p:txBody>
      </p:sp>
      <p:sp>
        <p:nvSpPr>
          <p:cNvPr id="4" name="S07_003"/>
          <p:cNvSpPr txBox="1"/>
          <p:nvPr/>
        </p:nvSpPr>
        <p:spPr>
          <a:xfrm>
            <a:off x="533400" y="787400"/>
            <a:ext cx="11125200" cy="1003300"/>
          </a:xfrm>
          <a:prstGeom prst="rect">
            <a:avLst/>
          </a:prstGeom>
          <a:noFill/>
        </p:spPr>
        <p:txBody>
          <a:bodyPr wrap="none" lIns="0" rIns="0" tIns="0" bIns="0" anchor="t">
            <a:spAutoFit/>
          </a:bodyPr>
          <a:lstStyle/>
          <a:p>
            <a:pPr algn="l">
              <a:lnSpc>
                <a:spcPts val="3626"/>
              </a:lnSpc>
              <a:spcBef>
                <a:spcPts val="0"/>
              </a:spcBef>
              <a:spcAft>
                <a:spcPts val="0"/>
              </a:spcAft>
            </a:pPr>
            <a:r>
              <a:rPr sz="3100" b="1">
                <a:solidFill>
                  <a:srgbClr val="F3F6FA"/>
                </a:solidFill>
                <a:latin typeface="DejaVu Sans"/>
              </a:rPr>
              <a:t>From recorded experience to robot execution.</a:t>
            </a:r>
          </a:p>
        </p:txBody>
      </p:sp>
      <p:pic>
        <p:nvPicPr>
          <p:cNvPr id="5" name="S07_004" descr="image.png"/>
          <p:cNvPicPr>
            <a:picLocks noChangeAspect="1"/>
          </p:cNvPicPr>
          <p:nvPr/>
        </p:nvPicPr>
        <p:blipFill>
          <a:blip r:embed="rId2"/>
          <a:stretch>
            <a:fillRect/>
          </a:stretch>
        </p:blipFill>
        <p:spPr>
          <a:xfrm>
            <a:off x="546100" y="1917700"/>
            <a:ext cx="5778500" cy="3517900"/>
          </a:xfrm>
          <a:prstGeom prst="rect">
            <a:avLst/>
          </a:prstGeom>
        </p:spPr>
      </p:pic>
      <p:sp>
        <p:nvSpPr>
          <p:cNvPr id="6" name="S07_005"/>
          <p:cNvSpPr/>
          <p:nvPr/>
        </p:nvSpPr>
        <p:spPr>
          <a:xfrm>
            <a:off x="546100" y="4953000"/>
            <a:ext cx="5778500" cy="4826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7_006"/>
          <p:cNvSpPr txBox="1"/>
          <p:nvPr/>
        </p:nvSpPr>
        <p:spPr>
          <a:xfrm>
            <a:off x="736600" y="5054600"/>
            <a:ext cx="5397500" cy="279400"/>
          </a:xfrm>
          <a:prstGeom prst="rect">
            <a:avLst/>
          </a:prstGeom>
          <a:noFill/>
        </p:spPr>
        <p:txBody>
          <a:bodyPr wrap="none" lIns="0" rIns="0" tIns="0" bIns="0" anchor="t">
            <a:spAutoFit/>
          </a:bodyPr>
          <a:lstStyle/>
          <a:p>
            <a:pPr algn="l">
              <a:lnSpc>
                <a:spcPts val="1989"/>
              </a:lnSpc>
              <a:spcBef>
                <a:spcPts val="0"/>
              </a:spcBef>
              <a:spcAft>
                <a:spcPts val="0"/>
              </a:spcAft>
            </a:pPr>
            <a:r>
              <a:rPr sz="1700" b="1">
                <a:solidFill>
                  <a:srgbClr val="F3F6FA"/>
                </a:solidFill>
                <a:latin typeface="DejaVu Sans"/>
              </a:rPr>
              <a:t>OpenArm + parallel gripper</a:t>
            </a:r>
          </a:p>
        </p:txBody>
      </p:sp>
      <p:pic>
        <p:nvPicPr>
          <p:cNvPr id="8" name="S07_007" descr="image.png"/>
          <p:cNvPicPr>
            <a:picLocks noChangeAspect="1"/>
          </p:cNvPicPr>
          <p:nvPr/>
        </p:nvPicPr>
        <p:blipFill>
          <a:blip r:embed="rId3"/>
          <a:stretch>
            <a:fillRect/>
          </a:stretch>
        </p:blipFill>
        <p:spPr>
          <a:xfrm>
            <a:off x="6680200" y="1917700"/>
            <a:ext cx="2324100" cy="1739900"/>
          </a:xfrm>
          <a:prstGeom prst="rect">
            <a:avLst/>
          </a:prstGeom>
        </p:spPr>
      </p:pic>
      <p:pic>
        <p:nvPicPr>
          <p:cNvPr id="9" name="S07_008" descr="image.png"/>
          <p:cNvPicPr>
            <a:picLocks noChangeAspect="1"/>
          </p:cNvPicPr>
          <p:nvPr/>
        </p:nvPicPr>
        <p:blipFill>
          <a:blip r:embed="rId4"/>
          <a:stretch>
            <a:fillRect/>
          </a:stretch>
        </p:blipFill>
        <p:spPr>
          <a:xfrm>
            <a:off x="9321800" y="1917700"/>
            <a:ext cx="2324100" cy="1739900"/>
          </a:xfrm>
          <a:prstGeom prst="rect">
            <a:avLst/>
          </a:prstGeom>
        </p:spPr>
      </p:pic>
      <p:sp>
        <p:nvSpPr>
          <p:cNvPr id="10" name="S07_009"/>
          <p:cNvSpPr txBox="1"/>
          <p:nvPr/>
        </p:nvSpPr>
        <p:spPr>
          <a:xfrm>
            <a:off x="6680200" y="3797300"/>
            <a:ext cx="2324100" cy="304800"/>
          </a:xfrm>
          <a:prstGeom prst="rect">
            <a:avLst/>
          </a:prstGeom>
          <a:noFill/>
        </p:spPr>
        <p:txBody>
          <a:bodyPr wrap="none" lIns="0" rIns="0" tIns="0" bIns="0" anchor="t">
            <a:spAutoFit/>
          </a:bodyPr>
          <a:lstStyle/>
          <a:p>
            <a:pPr algn="ctr">
              <a:lnSpc>
                <a:spcPts val="1872"/>
              </a:lnSpc>
              <a:spcBef>
                <a:spcPts val="0"/>
              </a:spcBef>
              <a:spcAft>
                <a:spcPts val="0"/>
              </a:spcAft>
            </a:pPr>
            <a:r>
              <a:rPr sz="1600" b="0">
                <a:solidFill>
                  <a:srgbClr val="7FB0ED"/>
                </a:solidFill>
                <a:latin typeface="DejaVu Sans"/>
              </a:rPr>
              <a:t>Chest RGB</a:t>
            </a:r>
          </a:p>
        </p:txBody>
      </p:sp>
      <p:sp>
        <p:nvSpPr>
          <p:cNvPr id="11" name="S07_010"/>
          <p:cNvSpPr txBox="1"/>
          <p:nvPr/>
        </p:nvSpPr>
        <p:spPr>
          <a:xfrm>
            <a:off x="9321800" y="3797300"/>
            <a:ext cx="2324100" cy="304800"/>
          </a:xfrm>
          <a:prstGeom prst="rect">
            <a:avLst/>
          </a:prstGeom>
          <a:noFill/>
        </p:spPr>
        <p:txBody>
          <a:bodyPr wrap="none" lIns="0" rIns="0" tIns="0" bIns="0" anchor="t">
            <a:spAutoFit/>
          </a:bodyPr>
          <a:lstStyle/>
          <a:p>
            <a:pPr algn="ctr">
              <a:lnSpc>
                <a:spcPts val="1872"/>
              </a:lnSpc>
              <a:spcBef>
                <a:spcPts val="0"/>
              </a:spcBef>
              <a:spcAft>
                <a:spcPts val="0"/>
              </a:spcAft>
            </a:pPr>
            <a:r>
              <a:rPr sz="1600" b="0">
                <a:solidFill>
                  <a:srgbClr val="7FB0ED"/>
                </a:solidFill>
                <a:latin typeface="DejaVu Sans"/>
              </a:rPr>
              <a:t>Wrist RGB</a:t>
            </a:r>
          </a:p>
        </p:txBody>
      </p:sp>
      <p:sp>
        <p:nvSpPr>
          <p:cNvPr id="12" name="S07_011"/>
          <p:cNvSpPr/>
          <p:nvPr/>
        </p:nvSpPr>
        <p:spPr>
          <a:xfrm>
            <a:off x="6680200" y="4368800"/>
            <a:ext cx="4965700" cy="1155700"/>
          </a:xfrm>
          <a:prstGeom prst="roundRect">
            <a:avLst>
              <a:gd name="adj" fmla="val 7692"/>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07_012"/>
          <p:cNvSpPr txBox="1"/>
          <p:nvPr/>
        </p:nvSpPr>
        <p:spPr>
          <a:xfrm>
            <a:off x="6908800" y="4533900"/>
            <a:ext cx="4508500" cy="317500"/>
          </a:xfrm>
          <a:prstGeom prst="rect">
            <a:avLst/>
          </a:prstGeom>
          <a:noFill/>
        </p:spPr>
        <p:txBody>
          <a:bodyPr wrap="none" lIns="0" rIns="0" tIns="0" bIns="0" anchor="t">
            <a:spAutoFit/>
          </a:bodyPr>
          <a:lstStyle/>
          <a:p>
            <a:pPr algn="l">
              <a:lnSpc>
                <a:spcPts val="1989"/>
              </a:lnSpc>
              <a:spcBef>
                <a:spcPts val="0"/>
              </a:spcBef>
              <a:spcAft>
                <a:spcPts val="0"/>
              </a:spcAft>
            </a:pPr>
            <a:r>
              <a:rPr sz="1700" b="0">
                <a:solidFill>
                  <a:srgbClr val="F3F6FA"/>
                </a:solidFill>
                <a:latin typeface="DejaVu Sans"/>
              </a:rPr>
              <a:t>RGB + joint / gripper state</a:t>
            </a:r>
          </a:p>
        </p:txBody>
      </p:sp>
      <p:sp>
        <p:nvSpPr>
          <p:cNvPr id="14" name="S07_013"/>
          <p:cNvSpPr txBox="1"/>
          <p:nvPr/>
        </p:nvSpPr>
        <p:spPr>
          <a:xfrm>
            <a:off x="6908800" y="5016500"/>
            <a:ext cx="45085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42D7B4"/>
                </a:solidFill>
                <a:latin typeface="DejaVu Sans"/>
              </a:rPr>
              <a:t>Flow policy + residual → action chunks</a:t>
            </a:r>
          </a:p>
        </p:txBody>
      </p:sp>
      <p:sp>
        <p:nvSpPr>
          <p:cNvPr id="15" name="S07_014"/>
          <p:cNvSpPr txBox="1"/>
          <p:nvPr/>
        </p:nvSpPr>
        <p:spPr>
          <a:xfrm>
            <a:off x="584200" y="5803900"/>
            <a:ext cx="11049000" cy="381000"/>
          </a:xfrm>
          <a:prstGeom prst="rect">
            <a:avLst/>
          </a:prstGeom>
          <a:noFill/>
        </p:spPr>
        <p:txBody>
          <a:bodyPr wrap="none" lIns="0" rIns="0" tIns="0" bIns="0" anchor="t">
            <a:spAutoFit/>
          </a:bodyPr>
          <a:lstStyle/>
          <a:p>
            <a:pPr algn="ctr">
              <a:lnSpc>
                <a:spcPts val="2340"/>
              </a:lnSpc>
              <a:spcBef>
                <a:spcPts val="0"/>
              </a:spcBef>
              <a:spcAft>
                <a:spcPts val="0"/>
              </a:spcAft>
            </a:pPr>
            <a:r>
              <a:rPr sz="2000" b="0">
                <a:solidFill>
                  <a:srgbClr val="F3F6FA"/>
                </a:solidFill>
                <a:latin typeface="DejaVu Sans"/>
              </a:rPr>
              <a:t>Recorded rollouts → offline refinement → autonomous evaluation</a:t>
            </a:r>
          </a:p>
        </p:txBody>
      </p:sp>
      <p:sp>
        <p:nvSpPr>
          <p:cNvPr id="16" name="S07_015"/>
          <p:cNvSpPr txBox="1"/>
          <p:nvPr/>
        </p:nvSpPr>
        <p:spPr>
          <a:xfrm>
            <a:off x="584200" y="6248400"/>
            <a:ext cx="11049000" cy="215900"/>
          </a:xfrm>
          <a:prstGeom prst="rect">
            <a:avLst/>
          </a:prstGeom>
          <a:noFill/>
        </p:spPr>
        <p:txBody>
          <a:bodyPr wrap="none" lIns="0" rIns="0" tIns="0" bIns="0" anchor="t">
            <a:spAutoFit/>
          </a:bodyPr>
          <a:lstStyle/>
          <a:p>
            <a:pPr algn="ctr">
              <a:lnSpc>
                <a:spcPts val="1170"/>
              </a:lnSpc>
              <a:spcBef>
                <a:spcPts val="0"/>
              </a:spcBef>
              <a:spcAft>
                <a:spcPts val="0"/>
              </a:spcAft>
            </a:pPr>
            <a:r>
              <a:rPr sz="1000" b="0">
                <a:solidFill>
                  <a:srgbClr val="AFBDD0"/>
                </a:solidFill>
                <a:latin typeface="DejaVu Sans"/>
              </a:rPr>
              <a:t>Scene images are teleoperated demonstration frames.</a:t>
            </a:r>
          </a:p>
        </p:txBody>
      </p:sp>
      <p:sp>
        <p:nvSpPr>
          <p:cNvPr id="17" name="S07_016"/>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18" name="S07_017"/>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07 / 10</a:t>
            </a:r>
          </a:p>
        </p:txBody>
      </p:sp>
      <p:sp>
        <p:nvSpPr>
          <p:cNvPr id="19" name="S07_018"/>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07_019"/>
          <p:cNvSpPr/>
          <p:nvPr/>
        </p:nvSpPr>
        <p:spPr>
          <a:xfrm>
            <a:off x="0" y="6807200"/>
            <a:ext cx="8753230"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16000"/>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08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REAL ROBOT — PLACEMENT</a:t>
            </a:r>
          </a:p>
        </p:txBody>
      </p:sp>
      <p:sp>
        <p:nvSpPr>
          <p:cNvPr id="3" name="S08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REAL ROBOT</a:t>
            </a:r>
          </a:p>
        </p:txBody>
      </p:sp>
      <p:sp>
        <p:nvSpPr>
          <p:cNvPr id="4" name="S08_003"/>
          <p:cNvSpPr txBox="1"/>
          <p:nvPr/>
        </p:nvSpPr>
        <p:spPr>
          <a:xfrm>
            <a:off x="533400" y="787400"/>
            <a:ext cx="11125200" cy="1003300"/>
          </a:xfrm>
          <a:prstGeom prst="rect">
            <a:avLst/>
          </a:prstGeom>
          <a:noFill/>
        </p:spPr>
        <p:txBody>
          <a:bodyPr wrap="none" lIns="0" rIns="0" tIns="0" bIns="0" anchor="t">
            <a:spAutoFit/>
          </a:bodyPr>
          <a:lstStyle/>
          <a:p>
            <a:pPr algn="l">
              <a:lnSpc>
                <a:spcPts val="3626"/>
              </a:lnSpc>
              <a:spcBef>
                <a:spcPts val="0"/>
              </a:spcBef>
              <a:spcAft>
                <a:spcPts val="0"/>
              </a:spcAft>
            </a:pPr>
            <a:r>
              <a:rPr sz="3100" b="1">
                <a:solidFill>
                  <a:srgbClr val="F3F6FA"/>
                </a:solidFill>
                <a:latin typeface="DejaVu Sans"/>
              </a:rPr>
              <a:t>Place accurately across changing heights.</a:t>
            </a:r>
          </a:p>
        </p:txBody>
      </p:sp>
      <p:sp>
        <p:nvSpPr>
          <p:cNvPr id="5" name="MEDIA_V01_FRAME"/>
          <p:cNvSpPr/>
          <p:nvPr/>
        </p:nvSpPr>
        <p:spPr>
          <a:xfrm>
            <a:off x="533400" y="1917700"/>
            <a:ext cx="6883400" cy="3873500"/>
          </a:xfrm>
          <a:prstGeom prst="roundRect">
            <a:avLst>
              <a:gd name="adj" fmla="val 2622"/>
            </a:avLst>
          </a:prstGeom>
          <a:solidFill>
            <a:srgbClr val="16273B"/>
          </a:solidFill>
          <a:ln w="12700">
            <a:solidFill>
              <a:srgbClr val="334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EDIA_V01_LABEL"/>
          <p:cNvSpPr txBox="1"/>
          <p:nvPr/>
        </p:nvSpPr>
        <p:spPr>
          <a:xfrm>
            <a:off x="736600" y="2070100"/>
            <a:ext cx="6477000" cy="2540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V01 / Autonomous placement</a:t>
            </a:r>
          </a:p>
        </p:txBody>
      </p:sp>
      <p:sp>
        <p:nvSpPr>
          <p:cNvPr id="7" name="MEDIA_V01_STATUS"/>
          <p:cNvSpPr txBox="1"/>
          <p:nvPr/>
        </p:nvSpPr>
        <p:spPr>
          <a:xfrm>
            <a:off x="736600" y="5499100"/>
            <a:ext cx="6477000" cy="2032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STATIC PREVIEW · VIDEO RESERVED</a:t>
            </a:r>
          </a:p>
        </p:txBody>
      </p:sp>
      <p:pic>
        <p:nvPicPr>
          <p:cNvPr id="8" name="S08_007" descr="image.png"/>
          <p:cNvPicPr>
            <a:picLocks noChangeAspect="1"/>
          </p:cNvPicPr>
          <p:nvPr/>
        </p:nvPicPr>
        <p:blipFill>
          <a:blip r:embed="rId2"/>
          <a:stretch>
            <a:fillRect/>
          </a:stretch>
        </p:blipFill>
        <p:spPr>
          <a:xfrm>
            <a:off x="698500" y="2400300"/>
            <a:ext cx="6553200" cy="2959100"/>
          </a:xfrm>
          <a:prstGeom prst="rect">
            <a:avLst/>
          </a:prstGeom>
        </p:spPr>
      </p:pic>
      <p:sp>
        <p:nvSpPr>
          <p:cNvPr id="9" name="S08_008"/>
          <p:cNvSpPr/>
          <p:nvPr/>
        </p:nvSpPr>
        <p:spPr>
          <a:xfrm>
            <a:off x="825500" y="2514600"/>
            <a:ext cx="4737100" cy="368300"/>
          </a:xfrm>
          <a:prstGeom prst="rect">
            <a:avLst/>
          </a:prstGeom>
          <a:solidFill>
            <a:srgbClr val="0D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8_009"/>
          <p:cNvSpPr txBox="1"/>
          <p:nvPr/>
        </p:nvSpPr>
        <p:spPr>
          <a:xfrm>
            <a:off x="952500" y="2603500"/>
            <a:ext cx="4457700" cy="241300"/>
          </a:xfrm>
          <a:prstGeom prst="rect">
            <a:avLst/>
          </a:prstGeom>
          <a:noFill/>
        </p:spPr>
        <p:txBody>
          <a:bodyPr wrap="none" lIns="0" rIns="0" tIns="0" bIns="0" anchor="t">
            <a:spAutoFit/>
          </a:bodyPr>
          <a:lstStyle/>
          <a:p>
            <a:pPr algn="l">
              <a:lnSpc>
                <a:spcPts val="1404"/>
              </a:lnSpc>
              <a:spcBef>
                <a:spcPts val="0"/>
              </a:spcBef>
              <a:spcAft>
                <a:spcPts val="0"/>
              </a:spcAft>
            </a:pPr>
            <a:r>
              <a:rPr sz="1200" b="1">
                <a:solidFill>
                  <a:srgbClr val="F3F6FA"/>
                </a:solidFill>
                <a:latin typeface="DejaVu Sans"/>
              </a:rPr>
              <a:t>PLACEHOLDER · teleoperation still</a:t>
            </a:r>
          </a:p>
        </p:txBody>
      </p:sp>
      <p:sp>
        <p:nvSpPr>
          <p:cNvPr id="11" name="S08_010"/>
          <p:cNvSpPr txBox="1"/>
          <p:nvPr/>
        </p:nvSpPr>
        <p:spPr>
          <a:xfrm>
            <a:off x="7747000" y="1955800"/>
            <a:ext cx="3898900" cy="381000"/>
          </a:xfrm>
          <a:prstGeom prst="rect">
            <a:avLst/>
          </a:prstGeom>
          <a:noFill/>
        </p:spPr>
        <p:txBody>
          <a:bodyPr wrap="none" lIns="0" rIns="0" tIns="0" bIns="0" anchor="t">
            <a:spAutoFit/>
          </a:bodyPr>
          <a:lstStyle/>
          <a:p>
            <a:pPr algn="l">
              <a:lnSpc>
                <a:spcPts val="2222"/>
              </a:lnSpc>
              <a:spcBef>
                <a:spcPts val="0"/>
              </a:spcBef>
              <a:spcAft>
                <a:spcPts val="0"/>
              </a:spcAft>
            </a:pPr>
            <a:r>
              <a:rPr sz="1900" b="1">
                <a:solidFill>
                  <a:srgbClr val="F3F6FA"/>
                </a:solidFill>
                <a:latin typeface="DejaVu Sans"/>
              </a:rPr>
              <a:t>Autonomous success</a:t>
            </a:r>
          </a:p>
        </p:txBody>
      </p:sp>
      <p:sp>
        <p:nvSpPr>
          <p:cNvPr id="12" name="S08_011"/>
          <p:cNvSpPr txBox="1"/>
          <p:nvPr/>
        </p:nvSpPr>
        <p:spPr>
          <a:xfrm>
            <a:off x="7747000" y="2679700"/>
            <a:ext cx="8382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8D9BAC"/>
                </a:solidFill>
                <a:latin typeface="DejaVu Sans"/>
              </a:rPr>
              <a:t>Base</a:t>
            </a:r>
          </a:p>
        </p:txBody>
      </p:sp>
      <p:sp>
        <p:nvSpPr>
          <p:cNvPr id="13" name="S08_012"/>
          <p:cNvSpPr/>
          <p:nvPr/>
        </p:nvSpPr>
        <p:spPr>
          <a:xfrm>
            <a:off x="8661400" y="2641600"/>
            <a:ext cx="2463800" cy="304800"/>
          </a:xfrm>
          <a:prstGeom prst="rect">
            <a:avLst/>
          </a:prstGeom>
          <a:solidFill>
            <a:srgbClr val="102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08_013"/>
          <p:cNvSpPr/>
          <p:nvPr/>
        </p:nvSpPr>
        <p:spPr>
          <a:xfrm>
            <a:off x="8661400" y="2641600"/>
            <a:ext cx="1355090" cy="304800"/>
          </a:xfrm>
          <a:prstGeom prst="rect">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8_014"/>
          <p:cNvSpPr txBox="1"/>
          <p:nvPr/>
        </p:nvSpPr>
        <p:spPr>
          <a:xfrm>
            <a:off x="11239500" y="2679700"/>
            <a:ext cx="5334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8D9BAC"/>
                </a:solidFill>
                <a:latin typeface="DejaVu Sans"/>
              </a:rPr>
              <a:t>55%</a:t>
            </a:r>
          </a:p>
        </p:txBody>
      </p:sp>
      <p:sp>
        <p:nvSpPr>
          <p:cNvPr id="16" name="S08_015"/>
          <p:cNvSpPr txBox="1"/>
          <p:nvPr/>
        </p:nvSpPr>
        <p:spPr>
          <a:xfrm>
            <a:off x="7747000" y="3200400"/>
            <a:ext cx="8382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F0B360"/>
                </a:solidFill>
                <a:latin typeface="DejaVu Sans"/>
              </a:rPr>
              <a:t>BC</a:t>
            </a:r>
          </a:p>
        </p:txBody>
      </p:sp>
      <p:sp>
        <p:nvSpPr>
          <p:cNvPr id="17" name="S08_016"/>
          <p:cNvSpPr/>
          <p:nvPr/>
        </p:nvSpPr>
        <p:spPr>
          <a:xfrm>
            <a:off x="8661400" y="3162300"/>
            <a:ext cx="2463800" cy="304800"/>
          </a:xfrm>
          <a:prstGeom prst="rect">
            <a:avLst/>
          </a:prstGeom>
          <a:solidFill>
            <a:srgbClr val="102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08_017"/>
          <p:cNvSpPr/>
          <p:nvPr/>
        </p:nvSpPr>
        <p:spPr>
          <a:xfrm>
            <a:off x="8661400" y="3162300"/>
            <a:ext cx="1971039" cy="304800"/>
          </a:xfrm>
          <a:prstGeom prst="rect">
            <a:avLst/>
          </a:prstGeom>
          <a:solidFill>
            <a:srgbClr val="F0B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08_018"/>
          <p:cNvSpPr txBox="1"/>
          <p:nvPr/>
        </p:nvSpPr>
        <p:spPr>
          <a:xfrm>
            <a:off x="11239500" y="3200400"/>
            <a:ext cx="5334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F0B360"/>
                </a:solidFill>
                <a:latin typeface="DejaVu Sans"/>
              </a:rPr>
              <a:t>80%</a:t>
            </a:r>
          </a:p>
        </p:txBody>
      </p:sp>
      <p:sp>
        <p:nvSpPr>
          <p:cNvPr id="20" name="S08_019"/>
          <p:cNvSpPr txBox="1"/>
          <p:nvPr/>
        </p:nvSpPr>
        <p:spPr>
          <a:xfrm>
            <a:off x="7747000" y="3721100"/>
            <a:ext cx="8382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7FB0ED"/>
                </a:solidFill>
                <a:latin typeface="DejaVu Sans"/>
              </a:rPr>
              <a:t>DICE-RL</a:t>
            </a:r>
          </a:p>
        </p:txBody>
      </p:sp>
      <p:sp>
        <p:nvSpPr>
          <p:cNvPr id="21" name="S08_020"/>
          <p:cNvSpPr/>
          <p:nvPr/>
        </p:nvSpPr>
        <p:spPr>
          <a:xfrm>
            <a:off x="8661400" y="3683000"/>
            <a:ext cx="2463800" cy="304800"/>
          </a:xfrm>
          <a:prstGeom prst="rect">
            <a:avLst/>
          </a:prstGeom>
          <a:solidFill>
            <a:srgbClr val="102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08_021"/>
          <p:cNvSpPr/>
          <p:nvPr/>
        </p:nvSpPr>
        <p:spPr>
          <a:xfrm>
            <a:off x="8661400" y="3683000"/>
            <a:ext cx="2217420" cy="304800"/>
          </a:xfrm>
          <a:prstGeom prst="rect">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08_022"/>
          <p:cNvSpPr txBox="1"/>
          <p:nvPr/>
        </p:nvSpPr>
        <p:spPr>
          <a:xfrm>
            <a:off x="11239500" y="3721100"/>
            <a:ext cx="5334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7FB0ED"/>
                </a:solidFill>
                <a:latin typeface="DejaVu Sans"/>
              </a:rPr>
              <a:t>90%</a:t>
            </a:r>
          </a:p>
        </p:txBody>
      </p:sp>
      <p:sp>
        <p:nvSpPr>
          <p:cNvPr id="24" name="S08_023"/>
          <p:cNvSpPr txBox="1"/>
          <p:nvPr/>
        </p:nvSpPr>
        <p:spPr>
          <a:xfrm>
            <a:off x="7747000" y="4241800"/>
            <a:ext cx="838200" cy="304800"/>
          </a:xfrm>
          <a:prstGeom prst="rect">
            <a:avLst/>
          </a:prstGeom>
          <a:noFill/>
        </p:spPr>
        <p:txBody>
          <a:bodyPr wrap="none" lIns="0" rIns="0" tIns="0" bIns="0" anchor="t">
            <a:spAutoFit/>
          </a:bodyPr>
          <a:lstStyle/>
          <a:p>
            <a:pPr algn="l">
              <a:lnSpc>
                <a:spcPts val="1754"/>
              </a:lnSpc>
              <a:spcBef>
                <a:spcPts val="0"/>
              </a:spcBef>
              <a:spcAft>
                <a:spcPts val="0"/>
              </a:spcAft>
            </a:pPr>
            <a:r>
              <a:rPr sz="1500" b="1">
                <a:solidFill>
                  <a:srgbClr val="42D7B4"/>
                </a:solidFill>
                <a:latin typeface="DejaVu Sans"/>
              </a:rPr>
              <a:t>CAST</a:t>
            </a:r>
          </a:p>
        </p:txBody>
      </p:sp>
      <p:sp>
        <p:nvSpPr>
          <p:cNvPr id="25" name="S08_024"/>
          <p:cNvSpPr/>
          <p:nvPr/>
        </p:nvSpPr>
        <p:spPr>
          <a:xfrm>
            <a:off x="8661400" y="4203700"/>
            <a:ext cx="2463800" cy="304800"/>
          </a:xfrm>
          <a:prstGeom prst="rect">
            <a:avLst/>
          </a:prstGeom>
          <a:solidFill>
            <a:srgbClr val="102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08_025"/>
          <p:cNvSpPr/>
          <p:nvPr/>
        </p:nvSpPr>
        <p:spPr>
          <a:xfrm>
            <a:off x="8661400" y="4203700"/>
            <a:ext cx="2340610" cy="304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08_026"/>
          <p:cNvSpPr txBox="1"/>
          <p:nvPr/>
        </p:nvSpPr>
        <p:spPr>
          <a:xfrm>
            <a:off x="11239500" y="4241800"/>
            <a:ext cx="533400" cy="304800"/>
          </a:xfrm>
          <a:prstGeom prst="rect">
            <a:avLst/>
          </a:prstGeom>
          <a:noFill/>
        </p:spPr>
        <p:txBody>
          <a:bodyPr wrap="none" lIns="0" rIns="0" tIns="0" bIns="0" anchor="t">
            <a:spAutoFit/>
          </a:bodyPr>
          <a:lstStyle/>
          <a:p>
            <a:pPr algn="l">
              <a:lnSpc>
                <a:spcPts val="1754"/>
              </a:lnSpc>
              <a:spcBef>
                <a:spcPts val="0"/>
              </a:spcBef>
              <a:spcAft>
                <a:spcPts val="0"/>
              </a:spcAft>
            </a:pPr>
            <a:r>
              <a:rPr sz="1500" b="1">
                <a:solidFill>
                  <a:srgbClr val="42D7B4"/>
                </a:solidFill>
                <a:latin typeface="DejaVu Sans"/>
              </a:rPr>
              <a:t>95%</a:t>
            </a:r>
          </a:p>
        </p:txBody>
      </p:sp>
      <p:sp>
        <p:nvSpPr>
          <p:cNvPr id="28" name="S08_027"/>
          <p:cNvSpPr txBox="1"/>
          <p:nvPr/>
        </p:nvSpPr>
        <p:spPr>
          <a:xfrm>
            <a:off x="7759700" y="5054600"/>
            <a:ext cx="3784600" cy="482600"/>
          </a:xfrm>
          <a:prstGeom prst="rect">
            <a:avLst/>
          </a:prstGeom>
          <a:noFill/>
        </p:spPr>
        <p:txBody>
          <a:bodyPr wrap="none" lIns="0" rIns="0" tIns="0" bIns="0" anchor="t">
            <a:spAutoFit/>
          </a:bodyPr>
          <a:lstStyle/>
          <a:p>
            <a:pPr algn="l">
              <a:lnSpc>
                <a:spcPts val="2340"/>
              </a:lnSpc>
              <a:spcBef>
                <a:spcPts val="0"/>
              </a:spcBef>
              <a:spcAft>
                <a:spcPts val="0"/>
              </a:spcAft>
            </a:pPr>
            <a:r>
              <a:rPr sz="2000" b="1">
                <a:solidFill>
                  <a:srgbClr val="42D7B4"/>
                </a:solidFill>
                <a:latin typeface="DejaVu Sans"/>
              </a:rPr>
              <a:t>+40 percentage points</a:t>
            </a:r>
          </a:p>
        </p:txBody>
      </p:sp>
      <p:sp>
        <p:nvSpPr>
          <p:cNvPr id="29" name="S08_028"/>
          <p:cNvSpPr txBox="1"/>
          <p:nvPr/>
        </p:nvSpPr>
        <p:spPr>
          <a:xfrm>
            <a:off x="7772400" y="5537200"/>
            <a:ext cx="3759200" cy="2921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AFBDD0"/>
                </a:solidFill>
                <a:latin typeface="DejaVu Sans"/>
              </a:rPr>
              <a:t>over the pretrained base</a:t>
            </a:r>
          </a:p>
        </p:txBody>
      </p:sp>
      <p:sp>
        <p:nvSpPr>
          <p:cNvPr id="30" name="S08_029"/>
          <p:cNvSpPr txBox="1"/>
          <p:nvPr/>
        </p:nvSpPr>
        <p:spPr>
          <a:xfrm>
            <a:off x="558800" y="6045200"/>
            <a:ext cx="11061700" cy="355600"/>
          </a:xfrm>
          <a:prstGeom prst="rect">
            <a:avLst/>
          </a:prstGeom>
          <a:noFill/>
        </p:spPr>
        <p:txBody>
          <a:bodyPr wrap="none" lIns="0" rIns="0" tIns="0" bIns="0" anchor="t">
            <a:spAutoFit/>
          </a:bodyPr>
          <a:lstStyle/>
          <a:p>
            <a:pPr algn="ctr">
              <a:lnSpc>
                <a:spcPts val="2106"/>
              </a:lnSpc>
              <a:spcBef>
                <a:spcPts val="0"/>
              </a:spcBef>
              <a:spcAft>
                <a:spcPts val="0"/>
              </a:spcAft>
            </a:pPr>
            <a:r>
              <a:rPr sz="1800" b="0">
                <a:solidFill>
                  <a:srgbClr val="F3F6FA"/>
                </a:solidFill>
                <a:latin typeface="DejaVu Sans"/>
              </a:rPr>
              <a:t>Place the toy fully inside the case.</a:t>
            </a:r>
          </a:p>
        </p:txBody>
      </p:sp>
      <p:sp>
        <p:nvSpPr>
          <p:cNvPr id="31" name="S08_030"/>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32" name="S08_031"/>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08 / 10</a:t>
            </a:r>
          </a:p>
        </p:txBody>
      </p:sp>
      <p:sp>
        <p:nvSpPr>
          <p:cNvPr id="33" name="S08_032"/>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08_033"/>
          <p:cNvSpPr/>
          <p:nvPr/>
        </p:nvSpPr>
        <p:spPr>
          <a:xfrm>
            <a:off x="0" y="6807200"/>
            <a:ext cx="10003692"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16000"/>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09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REAL ROBOT — STACKING</a:t>
            </a:r>
          </a:p>
        </p:txBody>
      </p:sp>
      <p:sp>
        <p:nvSpPr>
          <p:cNvPr id="3" name="S09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REAL ROBOT</a:t>
            </a:r>
          </a:p>
        </p:txBody>
      </p:sp>
      <p:sp>
        <p:nvSpPr>
          <p:cNvPr id="4" name="S09_003"/>
          <p:cNvSpPr txBox="1"/>
          <p:nvPr/>
        </p:nvSpPr>
        <p:spPr>
          <a:xfrm>
            <a:off x="533400" y="787400"/>
            <a:ext cx="11125200" cy="1003300"/>
          </a:xfrm>
          <a:prstGeom prst="rect">
            <a:avLst/>
          </a:prstGeom>
          <a:noFill/>
        </p:spPr>
        <p:txBody>
          <a:bodyPr wrap="none" lIns="0" rIns="0" tIns="0" bIns="0" anchor="t">
            <a:spAutoFit/>
          </a:bodyPr>
          <a:lstStyle/>
          <a:p>
            <a:pPr algn="l">
              <a:lnSpc>
                <a:spcPts val="3626"/>
              </a:lnSpc>
              <a:spcBef>
                <a:spcPts val="0"/>
              </a:spcBef>
              <a:spcAft>
                <a:spcPts val="0"/>
              </a:spcAft>
            </a:pPr>
            <a:r>
              <a:rPr sz="3100" b="1">
                <a:solidFill>
                  <a:srgbClr val="F3F6FA"/>
                </a:solidFill>
                <a:latin typeface="DejaVu Sans"/>
              </a:rPr>
              <a:t>Preserve the approach. Improve the finish.</a:t>
            </a:r>
          </a:p>
        </p:txBody>
      </p:sp>
      <p:sp>
        <p:nvSpPr>
          <p:cNvPr id="5" name="MEDIA_V02_FRAME"/>
          <p:cNvSpPr/>
          <p:nvPr/>
        </p:nvSpPr>
        <p:spPr>
          <a:xfrm>
            <a:off x="533400" y="1917700"/>
            <a:ext cx="6883400" cy="3873500"/>
          </a:xfrm>
          <a:prstGeom prst="roundRect">
            <a:avLst>
              <a:gd name="adj" fmla="val 2622"/>
            </a:avLst>
          </a:prstGeom>
          <a:solidFill>
            <a:srgbClr val="16273B"/>
          </a:solidFill>
          <a:ln w="12700">
            <a:solidFill>
              <a:srgbClr val="3345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EDIA_V02_LABEL"/>
          <p:cNvSpPr txBox="1"/>
          <p:nvPr/>
        </p:nvSpPr>
        <p:spPr>
          <a:xfrm>
            <a:off x="736600" y="2070100"/>
            <a:ext cx="6477000" cy="2540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V02 / Autonomous stacking</a:t>
            </a:r>
          </a:p>
        </p:txBody>
      </p:sp>
      <p:sp>
        <p:nvSpPr>
          <p:cNvPr id="7" name="MEDIA_V02_STATUS"/>
          <p:cNvSpPr txBox="1"/>
          <p:nvPr/>
        </p:nvSpPr>
        <p:spPr>
          <a:xfrm>
            <a:off x="736600" y="5499100"/>
            <a:ext cx="6477000" cy="2032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STATIC PREVIEW · VIDEO RESERVED</a:t>
            </a:r>
          </a:p>
        </p:txBody>
      </p:sp>
      <p:pic>
        <p:nvPicPr>
          <p:cNvPr id="8" name="S09_007" descr="image.png"/>
          <p:cNvPicPr>
            <a:picLocks noChangeAspect="1"/>
          </p:cNvPicPr>
          <p:nvPr/>
        </p:nvPicPr>
        <p:blipFill>
          <a:blip r:embed="rId2"/>
          <a:stretch>
            <a:fillRect/>
          </a:stretch>
        </p:blipFill>
        <p:spPr>
          <a:xfrm>
            <a:off x="698500" y="2400300"/>
            <a:ext cx="6553200" cy="2959100"/>
          </a:xfrm>
          <a:prstGeom prst="rect">
            <a:avLst/>
          </a:prstGeom>
        </p:spPr>
      </p:pic>
      <p:sp>
        <p:nvSpPr>
          <p:cNvPr id="9" name="S09_008"/>
          <p:cNvSpPr/>
          <p:nvPr/>
        </p:nvSpPr>
        <p:spPr>
          <a:xfrm>
            <a:off x="825500" y="2514600"/>
            <a:ext cx="4737100" cy="368300"/>
          </a:xfrm>
          <a:prstGeom prst="rect">
            <a:avLst/>
          </a:prstGeom>
          <a:solidFill>
            <a:srgbClr val="0D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9_009"/>
          <p:cNvSpPr txBox="1"/>
          <p:nvPr/>
        </p:nvSpPr>
        <p:spPr>
          <a:xfrm>
            <a:off x="952500" y="2603500"/>
            <a:ext cx="4457700" cy="241300"/>
          </a:xfrm>
          <a:prstGeom prst="rect">
            <a:avLst/>
          </a:prstGeom>
          <a:noFill/>
        </p:spPr>
        <p:txBody>
          <a:bodyPr wrap="none" lIns="0" rIns="0" tIns="0" bIns="0" anchor="t">
            <a:spAutoFit/>
          </a:bodyPr>
          <a:lstStyle/>
          <a:p>
            <a:pPr algn="l">
              <a:lnSpc>
                <a:spcPts val="1404"/>
              </a:lnSpc>
              <a:spcBef>
                <a:spcPts val="0"/>
              </a:spcBef>
              <a:spcAft>
                <a:spcPts val="0"/>
              </a:spcAft>
            </a:pPr>
            <a:r>
              <a:rPr sz="1200" b="1">
                <a:solidFill>
                  <a:srgbClr val="F3F6FA"/>
                </a:solidFill>
                <a:latin typeface="DejaVu Sans"/>
              </a:rPr>
              <a:t>PLACEHOLDER · teleoperation still</a:t>
            </a:r>
          </a:p>
        </p:txBody>
      </p:sp>
      <p:sp>
        <p:nvSpPr>
          <p:cNvPr id="11" name="S09_010"/>
          <p:cNvSpPr txBox="1"/>
          <p:nvPr/>
        </p:nvSpPr>
        <p:spPr>
          <a:xfrm>
            <a:off x="7747000" y="1955800"/>
            <a:ext cx="3898900" cy="381000"/>
          </a:xfrm>
          <a:prstGeom prst="rect">
            <a:avLst/>
          </a:prstGeom>
          <a:noFill/>
        </p:spPr>
        <p:txBody>
          <a:bodyPr wrap="none" lIns="0" rIns="0" tIns="0" bIns="0" anchor="t">
            <a:spAutoFit/>
          </a:bodyPr>
          <a:lstStyle/>
          <a:p>
            <a:pPr algn="l">
              <a:lnSpc>
                <a:spcPts val="2222"/>
              </a:lnSpc>
              <a:spcBef>
                <a:spcPts val="0"/>
              </a:spcBef>
              <a:spcAft>
                <a:spcPts val="0"/>
              </a:spcAft>
            </a:pPr>
            <a:r>
              <a:rPr sz="1900" b="1">
                <a:solidFill>
                  <a:srgbClr val="F3F6FA"/>
                </a:solidFill>
                <a:latin typeface="DejaVu Sans"/>
              </a:rPr>
              <a:t>Autonomous success</a:t>
            </a:r>
          </a:p>
        </p:txBody>
      </p:sp>
      <p:sp>
        <p:nvSpPr>
          <p:cNvPr id="12" name="S09_011"/>
          <p:cNvSpPr txBox="1"/>
          <p:nvPr/>
        </p:nvSpPr>
        <p:spPr>
          <a:xfrm>
            <a:off x="7747000" y="2679700"/>
            <a:ext cx="8382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8D9BAC"/>
                </a:solidFill>
                <a:latin typeface="DejaVu Sans"/>
              </a:rPr>
              <a:t>Base</a:t>
            </a:r>
          </a:p>
        </p:txBody>
      </p:sp>
      <p:sp>
        <p:nvSpPr>
          <p:cNvPr id="13" name="S09_012"/>
          <p:cNvSpPr/>
          <p:nvPr/>
        </p:nvSpPr>
        <p:spPr>
          <a:xfrm>
            <a:off x="8661400" y="2641600"/>
            <a:ext cx="2463800" cy="304800"/>
          </a:xfrm>
          <a:prstGeom prst="rect">
            <a:avLst/>
          </a:prstGeom>
          <a:solidFill>
            <a:srgbClr val="102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09_013"/>
          <p:cNvSpPr/>
          <p:nvPr/>
        </p:nvSpPr>
        <p:spPr>
          <a:xfrm>
            <a:off x="8661400" y="2641600"/>
            <a:ext cx="862330" cy="304800"/>
          </a:xfrm>
          <a:prstGeom prst="rect">
            <a:avLst/>
          </a:prstGeom>
          <a:solidFill>
            <a:srgbClr val="8D9B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9_014"/>
          <p:cNvSpPr txBox="1"/>
          <p:nvPr/>
        </p:nvSpPr>
        <p:spPr>
          <a:xfrm>
            <a:off x="11239500" y="2679700"/>
            <a:ext cx="5334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8D9BAC"/>
                </a:solidFill>
                <a:latin typeface="DejaVu Sans"/>
              </a:rPr>
              <a:t>35%</a:t>
            </a:r>
          </a:p>
        </p:txBody>
      </p:sp>
      <p:sp>
        <p:nvSpPr>
          <p:cNvPr id="16" name="S09_015"/>
          <p:cNvSpPr txBox="1"/>
          <p:nvPr/>
        </p:nvSpPr>
        <p:spPr>
          <a:xfrm>
            <a:off x="7747000" y="3200400"/>
            <a:ext cx="8382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F0B360"/>
                </a:solidFill>
                <a:latin typeface="DejaVu Sans"/>
              </a:rPr>
              <a:t>BC</a:t>
            </a:r>
          </a:p>
        </p:txBody>
      </p:sp>
      <p:sp>
        <p:nvSpPr>
          <p:cNvPr id="17" name="S09_016"/>
          <p:cNvSpPr/>
          <p:nvPr/>
        </p:nvSpPr>
        <p:spPr>
          <a:xfrm>
            <a:off x="8661400" y="3162300"/>
            <a:ext cx="2463800" cy="304800"/>
          </a:xfrm>
          <a:prstGeom prst="rect">
            <a:avLst/>
          </a:prstGeom>
          <a:solidFill>
            <a:srgbClr val="102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09_017"/>
          <p:cNvSpPr/>
          <p:nvPr/>
        </p:nvSpPr>
        <p:spPr>
          <a:xfrm>
            <a:off x="8661400" y="3162300"/>
            <a:ext cx="1601470" cy="304800"/>
          </a:xfrm>
          <a:prstGeom prst="rect">
            <a:avLst/>
          </a:prstGeom>
          <a:solidFill>
            <a:srgbClr val="F0B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09_018"/>
          <p:cNvSpPr txBox="1"/>
          <p:nvPr/>
        </p:nvSpPr>
        <p:spPr>
          <a:xfrm>
            <a:off x="11239500" y="3200400"/>
            <a:ext cx="5334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F0B360"/>
                </a:solidFill>
                <a:latin typeface="DejaVu Sans"/>
              </a:rPr>
              <a:t>65%</a:t>
            </a:r>
          </a:p>
        </p:txBody>
      </p:sp>
      <p:sp>
        <p:nvSpPr>
          <p:cNvPr id="20" name="S09_019"/>
          <p:cNvSpPr txBox="1"/>
          <p:nvPr/>
        </p:nvSpPr>
        <p:spPr>
          <a:xfrm>
            <a:off x="7747000" y="3721100"/>
            <a:ext cx="8382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7FB0ED"/>
                </a:solidFill>
                <a:latin typeface="DejaVu Sans"/>
              </a:rPr>
              <a:t>DICE-RL</a:t>
            </a:r>
          </a:p>
        </p:txBody>
      </p:sp>
      <p:sp>
        <p:nvSpPr>
          <p:cNvPr id="21" name="S09_020"/>
          <p:cNvSpPr/>
          <p:nvPr/>
        </p:nvSpPr>
        <p:spPr>
          <a:xfrm>
            <a:off x="8661400" y="3683000"/>
            <a:ext cx="2463800" cy="304800"/>
          </a:xfrm>
          <a:prstGeom prst="rect">
            <a:avLst/>
          </a:prstGeom>
          <a:solidFill>
            <a:srgbClr val="102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09_021"/>
          <p:cNvSpPr/>
          <p:nvPr/>
        </p:nvSpPr>
        <p:spPr>
          <a:xfrm>
            <a:off x="8661400" y="3683000"/>
            <a:ext cx="1478280" cy="304800"/>
          </a:xfrm>
          <a:prstGeom prst="rect">
            <a:avLst/>
          </a:prstGeom>
          <a:solidFill>
            <a:srgbClr val="7FB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09_022"/>
          <p:cNvSpPr txBox="1"/>
          <p:nvPr/>
        </p:nvSpPr>
        <p:spPr>
          <a:xfrm>
            <a:off x="11239500" y="3721100"/>
            <a:ext cx="533400" cy="3048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7FB0ED"/>
                </a:solidFill>
                <a:latin typeface="DejaVu Sans"/>
              </a:rPr>
              <a:t>60%</a:t>
            </a:r>
          </a:p>
        </p:txBody>
      </p:sp>
      <p:sp>
        <p:nvSpPr>
          <p:cNvPr id="24" name="S09_023"/>
          <p:cNvSpPr txBox="1"/>
          <p:nvPr/>
        </p:nvSpPr>
        <p:spPr>
          <a:xfrm>
            <a:off x="7747000" y="4241800"/>
            <a:ext cx="838200" cy="304800"/>
          </a:xfrm>
          <a:prstGeom prst="rect">
            <a:avLst/>
          </a:prstGeom>
          <a:noFill/>
        </p:spPr>
        <p:txBody>
          <a:bodyPr wrap="none" lIns="0" rIns="0" tIns="0" bIns="0" anchor="t">
            <a:spAutoFit/>
          </a:bodyPr>
          <a:lstStyle/>
          <a:p>
            <a:pPr algn="l">
              <a:lnSpc>
                <a:spcPts val="1754"/>
              </a:lnSpc>
              <a:spcBef>
                <a:spcPts val="0"/>
              </a:spcBef>
              <a:spcAft>
                <a:spcPts val="0"/>
              </a:spcAft>
            </a:pPr>
            <a:r>
              <a:rPr sz="1500" b="1">
                <a:solidFill>
                  <a:srgbClr val="42D7B4"/>
                </a:solidFill>
                <a:latin typeface="DejaVu Sans"/>
              </a:rPr>
              <a:t>CAST</a:t>
            </a:r>
          </a:p>
        </p:txBody>
      </p:sp>
      <p:sp>
        <p:nvSpPr>
          <p:cNvPr id="25" name="S09_024"/>
          <p:cNvSpPr/>
          <p:nvPr/>
        </p:nvSpPr>
        <p:spPr>
          <a:xfrm>
            <a:off x="8661400" y="4203700"/>
            <a:ext cx="2463800" cy="304800"/>
          </a:xfrm>
          <a:prstGeom prst="rect">
            <a:avLst/>
          </a:prstGeom>
          <a:solidFill>
            <a:srgbClr val="1021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09_025"/>
          <p:cNvSpPr/>
          <p:nvPr/>
        </p:nvSpPr>
        <p:spPr>
          <a:xfrm>
            <a:off x="8661400" y="4203700"/>
            <a:ext cx="1724660" cy="304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09_026"/>
          <p:cNvSpPr txBox="1"/>
          <p:nvPr/>
        </p:nvSpPr>
        <p:spPr>
          <a:xfrm>
            <a:off x="11239500" y="4241800"/>
            <a:ext cx="533400" cy="304800"/>
          </a:xfrm>
          <a:prstGeom prst="rect">
            <a:avLst/>
          </a:prstGeom>
          <a:noFill/>
        </p:spPr>
        <p:txBody>
          <a:bodyPr wrap="none" lIns="0" rIns="0" tIns="0" bIns="0" anchor="t">
            <a:spAutoFit/>
          </a:bodyPr>
          <a:lstStyle/>
          <a:p>
            <a:pPr algn="l">
              <a:lnSpc>
                <a:spcPts val="1754"/>
              </a:lnSpc>
              <a:spcBef>
                <a:spcPts val="0"/>
              </a:spcBef>
              <a:spcAft>
                <a:spcPts val="0"/>
              </a:spcAft>
            </a:pPr>
            <a:r>
              <a:rPr sz="1500" b="1">
                <a:solidFill>
                  <a:srgbClr val="42D7B4"/>
                </a:solidFill>
                <a:latin typeface="DejaVu Sans"/>
              </a:rPr>
              <a:t>70%</a:t>
            </a:r>
          </a:p>
        </p:txBody>
      </p:sp>
      <p:sp>
        <p:nvSpPr>
          <p:cNvPr id="28" name="S09_027"/>
          <p:cNvSpPr txBox="1"/>
          <p:nvPr/>
        </p:nvSpPr>
        <p:spPr>
          <a:xfrm>
            <a:off x="7759700" y="5054600"/>
            <a:ext cx="3784600" cy="482600"/>
          </a:xfrm>
          <a:prstGeom prst="rect">
            <a:avLst/>
          </a:prstGeom>
          <a:noFill/>
        </p:spPr>
        <p:txBody>
          <a:bodyPr wrap="none" lIns="0" rIns="0" tIns="0" bIns="0" anchor="t">
            <a:spAutoFit/>
          </a:bodyPr>
          <a:lstStyle/>
          <a:p>
            <a:pPr algn="l">
              <a:lnSpc>
                <a:spcPts val="2340"/>
              </a:lnSpc>
              <a:spcBef>
                <a:spcPts val="0"/>
              </a:spcBef>
              <a:spcAft>
                <a:spcPts val="0"/>
              </a:spcAft>
            </a:pPr>
            <a:r>
              <a:rPr sz="2000" b="1">
                <a:solidFill>
                  <a:srgbClr val="42D7B4"/>
                </a:solidFill>
                <a:latin typeface="DejaVu Sans"/>
              </a:rPr>
              <a:t>+35 percentage points</a:t>
            </a:r>
          </a:p>
        </p:txBody>
      </p:sp>
      <p:sp>
        <p:nvSpPr>
          <p:cNvPr id="29" name="S09_028"/>
          <p:cNvSpPr txBox="1"/>
          <p:nvPr/>
        </p:nvSpPr>
        <p:spPr>
          <a:xfrm>
            <a:off x="7772400" y="5537200"/>
            <a:ext cx="3759200" cy="292100"/>
          </a:xfrm>
          <a:prstGeom prst="rect">
            <a:avLst/>
          </a:prstGeom>
          <a:noFill/>
        </p:spPr>
        <p:txBody>
          <a:bodyPr wrap="none" lIns="0" rIns="0" tIns="0" bIns="0" anchor="t">
            <a:spAutoFit/>
          </a:bodyPr>
          <a:lstStyle/>
          <a:p>
            <a:pPr algn="l">
              <a:lnSpc>
                <a:spcPts val="1754"/>
              </a:lnSpc>
              <a:spcBef>
                <a:spcPts val="0"/>
              </a:spcBef>
              <a:spcAft>
                <a:spcPts val="0"/>
              </a:spcAft>
            </a:pPr>
            <a:r>
              <a:rPr sz="1500" b="0">
                <a:solidFill>
                  <a:srgbClr val="AFBDD0"/>
                </a:solidFill>
                <a:latin typeface="DejaVu Sans"/>
              </a:rPr>
              <a:t>over the pretrained base</a:t>
            </a:r>
          </a:p>
        </p:txBody>
      </p:sp>
      <p:sp>
        <p:nvSpPr>
          <p:cNvPr id="30" name="S09_029"/>
          <p:cNvSpPr txBox="1"/>
          <p:nvPr/>
        </p:nvSpPr>
        <p:spPr>
          <a:xfrm>
            <a:off x="558800" y="6045200"/>
            <a:ext cx="11061700" cy="355600"/>
          </a:xfrm>
          <a:prstGeom prst="rect">
            <a:avLst/>
          </a:prstGeom>
          <a:noFill/>
        </p:spPr>
        <p:txBody>
          <a:bodyPr wrap="none" lIns="0" rIns="0" tIns="0" bIns="0" anchor="t">
            <a:spAutoFit/>
          </a:bodyPr>
          <a:lstStyle/>
          <a:p>
            <a:pPr algn="ctr">
              <a:lnSpc>
                <a:spcPts val="2106"/>
              </a:lnSpc>
              <a:spcBef>
                <a:spcPts val="0"/>
              </a:spcBef>
              <a:spcAft>
                <a:spcPts val="0"/>
              </a:spcAft>
            </a:pPr>
            <a:r>
              <a:rPr sz="1800" b="0">
                <a:solidFill>
                  <a:srgbClr val="F3F6FA"/>
                </a:solidFill>
                <a:latin typeface="DejaVu Sans"/>
              </a:rPr>
              <a:t>A failed release does not make every earlier action wrong.</a:t>
            </a:r>
          </a:p>
        </p:txBody>
      </p:sp>
      <p:sp>
        <p:nvSpPr>
          <p:cNvPr id="31" name="S09_030"/>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32" name="S09_031"/>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09 / 10</a:t>
            </a:r>
          </a:p>
        </p:txBody>
      </p:sp>
      <p:sp>
        <p:nvSpPr>
          <p:cNvPr id="33" name="S09_032"/>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09_033"/>
          <p:cNvSpPr/>
          <p:nvPr/>
        </p:nvSpPr>
        <p:spPr>
          <a:xfrm>
            <a:off x="0" y="6807200"/>
            <a:ext cx="11566769"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20000"/>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827"/>
        </a:solidFill>
        <a:effectLst/>
      </p:bgPr>
    </p:bg>
    <p:spTree>
      <p:nvGrpSpPr>
        <p:cNvPr id="1" name=""/>
        <p:cNvGrpSpPr/>
        <p:nvPr/>
      </p:nvGrpSpPr>
      <p:grpSpPr/>
      <p:sp>
        <p:nvSpPr>
          <p:cNvPr id="2" name="S10_001"/>
          <p:cNvSpPr txBox="1"/>
          <p:nvPr/>
        </p:nvSpPr>
        <p:spPr>
          <a:xfrm>
            <a:off x="533400" y="304800"/>
            <a:ext cx="8509000" cy="228600"/>
          </a:xfrm>
          <a:prstGeom prst="rect">
            <a:avLst/>
          </a:prstGeom>
          <a:noFill/>
        </p:spPr>
        <p:txBody>
          <a:bodyPr wrap="none" lIns="0" rIns="0" tIns="0" bIns="0" anchor="t">
            <a:spAutoFit/>
          </a:bodyPr>
          <a:lstStyle/>
          <a:p>
            <a:pPr algn="l">
              <a:lnSpc>
                <a:spcPts val="1287"/>
              </a:lnSpc>
              <a:spcBef>
                <a:spcPts val="0"/>
              </a:spcBef>
              <a:spcAft>
                <a:spcPts val="0"/>
              </a:spcAft>
            </a:pPr>
            <a:r>
              <a:rPr sz="1100" b="1">
                <a:solidFill>
                  <a:srgbClr val="42D7B4"/>
                </a:solidFill>
                <a:latin typeface="DejaVu Sans"/>
              </a:rPr>
              <a:t>TAKEAWAY</a:t>
            </a:r>
          </a:p>
        </p:txBody>
      </p:sp>
      <p:sp>
        <p:nvSpPr>
          <p:cNvPr id="3" name="S10_002"/>
          <p:cNvSpPr txBox="1"/>
          <p:nvPr/>
        </p:nvSpPr>
        <p:spPr>
          <a:xfrm>
            <a:off x="9499600" y="304800"/>
            <a:ext cx="2159000" cy="228600"/>
          </a:xfrm>
          <a:prstGeom prst="rect">
            <a:avLst/>
          </a:prstGeom>
          <a:noFill/>
        </p:spPr>
        <p:txBody>
          <a:bodyPr wrap="none" lIns="0" rIns="0" tIns="0" bIns="0" anchor="t">
            <a:spAutoFit/>
          </a:bodyPr>
          <a:lstStyle/>
          <a:p>
            <a:pPr algn="r">
              <a:lnSpc>
                <a:spcPts val="1170"/>
              </a:lnSpc>
              <a:spcBef>
                <a:spcPts val="0"/>
              </a:spcBef>
              <a:spcAft>
                <a:spcPts val="0"/>
              </a:spcAft>
            </a:pPr>
            <a:r>
              <a:rPr sz="1000" b="0">
                <a:solidFill>
                  <a:srgbClr val="AFBDD0"/>
                </a:solidFill>
                <a:latin typeface="DejaVu Sans"/>
              </a:rPr>
              <a:t>REAL ROBOT</a:t>
            </a:r>
          </a:p>
        </p:txBody>
      </p:sp>
      <p:sp>
        <p:nvSpPr>
          <p:cNvPr id="4" name="S10_003"/>
          <p:cNvSpPr txBox="1"/>
          <p:nvPr/>
        </p:nvSpPr>
        <p:spPr>
          <a:xfrm>
            <a:off x="546100" y="1308100"/>
            <a:ext cx="11061700" cy="1803400"/>
          </a:xfrm>
          <a:prstGeom prst="rect">
            <a:avLst/>
          </a:prstGeom>
          <a:noFill/>
        </p:spPr>
        <p:txBody>
          <a:bodyPr wrap="none" lIns="0" rIns="0" tIns="0" bIns="0" anchor="t">
            <a:spAutoFit/>
          </a:bodyPr>
          <a:lstStyle/>
          <a:p>
            <a:pPr algn="l">
              <a:lnSpc>
                <a:spcPts val="5030"/>
              </a:lnSpc>
              <a:spcBef>
                <a:spcPts val="0"/>
              </a:spcBef>
              <a:spcAft>
                <a:spcPts val="0"/>
              </a:spcAft>
            </a:pPr>
            <a:r>
              <a:rPr sz="4300" b="1">
                <a:solidFill>
                  <a:srgbClr val="F3F6FA"/>
                </a:solidFill>
                <a:latin typeface="DejaVu Sans"/>
              </a:rPr>
              <a:t>Improve the skill.</a:t>
            </a:r>
          </a:p>
          <a:p>
            <a:pPr algn="l">
              <a:lnSpc>
                <a:spcPts val="5030"/>
              </a:lnSpc>
              <a:spcBef>
                <a:spcPts val="0"/>
              </a:spcBef>
              <a:spcAft>
                <a:spcPts val="0"/>
              </a:spcAft>
            </a:pPr>
            <a:r>
              <a:rPr sz="4300" b="1">
                <a:solidFill>
                  <a:srgbClr val="F3F6FA"/>
                </a:solidFill>
                <a:latin typeface="DejaVu Sans"/>
              </a:rPr>
              <a:t>Keep a persistent reference.</a:t>
            </a:r>
          </a:p>
        </p:txBody>
      </p:sp>
      <p:sp>
        <p:nvSpPr>
          <p:cNvPr id="5" name="S10_004"/>
          <p:cNvSpPr/>
          <p:nvPr/>
        </p:nvSpPr>
        <p:spPr>
          <a:xfrm>
            <a:off x="546100" y="3911600"/>
            <a:ext cx="3479800" cy="1384300"/>
          </a:xfrm>
          <a:prstGeom prst="roundRect">
            <a:avLst>
              <a:gd name="adj" fmla="val 7339"/>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10_005"/>
          <p:cNvSpPr txBox="1"/>
          <p:nvPr/>
        </p:nvSpPr>
        <p:spPr>
          <a:xfrm>
            <a:off x="762000" y="4140200"/>
            <a:ext cx="3048000" cy="660400"/>
          </a:xfrm>
          <a:prstGeom prst="rect">
            <a:avLst/>
          </a:prstGeom>
          <a:noFill/>
        </p:spPr>
        <p:txBody>
          <a:bodyPr wrap="none" lIns="0" rIns="0" tIns="0" bIns="0" anchor="t">
            <a:spAutoFit/>
          </a:bodyPr>
          <a:lstStyle/>
          <a:p>
            <a:pPr algn="l">
              <a:lnSpc>
                <a:spcPts val="2457"/>
              </a:lnSpc>
              <a:spcBef>
                <a:spcPts val="0"/>
              </a:spcBef>
              <a:spcAft>
                <a:spcPts val="0"/>
              </a:spcAft>
            </a:pPr>
            <a:r>
              <a:rPr sz="2100" b="1">
                <a:solidFill>
                  <a:srgbClr val="F0B360"/>
                </a:solidFill>
                <a:latin typeface="DejaVu Sans"/>
              </a:rPr>
              <a:t>Critic guidance</a:t>
            </a:r>
          </a:p>
        </p:txBody>
      </p:sp>
      <p:sp>
        <p:nvSpPr>
          <p:cNvPr id="7" name="S10_006"/>
          <p:cNvSpPr txBox="1"/>
          <p:nvPr/>
        </p:nvSpPr>
        <p:spPr>
          <a:xfrm>
            <a:off x="762000" y="4927600"/>
            <a:ext cx="3048000" cy="279400"/>
          </a:xfrm>
          <a:prstGeom prst="rect">
            <a:avLst/>
          </a:prstGeom>
          <a:noFill/>
        </p:spPr>
        <p:txBody>
          <a:bodyPr wrap="none" lIns="0" rIns="0" tIns="0" bIns="0" anchor="t">
            <a:spAutoFit/>
          </a:bodyPr>
          <a:lstStyle/>
          <a:p>
            <a:pPr algn="l">
              <a:lnSpc>
                <a:spcPts val="1638"/>
              </a:lnSpc>
              <a:spcBef>
                <a:spcPts val="0"/>
              </a:spcBef>
              <a:spcAft>
                <a:spcPts val="0"/>
              </a:spcAft>
            </a:pPr>
            <a:r>
              <a:rPr sz="1400" b="0">
                <a:solidFill>
                  <a:srgbClr val="AFBDD0"/>
                </a:solidFill>
                <a:latin typeface="DejaVu Sans"/>
              </a:rPr>
              <a:t>Propose an improvement</a:t>
            </a:r>
          </a:p>
        </p:txBody>
      </p:sp>
      <p:sp>
        <p:nvSpPr>
          <p:cNvPr id="8" name="S10_007"/>
          <p:cNvSpPr/>
          <p:nvPr/>
        </p:nvSpPr>
        <p:spPr>
          <a:xfrm>
            <a:off x="4356100" y="3911600"/>
            <a:ext cx="3479800" cy="1384300"/>
          </a:xfrm>
          <a:prstGeom prst="roundRect">
            <a:avLst>
              <a:gd name="adj" fmla="val 7339"/>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0_008"/>
          <p:cNvSpPr txBox="1"/>
          <p:nvPr/>
        </p:nvSpPr>
        <p:spPr>
          <a:xfrm>
            <a:off x="4572000" y="4140200"/>
            <a:ext cx="3048000" cy="660400"/>
          </a:xfrm>
          <a:prstGeom prst="rect">
            <a:avLst/>
          </a:prstGeom>
          <a:noFill/>
        </p:spPr>
        <p:txBody>
          <a:bodyPr wrap="none" lIns="0" rIns="0" tIns="0" bIns="0" anchor="t">
            <a:spAutoFit/>
          </a:bodyPr>
          <a:lstStyle/>
          <a:p>
            <a:pPr algn="l">
              <a:lnSpc>
                <a:spcPts val="2457"/>
              </a:lnSpc>
              <a:spcBef>
                <a:spcPts val="0"/>
              </a:spcBef>
              <a:spcAft>
                <a:spcPts val="0"/>
              </a:spcAft>
            </a:pPr>
            <a:r>
              <a:rPr sz="2100" b="1">
                <a:solidFill>
                  <a:srgbClr val="42D7B4"/>
                </a:solidFill>
                <a:latin typeface="DejaVu Sans"/>
              </a:rPr>
              <a:t>Soft restoration</a:t>
            </a:r>
          </a:p>
        </p:txBody>
      </p:sp>
      <p:sp>
        <p:nvSpPr>
          <p:cNvPr id="10" name="S10_009"/>
          <p:cNvSpPr txBox="1"/>
          <p:nvPr/>
        </p:nvSpPr>
        <p:spPr>
          <a:xfrm>
            <a:off x="4572000" y="4927600"/>
            <a:ext cx="3048000" cy="279400"/>
          </a:xfrm>
          <a:prstGeom prst="rect">
            <a:avLst/>
          </a:prstGeom>
          <a:noFill/>
        </p:spPr>
        <p:txBody>
          <a:bodyPr wrap="none" lIns="0" rIns="0" tIns="0" bIns="0" anchor="t">
            <a:spAutoFit/>
          </a:bodyPr>
          <a:lstStyle/>
          <a:p>
            <a:pPr algn="l">
              <a:lnSpc>
                <a:spcPts val="1638"/>
              </a:lnSpc>
              <a:spcBef>
                <a:spcPts val="0"/>
              </a:spcBef>
              <a:spcAft>
                <a:spcPts val="0"/>
              </a:spcAft>
            </a:pPr>
            <a:r>
              <a:rPr sz="1400" b="0">
                <a:solidFill>
                  <a:srgbClr val="AFBDD0"/>
                </a:solidFill>
                <a:latin typeface="DejaVu Sans"/>
              </a:rPr>
              <a:t>Retain a base reference</a:t>
            </a:r>
          </a:p>
        </p:txBody>
      </p:sp>
      <p:sp>
        <p:nvSpPr>
          <p:cNvPr id="11" name="S10_010"/>
          <p:cNvSpPr/>
          <p:nvPr/>
        </p:nvSpPr>
        <p:spPr>
          <a:xfrm>
            <a:off x="8166100" y="3911600"/>
            <a:ext cx="3479800" cy="1384300"/>
          </a:xfrm>
          <a:prstGeom prst="roundRect">
            <a:avLst>
              <a:gd name="adj" fmla="val 7339"/>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10_011"/>
          <p:cNvSpPr txBox="1"/>
          <p:nvPr/>
        </p:nvSpPr>
        <p:spPr>
          <a:xfrm>
            <a:off x="8382000" y="4140200"/>
            <a:ext cx="3048000" cy="660400"/>
          </a:xfrm>
          <a:prstGeom prst="rect">
            <a:avLst/>
          </a:prstGeom>
          <a:noFill/>
        </p:spPr>
        <p:txBody>
          <a:bodyPr wrap="none" lIns="0" rIns="0" tIns="0" bIns="0" anchor="t">
            <a:spAutoFit/>
          </a:bodyPr>
          <a:lstStyle/>
          <a:p>
            <a:pPr algn="l">
              <a:lnSpc>
                <a:spcPts val="2457"/>
              </a:lnSpc>
              <a:spcBef>
                <a:spcPts val="0"/>
              </a:spcBef>
              <a:spcAft>
                <a:spcPts val="0"/>
              </a:spcAft>
            </a:pPr>
            <a:r>
              <a:rPr sz="2100" b="1">
                <a:solidFill>
                  <a:srgbClr val="7FB0ED"/>
                </a:solidFill>
                <a:latin typeface="DejaVu Sans"/>
              </a:rPr>
              <a:t>Bounded target</a:t>
            </a:r>
          </a:p>
          <a:p>
            <a:pPr algn="l">
              <a:lnSpc>
                <a:spcPts val="2457"/>
              </a:lnSpc>
              <a:spcBef>
                <a:spcPts val="0"/>
              </a:spcBef>
              <a:spcAft>
                <a:spcPts val="0"/>
              </a:spcAft>
            </a:pPr>
            <a:r>
              <a:rPr sz="2100" b="1">
                <a:solidFill>
                  <a:srgbClr val="7FB0ED"/>
                </a:solidFill>
                <a:latin typeface="DejaVu Sans"/>
              </a:rPr>
              <a:t>steps</a:t>
            </a:r>
          </a:p>
        </p:txBody>
      </p:sp>
      <p:sp>
        <p:nvSpPr>
          <p:cNvPr id="13" name="S10_012"/>
          <p:cNvSpPr txBox="1"/>
          <p:nvPr/>
        </p:nvSpPr>
        <p:spPr>
          <a:xfrm>
            <a:off x="8382000" y="4927600"/>
            <a:ext cx="3048000" cy="279400"/>
          </a:xfrm>
          <a:prstGeom prst="rect">
            <a:avLst/>
          </a:prstGeom>
          <a:noFill/>
        </p:spPr>
        <p:txBody>
          <a:bodyPr wrap="none" lIns="0" rIns="0" tIns="0" bIns="0" anchor="t">
            <a:spAutoFit/>
          </a:bodyPr>
          <a:lstStyle/>
          <a:p>
            <a:pPr algn="l">
              <a:lnSpc>
                <a:spcPts val="1638"/>
              </a:lnSpc>
              <a:spcBef>
                <a:spcPts val="0"/>
              </a:spcBef>
              <a:spcAft>
                <a:spcPts val="0"/>
              </a:spcAft>
            </a:pPr>
            <a:r>
              <a:rPr sz="1400" b="0">
                <a:solidFill>
                  <a:srgbClr val="AFBDD0"/>
                </a:solidFill>
                <a:latin typeface="DejaVu Sans"/>
              </a:rPr>
              <a:t>Moderate each correction</a:t>
            </a:r>
          </a:p>
        </p:txBody>
      </p:sp>
      <p:sp>
        <p:nvSpPr>
          <p:cNvPr id="14" name="S10_013"/>
          <p:cNvSpPr txBox="1"/>
          <p:nvPr/>
        </p:nvSpPr>
        <p:spPr>
          <a:xfrm>
            <a:off x="558800" y="5905500"/>
            <a:ext cx="11074400" cy="330200"/>
          </a:xfrm>
          <a:prstGeom prst="rect">
            <a:avLst/>
          </a:prstGeom>
          <a:noFill/>
        </p:spPr>
        <p:txBody>
          <a:bodyPr wrap="none" lIns="0" rIns="0" tIns="0" bIns="0" anchor="t">
            <a:spAutoFit/>
          </a:bodyPr>
          <a:lstStyle/>
          <a:p>
            <a:pPr algn="l">
              <a:lnSpc>
                <a:spcPts val="2340"/>
              </a:lnSpc>
              <a:spcBef>
                <a:spcPts val="0"/>
              </a:spcBef>
              <a:spcAft>
                <a:spcPts val="0"/>
              </a:spcAft>
            </a:pPr>
            <a:r>
              <a:rPr sz="2000" b="0">
                <a:solidFill>
                  <a:srgbClr val="42D7B4"/>
                </a:solidFill>
                <a:latin typeface="DejaVu Sans"/>
              </a:rPr>
              <a:t>cast2027.github.io</a:t>
            </a:r>
          </a:p>
        </p:txBody>
      </p:sp>
      <p:sp>
        <p:nvSpPr>
          <p:cNvPr id="15" name="S10_014"/>
          <p:cNvSpPr txBox="1"/>
          <p:nvPr/>
        </p:nvSpPr>
        <p:spPr>
          <a:xfrm>
            <a:off x="533400" y="6502400"/>
            <a:ext cx="9652000" cy="190500"/>
          </a:xfrm>
          <a:prstGeom prst="rect">
            <a:avLst/>
          </a:prstGeom>
          <a:noFill/>
        </p:spPr>
        <p:txBody>
          <a:bodyPr wrap="none" lIns="0" rIns="0" tIns="0" bIns="0" anchor="t">
            <a:spAutoFit/>
          </a:bodyPr>
          <a:lstStyle/>
          <a:p>
            <a:pPr algn="l">
              <a:lnSpc>
                <a:spcPts val="1053"/>
              </a:lnSpc>
              <a:spcBef>
                <a:spcPts val="0"/>
              </a:spcBef>
              <a:spcAft>
                <a:spcPts val="0"/>
              </a:spcAft>
            </a:pPr>
            <a:r>
              <a:rPr sz="900" b="0">
                <a:solidFill>
                  <a:srgbClr val="AFBDD0"/>
                </a:solidFill>
                <a:latin typeface="DejaVu Sans"/>
              </a:rPr>
              <a:t>CAST / ICRA 2027 supplementary video</a:t>
            </a:r>
          </a:p>
        </p:txBody>
      </p:sp>
      <p:sp>
        <p:nvSpPr>
          <p:cNvPr id="16" name="S10_015"/>
          <p:cNvSpPr txBox="1"/>
          <p:nvPr/>
        </p:nvSpPr>
        <p:spPr>
          <a:xfrm>
            <a:off x="10896600" y="6502400"/>
            <a:ext cx="762000" cy="190500"/>
          </a:xfrm>
          <a:prstGeom prst="rect">
            <a:avLst/>
          </a:prstGeom>
          <a:noFill/>
        </p:spPr>
        <p:txBody>
          <a:bodyPr wrap="none" lIns="0" rIns="0" tIns="0" bIns="0" anchor="t">
            <a:spAutoFit/>
          </a:bodyPr>
          <a:lstStyle/>
          <a:p>
            <a:pPr algn="r">
              <a:lnSpc>
                <a:spcPts val="1053"/>
              </a:lnSpc>
              <a:spcBef>
                <a:spcPts val="0"/>
              </a:spcBef>
              <a:spcAft>
                <a:spcPts val="0"/>
              </a:spcAft>
            </a:pPr>
            <a:r>
              <a:rPr sz="900" b="0">
                <a:solidFill>
                  <a:srgbClr val="AFBDD0"/>
                </a:solidFill>
                <a:latin typeface="DejaVu Sans"/>
              </a:rPr>
              <a:t>10 / 10</a:t>
            </a:r>
          </a:p>
        </p:txBody>
      </p:sp>
      <p:sp>
        <p:nvSpPr>
          <p:cNvPr id="17" name="S10_016"/>
          <p:cNvSpPr/>
          <p:nvPr/>
        </p:nvSpPr>
        <p:spPr>
          <a:xfrm>
            <a:off x="0" y="6807200"/>
            <a:ext cx="12192000" cy="50800"/>
          </a:xfrm>
          <a:prstGeom prst="rect">
            <a:avLst/>
          </a:prstGeom>
          <a:solidFill>
            <a:srgbClr val="162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10_017"/>
          <p:cNvSpPr/>
          <p:nvPr/>
        </p:nvSpPr>
        <p:spPr>
          <a:xfrm>
            <a:off x="0" y="6807200"/>
            <a:ext cx="12192000" cy="50800"/>
          </a:xfrm>
          <a:prstGeom prst="rect">
            <a:avLst/>
          </a:prstGeom>
          <a:solidFill>
            <a:srgbClr val="42D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advTm="8000"/>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CAST — Anchoring Critic-Guided Fine-Tuning of Generative Robot Policies</dc:title>
  <dc:subject>Three-minute ICRA supplementary-video storyboard</dc:subject>
  <dc:creator>CAST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