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00:00–00:10 | 10 seconds</a:t>
            </a:r>
          </a:p>
          <a:p/>
          <a:p>
            <a:r>
              <a:t>NARRATION</a:t>
            </a:r>
          </a:p>
          <a:p>
            <a:r>
              <a:t>A robot can position an object correctly, yet fail at release. CAST improves the skill while preserving behavior that already works.</a:t>
            </a:r>
          </a:p>
          <a:p/>
          <a:p>
            <a:r>
              <a:t>VISUAL CUES</a:t>
            </a:r>
          </a:p>
          <a:p>
            <a:r>
              <a:t>Static slide; no animation required.</a:t>
            </a:r>
          </a:p>
          <a:p/>
          <a:p>
            <a:r>
              <a:t>SOURCES</a:t>
            </a:r>
          </a:p>
          <a:p>
            <a:r>
              <a:t>_ICRA_2027__CAST/sections/01_introduction.tex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00:10–00:30 | 20 seconds</a:t>
            </a:r>
          </a:p>
          <a:p/>
          <a:p>
            <a:r>
              <a:t>NARRATION</a:t>
            </a:r>
          </a:p>
          <a:p>
            <a:r>
              <a:t>A critic predicts which actions are valuable. Here, its predictions favor actions far from the useful region. Watch the action distributions shift during optimization. Clipping keeps each correction small, but repeated corrections still drift. CAST restores toward the frozen base while allowing a useful adjustment. This is an illustrative toy example.</a:t>
            </a:r>
          </a:p>
          <a:p/>
          <a:p>
            <a:r>
              <a:t>VISUAL CUES</a:t>
            </a:r>
          </a:p>
          <a:p>
            <a:r>
              <a:t>A01: Animate matched synthetic actions with clipping alone versus the exact CAST restoration and caps. Same base, critic, and step cap.</a:t>
            </a:r>
          </a:p>
          <a:p/>
          <a:p>
            <a:r>
              <a:t>SOURCES</a:t>
            </a:r>
          </a:p>
          <a:p>
            <a:r>
              <a:t>_ICRA_2027__CAST/sections/03_problem_statement.tex</a:t>
            </a:r>
          </a:p>
          <a:p>
            <a:r>
              <a:t>_ICRA_2027__CAST/sections/04_analysis.tex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00:30–00:45 | 15 seconds</a:t>
            </a:r>
          </a:p>
          <a:p/>
          <a:p>
            <a:r>
              <a:t>NARRATION</a:t>
            </a:r>
          </a:p>
          <a:p>
            <a:r>
              <a:t>We freeze the generative policy and learn an additive residual. The same observation and noise pair each current action with its base action, giving corrections a consistent reference without policy likelihoods.</a:t>
            </a:r>
          </a:p>
          <a:p/>
          <a:p>
            <a:r>
              <a:t>VISUAL CUES</a:t>
            </a:r>
          </a:p>
          <a:p>
            <a:r>
              <a:t>A02: Reveal base actions and learned residual arrows for the same noise samples. Keep the base fixed.</a:t>
            </a:r>
          </a:p>
          <a:p/>
          <a:p>
            <a:r>
              <a:t>SOURCES</a:t>
            </a:r>
          </a:p>
          <a:p>
            <a:r>
              <a:t>_ICRA_2027__CAST/sections/03_problem_statement.tex</a:t>
            </a:r>
          </a:p>
          <a:p>
            <a:r>
              <a:t>_ICRA_2027__CAST/sections/04_method.tex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00:45–01:10 | 25 seconds</a:t>
            </a:r>
          </a:p>
          <a:p/>
          <a:p>
            <a:r>
              <a:t>NARRATION</a:t>
            </a:r>
          </a:p>
          <a:p>
            <a:r>
              <a:t>First, the critic proposes an improvement. We normalize and cap its gradient, then scale the proposal. A weak pull always points toward the paired base action. Beyond a soft reference radius, an additional radial pull becomes active. We add these fields and cap the final step from the current action. The resulting target teaches the residual policy.</a:t>
            </a:r>
          </a:p>
          <a:p/>
          <a:p>
            <a:r>
              <a:t>VISUAL CUES</a:t>
            </a:r>
          </a:p>
          <a:p>
            <a:r>
              <a:t>A03: Animate the normalized critic proposal, paired weak/radial restoration, and combined displacement cap. Restoration is evaluated at the current action.</a:t>
            </a:r>
          </a:p>
          <a:p/>
          <a:p>
            <a:r>
              <a:t>SOURCES</a:t>
            </a:r>
          </a:p>
          <a:p>
            <a:r>
              <a:t>_ICRA_2027__CAST/sections/04_method.tex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01:10–01:32 | 22 seconds</a:t>
            </a:r>
          </a:p>
          <a:p/>
          <a:p>
            <a:r>
              <a:t>NARRATION</a:t>
            </a:r>
          </a:p>
          <a:p>
            <a:r>
              <a:t>The squares are fixed targets. The white actor learns to match them by regression; its fitting error decreases. Then we construct new targets and repeat. Restoration corresponds to a penalty on departure from the base. With clipping inactive, the first regression gradient follows regularized critic optimization. The reference stays soft, leaving room to improve.</a:t>
            </a:r>
          </a:p>
          <a:p/>
          <a:p>
            <a:r>
              <a:t>VISUAL CUES</a:t>
            </a:r>
          </a:p>
          <a:p>
            <a:r>
              <a:t>A04: Show fixed targets during regression; move the actor toward them, then recompute. Illustrate the soft restoration potential without claiming a hard policy-output bound.</a:t>
            </a:r>
          </a:p>
          <a:p/>
          <a:p>
            <a:r>
              <a:t>SOURCES</a:t>
            </a:r>
          </a:p>
          <a:p>
            <a:r>
              <a:t>_ICRA_2027__CAST/sections/04_method.tex</a:t>
            </a:r>
          </a:p>
          <a:p>
            <a:r>
              <a:t>_ICRA_2027__CAST/sections/04_analysis.tex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01:32–02:00 | 28 seconds</a:t>
            </a:r>
          </a:p>
          <a:p/>
          <a:p>
            <a:r>
              <a:t>NARRATION</a:t>
            </a:r>
          </a:p>
          <a:p>
            <a:r>
              <a:t>On robomimic square, CAST reaches ninety percent success with thirty-eight percent fewer environment steps than DICE-RL, while final success is similar. In a separate five-task LIBERO study, both updates without restoration lose all task success, including clipping alone. Full CAST improves every task over its base, although radial restoration alone is better on two tasks.</a:t>
            </a:r>
          </a:p>
          <a:p/>
          <a:p>
            <a:r>
              <a:t>VISUAL CUES</a:t>
            </a:r>
          </a:p>
          <a:p>
            <a:r>
              <a:t>A05: Animate equal-status bars for the base and four component configurations using the five-task mean success from the submitted paper. This is an aggregate comparison, not a learning curve.</a:t>
            </a:r>
          </a:p>
          <a:p/>
          <a:p>
            <a:r>
              <a:t>SOURCES</a:t>
            </a:r>
          </a:p>
          <a:p>
            <a:r>
              <a:t>_ICRA_2027__CAST/sections/05_experiments.tex</a:t>
            </a:r>
          </a:p>
          <a:p>
            <a:r>
              <a:t>_ICRA_2027__CAST/sections/tables/05_ablations.tex</a:t>
            </a:r>
          </a:p>
          <a:p>
            <a:r>
              <a:t>_ICRA_2027__CAST/figures/experiment_chart_data.json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02:00–02:16 | 16 seconds</a:t>
            </a:r>
          </a:p>
          <a:p/>
          <a:p>
            <a:r>
              <a:t>NARRATION</a:t>
            </a:r>
          </a:p>
          <a:p>
            <a:r>
              <a:t>We evaluate OpenArm with chest and wrist cameras, joint state, and a parallel gripper. A flow-matching policy predicts action chunks. Refinement trains offline on recorded successes and failures, then we evaluate placement and stacking autonomously on a staircase scene.</a:t>
            </a:r>
          </a:p>
          <a:p/>
          <a:p>
            <a:r>
              <a:t>VISUAL CUES</a:t>
            </a:r>
          </a:p>
          <a:p>
            <a:r>
              <a:t>Static slide; no animation required.</a:t>
            </a:r>
          </a:p>
          <a:p/>
          <a:p>
            <a:r>
              <a:t>SOURCES</a:t>
            </a:r>
          </a:p>
          <a:p>
            <a:r>
              <a:t>_ICRA_2027__CAST/sections/05_real_robot.tex</a:t>
            </a:r>
          </a:p>
          <a:p>
            <a:r>
              <a:t>_ICRA_2027__CAST/sections/05_experimental_supplement.tex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02:16–02:32 | 16 seconds</a:t>
            </a:r>
          </a:p>
          <a:p/>
          <a:p>
            <a:r>
              <a:t>NARRATION</a:t>
            </a:r>
          </a:p>
          <a:p>
            <a:r>
              <a:t>Placement requires putting the toy fully inside the case. CAST raises success from fifty-five to ninety-five percent, compared with eighty percent for BC refinement and ninety percent for DICE-RL, all starting from the same base.</a:t>
            </a:r>
          </a:p>
          <a:p/>
          <a:p>
            <a:r>
              <a:t>VISUAL CUES</a:t>
            </a:r>
          </a:p>
          <a:p>
            <a:r>
              <a:t>V01: Insert an actual autonomous placement rollout. Current still is a labeled teleoperated illustration, not a CAST evaluation.</a:t>
            </a:r>
          </a:p>
          <a:p/>
          <a:p>
            <a:r>
              <a:t>SOURCES</a:t>
            </a:r>
          </a:p>
          <a:p>
            <a:r>
              <a:t>_ICRA_2027__CAST/sections/05_real_robot.tex</a:t>
            </a:r>
          </a:p>
          <a:p>
            <a:r>
              <a:t>_ICRA_2027__CAST/real_robot_results.json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02:32–02:52 | 20 seconds</a:t>
            </a:r>
          </a:p>
          <a:p/>
          <a:p>
            <a:r>
              <a:t>NARRATION</a:t>
            </a:r>
          </a:p>
          <a:p>
            <a:r>
              <a:t>Stacking requires alignment and a clean release. A common observed failure is reaching the correct position without releasing the cube. The failed outcome does not mean every preceding action was wrong. CAST reaches seventy percent success, versus thirty-five for the base, sixty-five for BC refinement, and sixty for DICE-RL.</a:t>
            </a:r>
          </a:p>
          <a:p/>
          <a:p>
            <a:r>
              <a:t>VISUAL CUES</a:t>
            </a:r>
          </a:p>
          <a:p>
            <a:r>
              <a:t>V02: Insert an actual autonomous stacking rollout showing release and stable final stack. Current still is teleoperated; no per-method clip is available here.</a:t>
            </a:r>
          </a:p>
          <a:p/>
          <a:p>
            <a:r>
              <a:t>SOURCES</a:t>
            </a:r>
          </a:p>
          <a:p>
            <a:r>
              <a:t>_ICRA_2027__CAST/sections/05_real_robot.tex</a:t>
            </a:r>
          </a:p>
          <a:p>
            <a:r>
              <a:t>_ICRA_2027__CAST/real_robot_results.json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02:52–03:00 | 8 seconds</a:t>
            </a:r>
          </a:p>
          <a:p/>
          <a:p>
            <a:r>
              <a:t>NARRATION</a:t>
            </a:r>
          </a:p>
          <a:p>
            <a:r>
              <a:t>CAST combines critic guidance, soft restoration, and bounded target steps: improve the skill while keeping a persistent reference.</a:t>
            </a:r>
          </a:p>
          <a:p/>
          <a:p>
            <a:r>
              <a:t>VISUAL CUES</a:t>
            </a:r>
          </a:p>
          <a:p>
            <a:r>
              <a:t>Static slide; no animation required.</a:t>
            </a:r>
          </a:p>
          <a:p/>
          <a:p>
            <a:r>
              <a:t>SOURCES</a:t>
            </a:r>
          </a:p>
          <a:p>
            <a:r>
              <a:t>_ICRA_2027__CAST/sections/06_conclusion.tex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microsoft.com/office/2007/relationships/media" Target="../media/media5.mp4"/><Relationship Id="rId4" Type="http://schemas.openxmlformats.org/officeDocument/2006/relationships/video" Target="../media/media5.mp4"/><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1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THE IDEA</a:t>
            </a:r>
          </a:p>
        </p:txBody>
      </p:sp>
      <p:sp>
        <p:nvSpPr>
          <p:cNvPr id="3" name="S01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IDEA + METHOD</a:t>
            </a:r>
          </a:p>
        </p:txBody>
      </p:sp>
      <p:sp>
        <p:nvSpPr>
          <p:cNvPr id="4" name="S01_003"/>
          <p:cNvSpPr txBox="1"/>
          <p:nvPr/>
        </p:nvSpPr>
        <p:spPr>
          <a:xfrm>
            <a:off x="533400" y="1143000"/>
            <a:ext cx="6223000" cy="1308100"/>
          </a:xfrm>
          <a:prstGeom prst="rect">
            <a:avLst/>
          </a:prstGeom>
          <a:noFill/>
        </p:spPr>
        <p:txBody>
          <a:bodyPr wrap="none" lIns="0" rIns="0" tIns="0" bIns="0" anchor="t">
            <a:spAutoFit/>
          </a:bodyPr>
          <a:lstStyle/>
          <a:p>
            <a:pPr algn="l">
              <a:lnSpc>
                <a:spcPts val="9243"/>
              </a:lnSpc>
              <a:spcBef>
                <a:spcPts val="0"/>
              </a:spcBef>
              <a:spcAft>
                <a:spcPts val="0"/>
              </a:spcAft>
            </a:pPr>
            <a:r>
              <a:rPr sz="7900" b="1">
                <a:solidFill>
                  <a:srgbClr val="42D7B4"/>
                </a:solidFill>
                <a:latin typeface="DejaVu Sans"/>
              </a:rPr>
              <a:t>CAST</a:t>
            </a:r>
          </a:p>
        </p:txBody>
      </p:sp>
      <p:sp>
        <p:nvSpPr>
          <p:cNvPr id="5" name="S01_004"/>
          <p:cNvSpPr txBox="1"/>
          <p:nvPr/>
        </p:nvSpPr>
        <p:spPr>
          <a:xfrm>
            <a:off x="571500" y="2552700"/>
            <a:ext cx="6223000" cy="977900"/>
          </a:xfrm>
          <a:prstGeom prst="rect">
            <a:avLst/>
          </a:prstGeom>
          <a:noFill/>
        </p:spPr>
        <p:txBody>
          <a:bodyPr wrap="none" lIns="0" rIns="0" tIns="0" bIns="0" anchor="t">
            <a:spAutoFit/>
          </a:bodyPr>
          <a:lstStyle/>
          <a:p>
            <a:pPr algn="l">
              <a:lnSpc>
                <a:spcPts val="2808"/>
              </a:lnSpc>
              <a:spcBef>
                <a:spcPts val="0"/>
              </a:spcBef>
              <a:spcAft>
                <a:spcPts val="0"/>
              </a:spcAft>
            </a:pPr>
            <a:r>
              <a:rPr sz="2400" b="0">
                <a:solidFill>
                  <a:srgbClr val="F3F6FA"/>
                </a:solidFill>
                <a:latin typeface="DejaVu Sans"/>
              </a:rPr>
              <a:t>Anchoring critic-guided fine-tuning</a:t>
            </a:r>
          </a:p>
          <a:p>
            <a:pPr algn="l">
              <a:lnSpc>
                <a:spcPts val="2808"/>
              </a:lnSpc>
              <a:spcBef>
                <a:spcPts val="0"/>
              </a:spcBef>
              <a:spcAft>
                <a:spcPts val="0"/>
              </a:spcAft>
            </a:pPr>
            <a:r>
              <a:rPr sz="2400" b="0">
                <a:solidFill>
                  <a:srgbClr val="F3F6FA"/>
                </a:solidFill>
                <a:latin typeface="DejaVu Sans"/>
              </a:rPr>
              <a:t>of generative robot policies</a:t>
            </a:r>
          </a:p>
        </p:txBody>
      </p:sp>
      <p:sp>
        <p:nvSpPr>
          <p:cNvPr id="6" name="S01_005"/>
          <p:cNvSpPr txBox="1"/>
          <p:nvPr/>
        </p:nvSpPr>
        <p:spPr>
          <a:xfrm>
            <a:off x="571500" y="4089400"/>
            <a:ext cx="5905500" cy="1295400"/>
          </a:xfrm>
          <a:prstGeom prst="rect">
            <a:avLst/>
          </a:prstGeom>
          <a:noFill/>
        </p:spPr>
        <p:txBody>
          <a:bodyPr wrap="none" lIns="0" rIns="0" tIns="0" bIns="0" anchor="t">
            <a:spAutoFit/>
          </a:bodyPr>
          <a:lstStyle/>
          <a:p>
            <a:pPr algn="l">
              <a:lnSpc>
                <a:spcPts val="3978"/>
              </a:lnSpc>
              <a:spcBef>
                <a:spcPts val="0"/>
              </a:spcBef>
              <a:spcAft>
                <a:spcPts val="0"/>
              </a:spcAft>
            </a:pPr>
            <a:r>
              <a:rPr sz="3400" b="1">
                <a:solidFill>
                  <a:srgbClr val="F3F6FA"/>
                </a:solidFill>
                <a:latin typeface="DejaVu Sans"/>
              </a:rPr>
              <a:t>Improve the skill.</a:t>
            </a:r>
          </a:p>
          <a:p>
            <a:pPr algn="l">
              <a:lnSpc>
                <a:spcPts val="3978"/>
              </a:lnSpc>
              <a:spcBef>
                <a:spcPts val="0"/>
              </a:spcBef>
              <a:spcAft>
                <a:spcPts val="0"/>
              </a:spcAft>
            </a:pPr>
            <a:r>
              <a:rPr sz="3400" b="1">
                <a:solidFill>
                  <a:srgbClr val="F3F6FA"/>
                </a:solidFill>
                <a:latin typeface="DejaVu Sans"/>
              </a:rPr>
              <a:t>Keep what works.</a:t>
            </a:r>
          </a:p>
        </p:txBody>
      </p:sp>
      <p:sp>
        <p:nvSpPr>
          <p:cNvPr id="7" name="S01_006"/>
          <p:cNvSpPr/>
          <p:nvPr/>
        </p:nvSpPr>
        <p:spPr>
          <a:xfrm>
            <a:off x="7035800" y="1168400"/>
            <a:ext cx="4622800" cy="4368800"/>
          </a:xfrm>
          <a:prstGeom prst="roundRect">
            <a:avLst>
              <a:gd name="adj" fmla="val 2906"/>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S01_007" descr="image.png"/>
          <p:cNvPicPr>
            <a:picLocks noChangeAspect="1"/>
          </p:cNvPicPr>
          <p:nvPr/>
        </p:nvPicPr>
        <p:blipFill>
          <a:blip r:embed="rId2"/>
          <a:stretch>
            <a:fillRect/>
          </a:stretch>
        </p:blipFill>
        <p:spPr>
          <a:xfrm>
            <a:off x="7213600" y="1358900"/>
            <a:ext cx="4267200" cy="3136900"/>
          </a:xfrm>
          <a:prstGeom prst="rect">
            <a:avLst/>
          </a:prstGeom>
        </p:spPr>
      </p:pic>
      <p:sp>
        <p:nvSpPr>
          <p:cNvPr id="9" name="S01_008"/>
          <p:cNvSpPr txBox="1"/>
          <p:nvPr/>
        </p:nvSpPr>
        <p:spPr>
          <a:xfrm>
            <a:off x="7239000" y="4724400"/>
            <a:ext cx="4191000" cy="571500"/>
          </a:xfrm>
          <a:prstGeom prst="rect">
            <a:avLst/>
          </a:prstGeom>
          <a:noFill/>
        </p:spPr>
        <p:txBody>
          <a:bodyPr wrap="none" lIns="0" rIns="0" tIns="0" bIns="0" anchor="t">
            <a:spAutoFit/>
          </a:bodyPr>
          <a:lstStyle/>
          <a:p>
            <a:pPr algn="l">
              <a:lnSpc>
                <a:spcPts val="1989"/>
              </a:lnSpc>
              <a:spcBef>
                <a:spcPts val="0"/>
              </a:spcBef>
              <a:spcAft>
                <a:spcPts val="0"/>
              </a:spcAft>
            </a:pPr>
            <a:r>
              <a:rPr sz="1700" b="1">
                <a:solidFill>
                  <a:srgbClr val="F3F6FA"/>
                </a:solidFill>
                <a:latin typeface="DejaVu Sans"/>
              </a:rPr>
              <a:t>OpenArm · staircase manipulation</a:t>
            </a:r>
          </a:p>
        </p:txBody>
      </p:sp>
      <p:sp>
        <p:nvSpPr>
          <p:cNvPr id="10" name="S01_009"/>
          <p:cNvSpPr txBox="1"/>
          <p:nvPr/>
        </p:nvSpPr>
        <p:spPr>
          <a:xfrm>
            <a:off x="7239000" y="5219700"/>
            <a:ext cx="4191000" cy="215900"/>
          </a:xfrm>
          <a:prstGeom prst="rect">
            <a:avLst/>
          </a:prstGeom>
          <a:noFill/>
        </p:spPr>
        <p:txBody>
          <a:bodyPr wrap="none" lIns="0" rIns="0" tIns="0" bIns="0" anchor="t">
            <a:spAutoFit/>
          </a:bodyPr>
          <a:lstStyle/>
          <a:p>
            <a:pPr algn="l">
              <a:lnSpc>
                <a:spcPts val="1170"/>
              </a:lnSpc>
              <a:spcBef>
                <a:spcPts val="0"/>
              </a:spcBef>
              <a:spcAft>
                <a:spcPts val="0"/>
              </a:spcAft>
            </a:pPr>
            <a:r>
              <a:rPr sz="1000" b="0">
                <a:solidFill>
                  <a:srgbClr val="AFBDD0"/>
                </a:solidFill>
                <a:latin typeface="DejaVu Sans"/>
              </a:rPr>
              <a:t>Teleoperated demonstration frame</a:t>
            </a:r>
          </a:p>
        </p:txBody>
      </p:sp>
      <p:sp>
        <p:nvSpPr>
          <p:cNvPr id="11" name="S01_010"/>
          <p:cNvSpPr txBox="1"/>
          <p:nvPr/>
        </p:nvSpPr>
        <p:spPr>
          <a:xfrm>
            <a:off x="571500" y="5867400"/>
            <a:ext cx="10604500" cy="304800"/>
          </a:xfrm>
          <a:prstGeom prst="rect">
            <a:avLst/>
          </a:prstGeom>
          <a:noFill/>
        </p:spPr>
        <p:txBody>
          <a:bodyPr wrap="none" lIns="0" rIns="0" tIns="0" bIns="0" anchor="t">
            <a:spAutoFit/>
          </a:bodyPr>
          <a:lstStyle/>
          <a:p>
            <a:pPr algn="l">
              <a:lnSpc>
                <a:spcPts val="2222"/>
              </a:lnSpc>
              <a:spcBef>
                <a:spcPts val="0"/>
              </a:spcBef>
              <a:spcAft>
                <a:spcPts val="0"/>
              </a:spcAft>
            </a:pPr>
            <a:r>
              <a:rPr sz="1900" b="0">
                <a:solidFill>
                  <a:srgbClr val="AFBDD0"/>
                </a:solidFill>
                <a:latin typeface="DejaVu Sans"/>
              </a:rPr>
              <a:t>Persistent reference + useful adaptation</a:t>
            </a:r>
          </a:p>
        </p:txBody>
      </p:sp>
      <p:sp>
        <p:nvSpPr>
          <p:cNvPr id="12" name="S01_011"/>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13" name="S01_012"/>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01 / 10</a:t>
            </a:r>
          </a:p>
        </p:txBody>
      </p:sp>
      <p:sp>
        <p:nvSpPr>
          <p:cNvPr id="14" name="S01_013"/>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1_014"/>
          <p:cNvSpPr/>
          <p:nvPr/>
        </p:nvSpPr>
        <p:spPr>
          <a:xfrm>
            <a:off x="0" y="6807200"/>
            <a:ext cx="677333"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10000"/>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2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WHY ANCHORING MATTERS</a:t>
            </a:r>
          </a:p>
        </p:txBody>
      </p:sp>
      <p:sp>
        <p:nvSpPr>
          <p:cNvPr id="3" name="S02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IDEA + METHOD</a:t>
            </a:r>
          </a:p>
        </p:txBody>
      </p:sp>
      <p:sp>
        <p:nvSpPr>
          <p:cNvPr id="4" name="S02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Small steps can still drift.</a:t>
            </a:r>
          </a:p>
        </p:txBody>
      </p:sp>
      <p:sp>
        <p:nvSpPr>
          <p:cNvPr id="5" name="S02_004"/>
          <p:cNvSpPr txBox="1"/>
          <p:nvPr/>
        </p:nvSpPr>
        <p:spPr>
          <a:xfrm>
            <a:off x="558800" y="1435100"/>
            <a:ext cx="11023600" cy="342900"/>
          </a:xfrm>
          <a:prstGeom prst="rect">
            <a:avLst/>
          </a:prstGeom>
          <a:noFill/>
        </p:spPr>
        <p:txBody>
          <a:bodyPr wrap="none" lIns="0" rIns="0" tIns="0" bIns="0" anchor="t">
            <a:spAutoFit/>
          </a:bodyPr>
          <a:lstStyle/>
          <a:p>
            <a:pPr algn="l">
              <a:lnSpc>
                <a:spcPts val="1989"/>
              </a:lnSpc>
              <a:spcBef>
                <a:spcPts val="0"/>
              </a:spcBef>
              <a:spcAft>
                <a:spcPts val="0"/>
              </a:spcAft>
            </a:pPr>
            <a:r>
              <a:rPr sz="1700" b="0">
                <a:solidFill>
                  <a:srgbClr val="AFBDD0"/>
                </a:solidFill>
                <a:latin typeface="DejaVu Sans"/>
              </a:rPr>
              <a:t>An imperfect critic can turn local corrections into cumulative drift.</a:t>
            </a:r>
          </a:p>
        </p:txBody>
      </p:sp>
      <p:sp>
        <p:nvSpPr>
          <p:cNvPr id="6" name="MEDIA_A01_FRAME"/>
          <p:cNvSpPr/>
          <p:nvPr/>
        </p:nvSpPr>
        <p:spPr>
          <a:xfrm>
            <a:off x="533400" y="1943100"/>
            <a:ext cx="7670800" cy="4305300"/>
          </a:xfrm>
          <a:prstGeom prst="roundRect">
            <a:avLst>
              <a:gd name="adj" fmla="val 2359"/>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EDIA_A01_LABEL"/>
          <p:cNvSpPr txBox="1"/>
          <p:nvPr/>
        </p:nvSpPr>
        <p:spPr>
          <a:xfrm>
            <a:off x="736600" y="2095500"/>
            <a:ext cx="72644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A01 / Accumulated drift</a:t>
            </a:r>
          </a:p>
        </p:txBody>
      </p:sp>
      <p:sp>
        <p:nvSpPr>
          <p:cNvPr id="8" name="MEDIA_A01_STATUS"/>
          <p:cNvSpPr txBox="1"/>
          <p:nvPr/>
        </p:nvSpPr>
        <p:spPr>
          <a:xfrm>
            <a:off x="736600" y="5956300"/>
            <a:ext cx="72644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ANIMATION RESERVED</a:t>
            </a:r>
          </a:p>
        </p:txBody>
      </p:sp>
      <p:sp>
        <p:nvSpPr>
          <p:cNvPr id="9" name="S02_008"/>
          <p:cNvSpPr txBox="1"/>
          <p:nvPr/>
        </p:nvSpPr>
        <p:spPr>
          <a:xfrm>
            <a:off x="825500" y="2527300"/>
            <a:ext cx="3505200" cy="3175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F0B360"/>
                </a:solidFill>
                <a:latin typeface="DejaVu Sans"/>
              </a:rPr>
              <a:t>Clipping only</a:t>
            </a:r>
          </a:p>
        </p:txBody>
      </p:sp>
      <p:sp>
        <p:nvSpPr>
          <p:cNvPr id="10" name="S02_009"/>
          <p:cNvSpPr/>
          <p:nvPr/>
        </p:nvSpPr>
        <p:spPr>
          <a:xfrm>
            <a:off x="1016000" y="3962400"/>
            <a:ext cx="1346200" cy="914400"/>
          </a:xfrm>
          <a:prstGeom prst="ellipse">
            <a:avLst/>
          </a:prstGeom>
          <a:solidFill>
            <a:srgbClr val="102135"/>
          </a:solidFill>
          <a:ln w="12700">
            <a:solidFill>
              <a:srgbClr val="7FB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2_010"/>
          <p:cNvSpPr/>
          <p:nvPr/>
        </p:nvSpPr>
        <p:spPr>
          <a:xfrm>
            <a:off x="1384300" y="43815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2_011"/>
          <p:cNvSpPr/>
          <p:nvPr/>
        </p:nvSpPr>
        <p:spPr>
          <a:xfrm>
            <a:off x="1511300" y="42545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02_012"/>
          <p:cNvSpPr/>
          <p:nvPr/>
        </p:nvSpPr>
        <p:spPr>
          <a:xfrm>
            <a:off x="1651000" y="44450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2_013"/>
          <p:cNvSpPr/>
          <p:nvPr/>
        </p:nvSpPr>
        <p:spPr>
          <a:xfrm>
            <a:off x="1854200" y="43561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2_014"/>
          <p:cNvSpPr/>
          <p:nvPr/>
        </p:nvSpPr>
        <p:spPr>
          <a:xfrm>
            <a:off x="1727200" y="45974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2_015"/>
          <p:cNvSpPr txBox="1"/>
          <p:nvPr/>
        </p:nvSpPr>
        <p:spPr>
          <a:xfrm>
            <a:off x="1041400" y="4978400"/>
            <a:ext cx="2540000" cy="2921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7FB0ED"/>
                </a:solidFill>
                <a:latin typeface="DejaVu Sans"/>
              </a:rPr>
              <a:t>Frozen base</a:t>
            </a:r>
          </a:p>
        </p:txBody>
      </p:sp>
      <p:cxnSp>
        <p:nvCxnSpPr>
          <p:cNvPr id="17" name="S02_016"/>
          <p:cNvCxnSpPr/>
          <p:nvPr/>
        </p:nvCxnSpPr>
        <p:spPr>
          <a:xfrm flipV="1">
            <a:off x="1689100" y="4127500"/>
            <a:ext cx="457200" cy="292100"/>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18" name="S02_017"/>
          <p:cNvCxnSpPr/>
          <p:nvPr/>
        </p:nvCxnSpPr>
        <p:spPr>
          <a:xfrm flipH="1">
            <a:off x="2112986" y="4127500"/>
            <a:ext cx="33314" cy="54059"/>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19" name="S02_018"/>
          <p:cNvCxnSpPr/>
          <p:nvPr/>
        </p:nvCxnSpPr>
        <p:spPr>
          <a:xfrm flipH="1">
            <a:off x="2083245" y="4127500"/>
            <a:ext cx="63055" cy="7508"/>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0" name="S02_019"/>
          <p:cNvCxnSpPr/>
          <p:nvPr/>
        </p:nvCxnSpPr>
        <p:spPr>
          <a:xfrm flipV="1">
            <a:off x="2146300" y="3797300"/>
            <a:ext cx="482600" cy="330200"/>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1" name="S02_020"/>
          <p:cNvCxnSpPr/>
          <p:nvPr/>
        </p:nvCxnSpPr>
        <p:spPr>
          <a:xfrm flipH="1">
            <a:off x="2597307" y="3797300"/>
            <a:ext cx="31593" cy="55082"/>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2" name="S02_021"/>
          <p:cNvCxnSpPr/>
          <p:nvPr/>
        </p:nvCxnSpPr>
        <p:spPr>
          <a:xfrm flipH="1">
            <a:off x="2566113" y="3797300"/>
            <a:ext cx="62787" cy="9492"/>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3" name="S02_022"/>
          <p:cNvCxnSpPr/>
          <p:nvPr/>
        </p:nvCxnSpPr>
        <p:spPr>
          <a:xfrm flipV="1">
            <a:off x="2628900" y="3403600"/>
            <a:ext cx="482600" cy="393700"/>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4" name="S02_023"/>
          <p:cNvCxnSpPr/>
          <p:nvPr/>
        </p:nvCxnSpPr>
        <p:spPr>
          <a:xfrm flipH="1">
            <a:off x="3084654" y="3403600"/>
            <a:ext cx="26846" cy="57546"/>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5" name="S02_024"/>
          <p:cNvCxnSpPr/>
          <p:nvPr/>
        </p:nvCxnSpPr>
        <p:spPr>
          <a:xfrm flipH="1">
            <a:off x="3049734" y="3403600"/>
            <a:ext cx="61766" cy="14741"/>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6" name="S02_025"/>
          <p:cNvCxnSpPr/>
          <p:nvPr/>
        </p:nvCxnSpPr>
        <p:spPr>
          <a:xfrm flipV="1">
            <a:off x="3111500" y="3048000"/>
            <a:ext cx="584200" cy="355600"/>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7" name="S02_026"/>
          <p:cNvCxnSpPr/>
          <p:nvPr/>
        </p:nvCxnSpPr>
        <p:spPr>
          <a:xfrm flipH="1">
            <a:off x="3661219" y="3048000"/>
            <a:ext cx="34481" cy="53322"/>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8" name="S02_027"/>
          <p:cNvCxnSpPr/>
          <p:nvPr/>
        </p:nvCxnSpPr>
        <p:spPr>
          <a:xfrm flipH="1">
            <a:off x="3632497" y="3048000"/>
            <a:ext cx="63203" cy="6136"/>
          </a:xfrm>
          <a:prstGeom prst="line">
            <a:avLst/>
          </a:prstGeom>
          <a:ln w="25400">
            <a:solidFill>
              <a:srgbClr val="F0B360"/>
            </a:solidFill>
          </a:ln>
        </p:spPr>
        <p:style>
          <a:lnRef idx="2">
            <a:schemeClr val="accent1"/>
          </a:lnRef>
          <a:fillRef idx="0">
            <a:schemeClr val="accent1"/>
          </a:fillRef>
          <a:effectRef idx="1">
            <a:schemeClr val="accent1"/>
          </a:effectRef>
          <a:fontRef idx="minor">
            <a:schemeClr val="tx1"/>
          </a:fontRef>
        </p:style>
      </p:cxnSp>
      <p:sp>
        <p:nvSpPr>
          <p:cNvPr id="29" name="S02_028"/>
          <p:cNvSpPr/>
          <p:nvPr/>
        </p:nvSpPr>
        <p:spPr>
          <a:xfrm>
            <a:off x="3632200" y="2984500"/>
            <a:ext cx="127000" cy="127000"/>
          </a:xfrm>
          <a:prstGeom prst="ellipse">
            <a:avLst/>
          </a:prstGeom>
          <a:solidFill>
            <a:srgbClr val="F0B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02_029"/>
          <p:cNvSpPr txBox="1"/>
          <p:nvPr/>
        </p:nvSpPr>
        <p:spPr>
          <a:xfrm>
            <a:off x="4584700" y="2527300"/>
            <a:ext cx="3505200" cy="3175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42D7B4"/>
                </a:solidFill>
                <a:latin typeface="DejaVu Sans"/>
              </a:rPr>
              <a:t>With restoration</a:t>
            </a:r>
          </a:p>
        </p:txBody>
      </p:sp>
      <p:sp>
        <p:nvSpPr>
          <p:cNvPr id="31" name="S02_030"/>
          <p:cNvSpPr/>
          <p:nvPr/>
        </p:nvSpPr>
        <p:spPr>
          <a:xfrm>
            <a:off x="4775200" y="3962400"/>
            <a:ext cx="1346200" cy="914400"/>
          </a:xfrm>
          <a:prstGeom prst="ellipse">
            <a:avLst/>
          </a:prstGeom>
          <a:solidFill>
            <a:srgbClr val="102135"/>
          </a:solidFill>
          <a:ln w="12700">
            <a:solidFill>
              <a:srgbClr val="7FB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02_031"/>
          <p:cNvSpPr/>
          <p:nvPr/>
        </p:nvSpPr>
        <p:spPr>
          <a:xfrm>
            <a:off x="5143500" y="43815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02_032"/>
          <p:cNvSpPr/>
          <p:nvPr/>
        </p:nvSpPr>
        <p:spPr>
          <a:xfrm>
            <a:off x="5270500" y="42545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2_033"/>
          <p:cNvSpPr/>
          <p:nvPr/>
        </p:nvSpPr>
        <p:spPr>
          <a:xfrm>
            <a:off x="5410200" y="44450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02_034"/>
          <p:cNvSpPr/>
          <p:nvPr/>
        </p:nvSpPr>
        <p:spPr>
          <a:xfrm>
            <a:off x="5613400" y="43561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02_035"/>
          <p:cNvSpPr/>
          <p:nvPr/>
        </p:nvSpPr>
        <p:spPr>
          <a:xfrm>
            <a:off x="5486400" y="4597400"/>
            <a:ext cx="76200" cy="762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02_036"/>
          <p:cNvSpPr txBox="1"/>
          <p:nvPr/>
        </p:nvSpPr>
        <p:spPr>
          <a:xfrm>
            <a:off x="4800600" y="4978400"/>
            <a:ext cx="2540000" cy="2921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7FB0ED"/>
                </a:solidFill>
                <a:latin typeface="DejaVu Sans"/>
              </a:rPr>
              <a:t>Frozen base</a:t>
            </a:r>
          </a:p>
        </p:txBody>
      </p:sp>
      <p:cxnSp>
        <p:nvCxnSpPr>
          <p:cNvPr id="38" name="S02_037"/>
          <p:cNvCxnSpPr/>
          <p:nvPr/>
        </p:nvCxnSpPr>
        <p:spPr>
          <a:xfrm flipV="1">
            <a:off x="5448300" y="4127500"/>
            <a:ext cx="457200" cy="2921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9" name="S02_038"/>
          <p:cNvCxnSpPr/>
          <p:nvPr/>
        </p:nvCxnSpPr>
        <p:spPr>
          <a:xfrm flipH="1">
            <a:off x="5872186" y="4127500"/>
            <a:ext cx="33314" cy="54059"/>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0" name="S02_039"/>
          <p:cNvCxnSpPr/>
          <p:nvPr/>
        </p:nvCxnSpPr>
        <p:spPr>
          <a:xfrm flipH="1">
            <a:off x="5842445" y="4127500"/>
            <a:ext cx="63055" cy="7508"/>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1" name="S02_040"/>
          <p:cNvCxnSpPr/>
          <p:nvPr/>
        </p:nvCxnSpPr>
        <p:spPr>
          <a:xfrm flipV="1">
            <a:off x="5905500" y="3949700"/>
            <a:ext cx="190500" cy="1778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2" name="S02_041"/>
          <p:cNvCxnSpPr/>
          <p:nvPr/>
        </p:nvCxnSpPr>
        <p:spPr>
          <a:xfrm flipH="1">
            <a:off x="6073045" y="3949700"/>
            <a:ext cx="22955" cy="59205"/>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3" name="S02_042"/>
          <p:cNvCxnSpPr/>
          <p:nvPr/>
        </p:nvCxnSpPr>
        <p:spPr>
          <a:xfrm flipH="1">
            <a:off x="6035353" y="3949700"/>
            <a:ext cx="60647" cy="18821"/>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4" name="S02_043"/>
          <p:cNvCxnSpPr/>
          <p:nvPr/>
        </p:nvCxnSpPr>
        <p:spPr>
          <a:xfrm flipH="1">
            <a:off x="6019800" y="3949700"/>
            <a:ext cx="76200" cy="1524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5" name="S02_044"/>
          <p:cNvCxnSpPr/>
          <p:nvPr/>
        </p:nvCxnSpPr>
        <p:spPr>
          <a:xfrm flipV="1">
            <a:off x="6019800" y="4038605"/>
            <a:ext cx="866" cy="63495"/>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6" name="S02_045"/>
          <p:cNvCxnSpPr/>
          <p:nvPr/>
        </p:nvCxnSpPr>
        <p:spPr>
          <a:xfrm flipV="1">
            <a:off x="6019800" y="4063310"/>
            <a:ext cx="50275" cy="3879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7" name="S02_046"/>
          <p:cNvCxnSpPr/>
          <p:nvPr/>
        </p:nvCxnSpPr>
        <p:spPr>
          <a:xfrm flipV="1">
            <a:off x="6019800" y="4051300"/>
            <a:ext cx="76200" cy="508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8" name="S02_047"/>
          <p:cNvCxnSpPr/>
          <p:nvPr/>
        </p:nvCxnSpPr>
        <p:spPr>
          <a:xfrm flipH="1">
            <a:off x="6063745" y="4051300"/>
            <a:ext cx="32255" cy="54698"/>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9" name="S02_048"/>
          <p:cNvCxnSpPr/>
          <p:nvPr/>
        </p:nvCxnSpPr>
        <p:spPr>
          <a:xfrm flipH="1">
            <a:off x="6033103" y="4051300"/>
            <a:ext cx="62897" cy="8735"/>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sp>
        <p:nvSpPr>
          <p:cNvPr id="50" name="S02_049"/>
          <p:cNvSpPr/>
          <p:nvPr/>
        </p:nvSpPr>
        <p:spPr>
          <a:xfrm>
            <a:off x="6032500" y="3987800"/>
            <a:ext cx="127000" cy="127000"/>
          </a:xfrm>
          <a:prstGeom prst="ellipse">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S02_050"/>
          <p:cNvCxnSpPr/>
          <p:nvPr/>
        </p:nvCxnSpPr>
        <p:spPr>
          <a:xfrm flipV="1">
            <a:off x="5448300" y="4051300"/>
            <a:ext cx="647700" cy="368300"/>
          </a:xfrm>
          <a:prstGeom prst="line">
            <a:avLst/>
          </a:prstGeom>
          <a:ln w="12700">
            <a:solidFill>
              <a:srgbClr val="7FB0ED"/>
            </a:solidFill>
            <a:prstDash val="dash"/>
          </a:ln>
        </p:spPr>
        <p:style>
          <a:lnRef idx="2">
            <a:schemeClr val="accent1"/>
          </a:lnRef>
          <a:fillRef idx="0">
            <a:schemeClr val="accent1"/>
          </a:fillRef>
          <a:effectRef idx="1">
            <a:schemeClr val="accent1"/>
          </a:effectRef>
          <a:fontRef idx="minor">
            <a:schemeClr val="tx1"/>
          </a:fontRef>
        </p:style>
      </p:cxnSp>
      <p:cxnSp>
        <p:nvCxnSpPr>
          <p:cNvPr id="52" name="S02_051"/>
          <p:cNvCxnSpPr/>
          <p:nvPr/>
        </p:nvCxnSpPr>
        <p:spPr>
          <a:xfrm>
            <a:off x="4368800" y="2527300"/>
            <a:ext cx="0" cy="3048000"/>
          </a:xfrm>
          <a:prstGeom prst="line">
            <a:avLst/>
          </a:prstGeom>
          <a:ln w="12700">
            <a:solidFill>
              <a:srgbClr val="33455B"/>
            </a:solidFill>
          </a:ln>
        </p:spPr>
        <p:style>
          <a:lnRef idx="2">
            <a:schemeClr val="accent1"/>
          </a:lnRef>
          <a:fillRef idx="0">
            <a:schemeClr val="accent1"/>
          </a:fillRef>
          <a:effectRef idx="1">
            <a:schemeClr val="accent1"/>
          </a:effectRef>
          <a:fontRef idx="minor">
            <a:schemeClr val="tx1"/>
          </a:fontRef>
        </p:style>
      </p:cxnSp>
      <p:sp>
        <p:nvSpPr>
          <p:cNvPr id="53" name="S02_052"/>
          <p:cNvSpPr txBox="1"/>
          <p:nvPr/>
        </p:nvSpPr>
        <p:spPr>
          <a:xfrm>
            <a:off x="901700" y="5626100"/>
            <a:ext cx="6858000" cy="279400"/>
          </a:xfrm>
          <a:prstGeom prst="rect">
            <a:avLst/>
          </a:prstGeom>
          <a:noFill/>
        </p:spPr>
        <p:txBody>
          <a:bodyPr wrap="none" lIns="0" rIns="0" tIns="0" bIns="0" anchor="t">
            <a:spAutoFit/>
          </a:bodyPr>
          <a:lstStyle/>
          <a:p>
            <a:pPr algn="ctr">
              <a:lnSpc>
                <a:spcPts val="1404"/>
              </a:lnSpc>
              <a:spcBef>
                <a:spcPts val="0"/>
              </a:spcBef>
              <a:spcAft>
                <a:spcPts val="0"/>
              </a:spcAft>
            </a:pPr>
            <a:r>
              <a:rPr sz="1200" b="0">
                <a:solidFill>
                  <a:srgbClr val="AFBDD0"/>
                </a:solidFill>
                <a:latin typeface="DejaVu Sans"/>
              </a:rPr>
              <a:t>Illustrative action space · not a measured learning curve</a:t>
            </a:r>
          </a:p>
        </p:txBody>
      </p:sp>
      <p:sp>
        <p:nvSpPr>
          <p:cNvPr id="54" name="S02_053"/>
          <p:cNvSpPr/>
          <p:nvPr/>
        </p:nvSpPr>
        <p:spPr>
          <a:xfrm>
            <a:off x="8496300" y="2184400"/>
            <a:ext cx="3162300" cy="1511300"/>
          </a:xfrm>
          <a:prstGeom prst="roundRect">
            <a:avLst>
              <a:gd name="adj" fmla="val 5882"/>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02_054"/>
          <p:cNvSpPr/>
          <p:nvPr/>
        </p:nvSpPr>
        <p:spPr>
          <a:xfrm>
            <a:off x="8496300" y="2184400"/>
            <a:ext cx="50800" cy="1511300"/>
          </a:xfrm>
          <a:prstGeom prst="rect">
            <a:avLst/>
          </a:prstGeom>
          <a:solidFill>
            <a:srgbClr val="F0B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02_055"/>
          <p:cNvSpPr txBox="1"/>
          <p:nvPr/>
        </p:nvSpPr>
        <p:spPr>
          <a:xfrm>
            <a:off x="8699500" y="2336800"/>
            <a:ext cx="27559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F0B360"/>
                </a:solidFill>
                <a:latin typeface="DejaVu Sans"/>
              </a:rPr>
              <a:t>Clipping</a:t>
            </a:r>
          </a:p>
        </p:txBody>
      </p:sp>
      <p:sp>
        <p:nvSpPr>
          <p:cNvPr id="57" name="S02_056"/>
          <p:cNvSpPr txBox="1"/>
          <p:nvPr/>
        </p:nvSpPr>
        <p:spPr>
          <a:xfrm>
            <a:off x="8699500" y="2717800"/>
            <a:ext cx="2755900" cy="9144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Limits each individual</a:t>
            </a:r>
          </a:p>
          <a:p>
            <a:pPr algn="l">
              <a:lnSpc>
                <a:spcPts val="1638"/>
              </a:lnSpc>
              <a:spcBef>
                <a:spcPts val="0"/>
              </a:spcBef>
              <a:spcAft>
                <a:spcPts val="0"/>
              </a:spcAft>
            </a:pPr>
            <a:r>
              <a:rPr sz="1400" b="0">
                <a:solidFill>
                  <a:srgbClr val="AFBDD0"/>
                </a:solidFill>
                <a:latin typeface="DejaVu Sans"/>
              </a:rPr>
              <a:t>correction.</a:t>
            </a:r>
          </a:p>
        </p:txBody>
      </p:sp>
      <p:sp>
        <p:nvSpPr>
          <p:cNvPr id="58" name="S02_057"/>
          <p:cNvSpPr/>
          <p:nvPr/>
        </p:nvSpPr>
        <p:spPr>
          <a:xfrm>
            <a:off x="8496300" y="3987800"/>
            <a:ext cx="3162300" cy="1765300"/>
          </a:xfrm>
          <a:prstGeom prst="roundRect">
            <a:avLst>
              <a:gd name="adj" fmla="val 5035"/>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S02_058"/>
          <p:cNvSpPr/>
          <p:nvPr/>
        </p:nvSpPr>
        <p:spPr>
          <a:xfrm>
            <a:off x="8496300" y="3987800"/>
            <a:ext cx="50800" cy="17653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02_059"/>
          <p:cNvSpPr txBox="1"/>
          <p:nvPr/>
        </p:nvSpPr>
        <p:spPr>
          <a:xfrm>
            <a:off x="8699500" y="4140200"/>
            <a:ext cx="27559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42D7B4"/>
                </a:solidFill>
                <a:latin typeface="DejaVu Sans"/>
              </a:rPr>
              <a:t>Restoration</a:t>
            </a:r>
          </a:p>
        </p:txBody>
      </p:sp>
      <p:sp>
        <p:nvSpPr>
          <p:cNvPr id="61" name="S02_060"/>
          <p:cNvSpPr txBox="1"/>
          <p:nvPr/>
        </p:nvSpPr>
        <p:spPr>
          <a:xfrm>
            <a:off x="8699500" y="4521200"/>
            <a:ext cx="2755900" cy="11684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Responds to departure</a:t>
            </a:r>
          </a:p>
          <a:p>
            <a:pPr algn="l">
              <a:lnSpc>
                <a:spcPts val="1638"/>
              </a:lnSpc>
              <a:spcBef>
                <a:spcPts val="0"/>
              </a:spcBef>
              <a:spcAft>
                <a:spcPts val="0"/>
              </a:spcAft>
            </a:pPr>
            <a:r>
              <a:rPr sz="1400" b="0">
                <a:solidFill>
                  <a:srgbClr val="AFBDD0"/>
                </a:solidFill>
                <a:latin typeface="DejaVu Sans"/>
              </a:rPr>
              <a:t>already accumulated.</a:t>
            </a:r>
          </a:p>
        </p:txBody>
      </p:sp>
      <p:sp>
        <p:nvSpPr>
          <p:cNvPr id="62" name="MEDIA_A01_MASK"/>
          <p:cNvSpPr/>
          <p:nvPr/>
        </p:nvSpPr>
        <p:spPr>
          <a:xfrm>
            <a:off x="533400" y="1943100"/>
            <a:ext cx="7670800" cy="43053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S02_062" descr="image.png"/>
          <p:cNvPicPr>
            <a:picLocks noChangeAspect="1"/>
          </p:cNvPicPr>
          <p:nvPr/>
        </p:nvPicPr>
        <p:blipFill>
          <a:blip r:embed="rId2"/>
          <a:stretch>
            <a:fillRect/>
          </a:stretch>
        </p:blipFill>
        <p:spPr>
          <a:xfrm>
            <a:off x="541866" y="1943100"/>
            <a:ext cx="7653866" cy="4305300"/>
          </a:xfrm>
          <a:prstGeom prst="rect">
            <a:avLst/>
          </a:prstGeom>
        </p:spPr>
      </p:pic>
      <p:pic>
        <p:nvPicPr>
          <p:cNvPr id="64" name="MEDIA_A01_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541866" y="1943100"/>
            <a:ext cx="7653866" cy="4305300"/>
          </a:xfrm>
          <a:prstGeom prst="rect">
            <a:avLst/>
          </a:prstGeom>
        </p:spPr>
      </p:pic>
      <p:sp>
        <p:nvSpPr>
          <p:cNvPr id="65" name="S02_064"/>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66" name="S02_065"/>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02 / 10</a:t>
            </a:r>
          </a:p>
        </p:txBody>
      </p:sp>
      <p:sp>
        <p:nvSpPr>
          <p:cNvPr id="67" name="S02_066"/>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02_067"/>
          <p:cNvSpPr/>
          <p:nvPr/>
        </p:nvSpPr>
        <p:spPr>
          <a:xfrm>
            <a:off x="0" y="6807200"/>
            <a:ext cx="2032000"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20000"/>
  <p:timing>
    <p:tnLst>
      <p:par>
        <p:cTn id="1" dur="indefinite" restart="never" nodeType="tmRoot">
          <p:childTnLst>
            <p:video>
              <p:cMediaNode vol="80000">
                <p:cTn id="2" fill="hold" display="0">
                  <p:stCondLst>
                    <p:cond delay="0"/>
                  </p:stCondLst>
                </p:cTn>
                <p:tgtEl>
                  <p:spTgt spid="64"/>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3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POLICY ARCHITECTURE</a:t>
            </a:r>
          </a:p>
        </p:txBody>
      </p:sp>
      <p:sp>
        <p:nvSpPr>
          <p:cNvPr id="3" name="S03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IDEA + METHOD</a:t>
            </a:r>
          </a:p>
        </p:txBody>
      </p:sp>
      <p:sp>
        <p:nvSpPr>
          <p:cNvPr id="4" name="S03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Freeze the base. Learn a correction.</a:t>
            </a:r>
          </a:p>
        </p:txBody>
      </p:sp>
      <p:sp>
        <p:nvSpPr>
          <p:cNvPr id="5" name="S03_004"/>
          <p:cNvSpPr txBox="1"/>
          <p:nvPr/>
        </p:nvSpPr>
        <p:spPr>
          <a:xfrm>
            <a:off x="546100" y="1473200"/>
            <a:ext cx="11099800" cy="304800"/>
          </a:xfrm>
          <a:prstGeom prst="rect">
            <a:avLst/>
          </a:prstGeom>
          <a:noFill/>
        </p:spPr>
        <p:txBody>
          <a:bodyPr wrap="none" lIns="0" rIns="0" tIns="0" bIns="0" anchor="t">
            <a:spAutoFit/>
          </a:bodyPr>
          <a:lstStyle/>
          <a:p>
            <a:pPr algn="l">
              <a:lnSpc>
                <a:spcPts val="1872"/>
              </a:lnSpc>
              <a:spcBef>
                <a:spcPts val="0"/>
              </a:spcBef>
              <a:spcAft>
                <a:spcPts val="0"/>
              </a:spcAft>
            </a:pPr>
            <a:r>
              <a:rPr sz="1600" b="0">
                <a:solidFill>
                  <a:srgbClr val="AFBDD0"/>
                </a:solidFill>
                <a:latin typeface="DejaVu Sans"/>
              </a:rPr>
              <a:t>Use the same observation and noise to pair the base and current action.</a:t>
            </a:r>
          </a:p>
        </p:txBody>
      </p:sp>
      <p:sp>
        <p:nvSpPr>
          <p:cNvPr id="6" name="S03_005"/>
          <p:cNvSpPr/>
          <p:nvPr/>
        </p:nvSpPr>
        <p:spPr>
          <a:xfrm>
            <a:off x="546100" y="2019300"/>
            <a:ext cx="5067300" cy="3860800"/>
          </a:xfrm>
          <a:prstGeom prst="roundRect">
            <a:avLst>
              <a:gd name="adj" fmla="val 2631"/>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03_006"/>
          <p:cNvSpPr txBox="1"/>
          <p:nvPr/>
        </p:nvSpPr>
        <p:spPr>
          <a:xfrm>
            <a:off x="812800" y="2298700"/>
            <a:ext cx="4533900" cy="381000"/>
          </a:xfrm>
          <a:prstGeom prst="rect">
            <a:avLst/>
          </a:prstGeom>
          <a:noFill/>
        </p:spPr>
        <p:txBody>
          <a:bodyPr wrap="none" lIns="0" rIns="0" tIns="0" bIns="0" anchor="t">
            <a:spAutoFit/>
          </a:bodyPr>
          <a:lstStyle/>
          <a:p>
            <a:pPr algn="ctr">
              <a:lnSpc>
                <a:spcPts val="2106"/>
              </a:lnSpc>
              <a:spcBef>
                <a:spcPts val="0"/>
              </a:spcBef>
              <a:spcAft>
                <a:spcPts val="0"/>
              </a:spcAft>
            </a:pPr>
            <a:r>
              <a:rPr sz="1800" b="0">
                <a:solidFill>
                  <a:srgbClr val="F3F6FA"/>
                </a:solidFill>
                <a:latin typeface="DejaVu Sans"/>
              </a:rPr>
              <a:t>Observation s + shared noise z</a:t>
            </a:r>
          </a:p>
        </p:txBody>
      </p:sp>
      <p:cxnSp>
        <p:nvCxnSpPr>
          <p:cNvPr id="8" name="S03_007"/>
          <p:cNvCxnSpPr/>
          <p:nvPr/>
        </p:nvCxnSpPr>
        <p:spPr>
          <a:xfrm>
            <a:off x="2032000" y="2743200"/>
            <a:ext cx="0" cy="317500"/>
          </a:xfrm>
          <a:prstGeom prst="line">
            <a:avLst/>
          </a:prstGeom>
          <a:ln w="25400">
            <a:solidFill>
              <a:srgbClr val="7FB0ED"/>
            </a:solidFill>
          </a:ln>
        </p:spPr>
        <p:style>
          <a:lnRef idx="2">
            <a:schemeClr val="accent1"/>
          </a:lnRef>
          <a:fillRef idx="0">
            <a:schemeClr val="accent1"/>
          </a:fillRef>
          <a:effectRef idx="1">
            <a:schemeClr val="accent1"/>
          </a:effectRef>
          <a:fontRef idx="minor">
            <a:schemeClr val="tx1"/>
          </a:fontRef>
        </p:style>
      </p:cxnSp>
      <p:cxnSp>
        <p:nvCxnSpPr>
          <p:cNvPr id="9" name="S03_008"/>
          <p:cNvCxnSpPr/>
          <p:nvPr/>
        </p:nvCxnSpPr>
        <p:spPr>
          <a:xfrm flipH="1" flipV="1">
            <a:off x="1987807" y="2969214"/>
            <a:ext cx="44193" cy="91486"/>
          </a:xfrm>
          <a:prstGeom prst="line">
            <a:avLst/>
          </a:prstGeom>
          <a:ln w="25400">
            <a:solidFill>
              <a:srgbClr val="7FB0ED"/>
            </a:solidFill>
          </a:ln>
        </p:spPr>
        <p:style>
          <a:lnRef idx="2">
            <a:schemeClr val="accent1"/>
          </a:lnRef>
          <a:fillRef idx="0">
            <a:schemeClr val="accent1"/>
          </a:fillRef>
          <a:effectRef idx="1">
            <a:schemeClr val="accent1"/>
          </a:effectRef>
          <a:fontRef idx="minor">
            <a:schemeClr val="tx1"/>
          </a:fontRef>
        </p:style>
      </p:cxnSp>
      <p:cxnSp>
        <p:nvCxnSpPr>
          <p:cNvPr id="10" name="S03_009"/>
          <p:cNvCxnSpPr/>
          <p:nvPr/>
        </p:nvCxnSpPr>
        <p:spPr>
          <a:xfrm flipV="1">
            <a:off x="2032000" y="2969214"/>
            <a:ext cx="44192" cy="91486"/>
          </a:xfrm>
          <a:prstGeom prst="line">
            <a:avLst/>
          </a:prstGeom>
          <a:ln w="25400">
            <a:solidFill>
              <a:srgbClr val="7FB0ED"/>
            </a:solidFill>
          </a:ln>
        </p:spPr>
        <p:style>
          <a:lnRef idx="2">
            <a:schemeClr val="accent1"/>
          </a:lnRef>
          <a:fillRef idx="0">
            <a:schemeClr val="accent1"/>
          </a:fillRef>
          <a:effectRef idx="1">
            <a:schemeClr val="accent1"/>
          </a:effectRef>
          <a:fontRef idx="minor">
            <a:schemeClr val="tx1"/>
          </a:fontRef>
        </p:style>
      </p:cxnSp>
      <p:cxnSp>
        <p:nvCxnSpPr>
          <p:cNvPr id="11" name="S03_010"/>
          <p:cNvCxnSpPr/>
          <p:nvPr/>
        </p:nvCxnSpPr>
        <p:spPr>
          <a:xfrm>
            <a:off x="4254500" y="2743200"/>
            <a:ext cx="0" cy="3175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12" name="S03_011"/>
          <p:cNvCxnSpPr/>
          <p:nvPr/>
        </p:nvCxnSpPr>
        <p:spPr>
          <a:xfrm flipH="1" flipV="1">
            <a:off x="4210307" y="2969214"/>
            <a:ext cx="44193" cy="91486"/>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13" name="S03_012"/>
          <p:cNvCxnSpPr/>
          <p:nvPr/>
        </p:nvCxnSpPr>
        <p:spPr>
          <a:xfrm flipV="1">
            <a:off x="4254500" y="2969214"/>
            <a:ext cx="44192" cy="91486"/>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sp>
        <p:nvSpPr>
          <p:cNvPr id="14" name="S03_013"/>
          <p:cNvSpPr/>
          <p:nvPr/>
        </p:nvSpPr>
        <p:spPr>
          <a:xfrm>
            <a:off x="838200" y="3149600"/>
            <a:ext cx="2120900" cy="1054100"/>
          </a:xfrm>
          <a:prstGeom prst="roundRect">
            <a:avLst>
              <a:gd name="adj" fmla="val 8433"/>
            </a:avLst>
          </a:prstGeom>
          <a:solidFill>
            <a:srgbClr val="102135"/>
          </a:solidFill>
          <a:ln w="12700">
            <a:solidFill>
              <a:srgbClr val="7FB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3_014"/>
          <p:cNvSpPr txBox="1"/>
          <p:nvPr/>
        </p:nvSpPr>
        <p:spPr>
          <a:xfrm>
            <a:off x="990600" y="3352800"/>
            <a:ext cx="1816100" cy="330200"/>
          </a:xfrm>
          <a:prstGeom prst="rect">
            <a:avLst/>
          </a:prstGeom>
          <a:noFill/>
        </p:spPr>
        <p:txBody>
          <a:bodyPr wrap="none" lIns="0" rIns="0" tIns="0" bIns="0" anchor="t">
            <a:spAutoFit/>
          </a:bodyPr>
          <a:lstStyle/>
          <a:p>
            <a:pPr algn="ctr">
              <a:lnSpc>
                <a:spcPts val="2222"/>
              </a:lnSpc>
              <a:spcBef>
                <a:spcPts val="0"/>
              </a:spcBef>
              <a:spcAft>
                <a:spcPts val="0"/>
              </a:spcAft>
            </a:pPr>
            <a:r>
              <a:rPr sz="1900" b="1">
                <a:solidFill>
                  <a:srgbClr val="7FB0ED"/>
                </a:solidFill>
                <a:latin typeface="DejaVu Sans"/>
              </a:rPr>
              <a:t>Base policy</a:t>
            </a:r>
          </a:p>
        </p:txBody>
      </p:sp>
      <p:sp>
        <p:nvSpPr>
          <p:cNvPr id="16" name="S03_015"/>
          <p:cNvSpPr txBox="1"/>
          <p:nvPr/>
        </p:nvSpPr>
        <p:spPr>
          <a:xfrm>
            <a:off x="990600" y="3746500"/>
            <a:ext cx="1816100" cy="266700"/>
          </a:xfrm>
          <a:prstGeom prst="rect">
            <a:avLst/>
          </a:prstGeom>
          <a:noFill/>
        </p:spPr>
        <p:txBody>
          <a:bodyPr wrap="none" lIns="0" rIns="0" tIns="0" bIns="0" anchor="t">
            <a:spAutoFit/>
          </a:bodyPr>
          <a:lstStyle/>
          <a:p>
            <a:pPr algn="ctr">
              <a:lnSpc>
                <a:spcPts val="1754"/>
              </a:lnSpc>
              <a:spcBef>
                <a:spcPts val="0"/>
              </a:spcBef>
              <a:spcAft>
                <a:spcPts val="0"/>
              </a:spcAft>
            </a:pPr>
            <a:r>
              <a:rPr sz="1500" b="0">
                <a:solidFill>
                  <a:srgbClr val="AFBDD0"/>
                </a:solidFill>
                <a:latin typeface="DejaVu Sans"/>
              </a:rPr>
              <a:t>Frozen</a:t>
            </a:r>
          </a:p>
        </p:txBody>
      </p:sp>
      <p:sp>
        <p:nvSpPr>
          <p:cNvPr id="17" name="S03_016"/>
          <p:cNvSpPr/>
          <p:nvPr/>
        </p:nvSpPr>
        <p:spPr>
          <a:xfrm>
            <a:off x="3213100" y="3149600"/>
            <a:ext cx="2120900" cy="1054100"/>
          </a:xfrm>
          <a:prstGeom prst="roundRect">
            <a:avLst>
              <a:gd name="adj" fmla="val 8433"/>
            </a:avLst>
          </a:prstGeom>
          <a:solidFill>
            <a:srgbClr val="102135"/>
          </a:solidFill>
          <a:ln w="12700">
            <a:solidFill>
              <a:srgbClr val="42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3_017"/>
          <p:cNvSpPr txBox="1"/>
          <p:nvPr/>
        </p:nvSpPr>
        <p:spPr>
          <a:xfrm>
            <a:off x="3365500" y="3352800"/>
            <a:ext cx="1816100" cy="330200"/>
          </a:xfrm>
          <a:prstGeom prst="rect">
            <a:avLst/>
          </a:prstGeom>
          <a:noFill/>
        </p:spPr>
        <p:txBody>
          <a:bodyPr wrap="none" lIns="0" rIns="0" tIns="0" bIns="0" anchor="t">
            <a:spAutoFit/>
          </a:bodyPr>
          <a:lstStyle/>
          <a:p>
            <a:pPr algn="ctr">
              <a:lnSpc>
                <a:spcPts val="2222"/>
              </a:lnSpc>
              <a:spcBef>
                <a:spcPts val="0"/>
              </a:spcBef>
              <a:spcAft>
                <a:spcPts val="0"/>
              </a:spcAft>
            </a:pPr>
            <a:r>
              <a:rPr sz="1900" b="1">
                <a:solidFill>
                  <a:srgbClr val="42D7B4"/>
                </a:solidFill>
                <a:latin typeface="DejaVu Sans"/>
              </a:rPr>
              <a:t>Residual</a:t>
            </a:r>
          </a:p>
        </p:txBody>
      </p:sp>
      <p:sp>
        <p:nvSpPr>
          <p:cNvPr id="19" name="S03_018"/>
          <p:cNvSpPr txBox="1"/>
          <p:nvPr/>
        </p:nvSpPr>
        <p:spPr>
          <a:xfrm>
            <a:off x="3365500" y="3746500"/>
            <a:ext cx="1816100" cy="266700"/>
          </a:xfrm>
          <a:prstGeom prst="rect">
            <a:avLst/>
          </a:prstGeom>
          <a:noFill/>
        </p:spPr>
        <p:txBody>
          <a:bodyPr wrap="none" lIns="0" rIns="0" tIns="0" bIns="0" anchor="t">
            <a:spAutoFit/>
          </a:bodyPr>
          <a:lstStyle/>
          <a:p>
            <a:pPr algn="ctr">
              <a:lnSpc>
                <a:spcPts val="1754"/>
              </a:lnSpc>
              <a:spcBef>
                <a:spcPts val="0"/>
              </a:spcBef>
              <a:spcAft>
                <a:spcPts val="0"/>
              </a:spcAft>
            </a:pPr>
            <a:r>
              <a:rPr sz="1500" b="0">
                <a:solidFill>
                  <a:srgbClr val="AFBDD0"/>
                </a:solidFill>
                <a:latin typeface="DejaVu Sans"/>
              </a:rPr>
              <a:t>Learned</a:t>
            </a:r>
          </a:p>
        </p:txBody>
      </p:sp>
      <p:cxnSp>
        <p:nvCxnSpPr>
          <p:cNvPr id="20" name="S03_019"/>
          <p:cNvCxnSpPr/>
          <p:nvPr/>
        </p:nvCxnSpPr>
        <p:spPr>
          <a:xfrm>
            <a:off x="1905000" y="4267200"/>
            <a:ext cx="800100" cy="393700"/>
          </a:xfrm>
          <a:prstGeom prst="line">
            <a:avLst/>
          </a:prstGeom>
          <a:ln w="25400">
            <a:solidFill>
              <a:srgbClr val="7FB0ED"/>
            </a:solidFill>
          </a:ln>
        </p:spPr>
        <p:style>
          <a:lnRef idx="2">
            <a:schemeClr val="accent1"/>
          </a:lnRef>
          <a:fillRef idx="0">
            <a:schemeClr val="accent1"/>
          </a:fillRef>
          <a:effectRef idx="1">
            <a:schemeClr val="accent1"/>
          </a:effectRef>
          <a:fontRef idx="minor">
            <a:schemeClr val="tx1"/>
          </a:fontRef>
        </p:style>
      </p:cxnSp>
      <p:cxnSp>
        <p:nvCxnSpPr>
          <p:cNvPr id="21" name="S03_020"/>
          <p:cNvCxnSpPr/>
          <p:nvPr/>
        </p:nvCxnSpPr>
        <p:spPr>
          <a:xfrm flipH="1" flipV="1">
            <a:off x="2603502" y="4660160"/>
            <a:ext cx="101598" cy="740"/>
          </a:xfrm>
          <a:prstGeom prst="line">
            <a:avLst/>
          </a:prstGeom>
          <a:ln w="25400">
            <a:solidFill>
              <a:srgbClr val="7FB0ED"/>
            </a:solidFill>
          </a:ln>
        </p:spPr>
        <p:style>
          <a:lnRef idx="2">
            <a:schemeClr val="accent1"/>
          </a:lnRef>
          <a:fillRef idx="0">
            <a:schemeClr val="accent1"/>
          </a:fillRef>
          <a:effectRef idx="1">
            <a:schemeClr val="accent1"/>
          </a:effectRef>
          <a:fontRef idx="minor">
            <a:schemeClr val="tx1"/>
          </a:fontRef>
        </p:style>
      </p:cxnSp>
      <p:cxnSp>
        <p:nvCxnSpPr>
          <p:cNvPr id="22" name="S03_021"/>
          <p:cNvCxnSpPr/>
          <p:nvPr/>
        </p:nvCxnSpPr>
        <p:spPr>
          <a:xfrm flipH="1" flipV="1">
            <a:off x="2642525" y="4580856"/>
            <a:ext cx="62575" cy="80044"/>
          </a:xfrm>
          <a:prstGeom prst="line">
            <a:avLst/>
          </a:prstGeom>
          <a:ln w="25400">
            <a:solidFill>
              <a:srgbClr val="7FB0ED"/>
            </a:solidFill>
          </a:ln>
        </p:spPr>
        <p:style>
          <a:lnRef idx="2">
            <a:schemeClr val="accent1"/>
          </a:lnRef>
          <a:fillRef idx="0">
            <a:schemeClr val="accent1"/>
          </a:fillRef>
          <a:effectRef idx="1">
            <a:schemeClr val="accent1"/>
          </a:effectRef>
          <a:fontRef idx="minor">
            <a:schemeClr val="tx1"/>
          </a:fontRef>
        </p:style>
      </p:cxnSp>
      <p:cxnSp>
        <p:nvCxnSpPr>
          <p:cNvPr id="23" name="S03_022"/>
          <p:cNvCxnSpPr/>
          <p:nvPr/>
        </p:nvCxnSpPr>
        <p:spPr>
          <a:xfrm flipH="1">
            <a:off x="3429000" y="4267200"/>
            <a:ext cx="825500" cy="3937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4" name="S03_023"/>
          <p:cNvCxnSpPr/>
          <p:nvPr/>
        </p:nvCxnSpPr>
        <p:spPr>
          <a:xfrm flipV="1">
            <a:off x="3429000" y="4581629"/>
            <a:ext cx="63551" cy="79271"/>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5" name="S03_024"/>
          <p:cNvCxnSpPr/>
          <p:nvPr/>
        </p:nvCxnSpPr>
        <p:spPr>
          <a:xfrm>
            <a:off x="3429000" y="4660900"/>
            <a:ext cx="101598" cy="506"/>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pic>
        <p:nvPicPr>
          <p:cNvPr id="26" name="S03_025" descr="image.png"/>
          <p:cNvPicPr>
            <a:picLocks noChangeAspect="1"/>
          </p:cNvPicPr>
          <p:nvPr/>
        </p:nvPicPr>
        <p:blipFill>
          <a:blip r:embed="rId2"/>
          <a:stretch>
            <a:fillRect/>
          </a:stretch>
        </p:blipFill>
        <p:spPr>
          <a:xfrm>
            <a:off x="812800" y="4872161"/>
            <a:ext cx="4521200" cy="402976"/>
          </a:xfrm>
          <a:prstGeom prst="rect">
            <a:avLst/>
          </a:prstGeom>
        </p:spPr>
      </p:pic>
      <p:sp>
        <p:nvSpPr>
          <p:cNvPr id="27" name="S03_026"/>
          <p:cNvSpPr txBox="1"/>
          <p:nvPr/>
        </p:nvSpPr>
        <p:spPr>
          <a:xfrm>
            <a:off x="812800" y="5499100"/>
            <a:ext cx="4533900" cy="292100"/>
          </a:xfrm>
          <a:prstGeom prst="rect">
            <a:avLst/>
          </a:prstGeom>
          <a:noFill/>
        </p:spPr>
        <p:txBody>
          <a:bodyPr wrap="none" lIns="0" rIns="0" tIns="0" bIns="0" anchor="t">
            <a:spAutoFit/>
          </a:bodyPr>
          <a:lstStyle/>
          <a:p>
            <a:pPr algn="ctr">
              <a:lnSpc>
                <a:spcPts val="1521"/>
              </a:lnSpc>
              <a:spcBef>
                <a:spcPts val="0"/>
              </a:spcBef>
              <a:spcAft>
                <a:spcPts val="0"/>
              </a:spcAft>
            </a:pPr>
            <a:r>
              <a:rPr sz="1300" b="0">
                <a:solidFill>
                  <a:srgbClr val="AFBDD0"/>
                </a:solidFill>
                <a:latin typeface="DejaVu Sans"/>
              </a:rPr>
              <a:t>The base supplies samples, not likelihoods.</a:t>
            </a:r>
          </a:p>
        </p:txBody>
      </p:sp>
      <p:sp>
        <p:nvSpPr>
          <p:cNvPr id="28" name="MEDIA_A02_FRAME"/>
          <p:cNvSpPr/>
          <p:nvPr/>
        </p:nvSpPr>
        <p:spPr>
          <a:xfrm>
            <a:off x="5943600" y="2019300"/>
            <a:ext cx="5715000" cy="3860800"/>
          </a:xfrm>
          <a:prstGeom prst="roundRect">
            <a:avLst>
              <a:gd name="adj" fmla="val 2631"/>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EDIA_A02_LABEL"/>
          <p:cNvSpPr txBox="1"/>
          <p:nvPr/>
        </p:nvSpPr>
        <p:spPr>
          <a:xfrm>
            <a:off x="6146800" y="2171700"/>
            <a:ext cx="53086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A02 / Paired residual actions</a:t>
            </a:r>
          </a:p>
        </p:txBody>
      </p:sp>
      <p:sp>
        <p:nvSpPr>
          <p:cNvPr id="30" name="MEDIA_A02_STATUS"/>
          <p:cNvSpPr txBox="1"/>
          <p:nvPr/>
        </p:nvSpPr>
        <p:spPr>
          <a:xfrm>
            <a:off x="6146800" y="5588000"/>
            <a:ext cx="53086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ANIMATION RESERVED</a:t>
            </a:r>
          </a:p>
        </p:txBody>
      </p:sp>
      <p:sp>
        <p:nvSpPr>
          <p:cNvPr id="31" name="S03_030"/>
          <p:cNvSpPr txBox="1"/>
          <p:nvPr/>
        </p:nvSpPr>
        <p:spPr>
          <a:xfrm>
            <a:off x="6210300" y="2578100"/>
            <a:ext cx="5181600" cy="317500"/>
          </a:xfrm>
          <a:prstGeom prst="rect">
            <a:avLst/>
          </a:prstGeom>
          <a:noFill/>
        </p:spPr>
        <p:txBody>
          <a:bodyPr wrap="none" lIns="0" rIns="0" tIns="0" bIns="0" anchor="t">
            <a:spAutoFit/>
          </a:bodyPr>
          <a:lstStyle/>
          <a:p>
            <a:pPr algn="ctr">
              <a:lnSpc>
                <a:spcPts val="1989"/>
              </a:lnSpc>
              <a:spcBef>
                <a:spcPts val="0"/>
              </a:spcBef>
              <a:spcAft>
                <a:spcPts val="0"/>
              </a:spcAft>
            </a:pPr>
            <a:r>
              <a:rPr sz="1700" b="1">
                <a:solidFill>
                  <a:srgbClr val="F3F6FA"/>
                </a:solidFill>
                <a:latin typeface="DejaVu Sans"/>
              </a:rPr>
              <a:t>Same noise → consistent reference</a:t>
            </a:r>
          </a:p>
        </p:txBody>
      </p:sp>
      <p:sp>
        <p:nvSpPr>
          <p:cNvPr id="32" name="S03_031"/>
          <p:cNvSpPr/>
          <p:nvPr/>
        </p:nvSpPr>
        <p:spPr>
          <a:xfrm>
            <a:off x="6629400" y="3619500"/>
            <a:ext cx="127000" cy="1270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S03_032"/>
          <p:cNvCxnSpPr/>
          <p:nvPr/>
        </p:nvCxnSpPr>
        <p:spPr>
          <a:xfrm flipV="1">
            <a:off x="6794500" y="3429000"/>
            <a:ext cx="1206500" cy="2540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4" name="S03_033"/>
          <p:cNvCxnSpPr/>
          <p:nvPr/>
        </p:nvCxnSpPr>
        <p:spPr>
          <a:xfrm flipH="1">
            <a:off x="7920581" y="3429000"/>
            <a:ext cx="80419" cy="62091"/>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5" name="S03_034"/>
          <p:cNvCxnSpPr/>
          <p:nvPr/>
        </p:nvCxnSpPr>
        <p:spPr>
          <a:xfrm flipH="1" flipV="1">
            <a:off x="7902372" y="3404602"/>
            <a:ext cx="98628" cy="24398"/>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sp>
        <p:nvSpPr>
          <p:cNvPr id="36" name="S03_035"/>
          <p:cNvSpPr/>
          <p:nvPr/>
        </p:nvSpPr>
        <p:spPr>
          <a:xfrm>
            <a:off x="8039100" y="33655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03_036"/>
          <p:cNvSpPr/>
          <p:nvPr/>
        </p:nvSpPr>
        <p:spPr>
          <a:xfrm>
            <a:off x="6832600" y="4292600"/>
            <a:ext cx="127000" cy="1270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S03_037"/>
          <p:cNvCxnSpPr/>
          <p:nvPr/>
        </p:nvCxnSpPr>
        <p:spPr>
          <a:xfrm flipV="1">
            <a:off x="6997700" y="4254500"/>
            <a:ext cx="1346200" cy="1016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9" name="S03_038"/>
          <p:cNvCxnSpPr/>
          <p:nvPr/>
        </p:nvCxnSpPr>
        <p:spPr>
          <a:xfrm flipH="1">
            <a:off x="8255999" y="4254500"/>
            <a:ext cx="87901" cy="50952"/>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0" name="S03_039"/>
          <p:cNvCxnSpPr/>
          <p:nvPr/>
        </p:nvCxnSpPr>
        <p:spPr>
          <a:xfrm flipH="1" flipV="1">
            <a:off x="8249348" y="4217317"/>
            <a:ext cx="94552" cy="37183"/>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sp>
        <p:nvSpPr>
          <p:cNvPr id="41" name="S03_040"/>
          <p:cNvSpPr/>
          <p:nvPr/>
        </p:nvSpPr>
        <p:spPr>
          <a:xfrm>
            <a:off x="8382000" y="41910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03_041"/>
          <p:cNvSpPr/>
          <p:nvPr/>
        </p:nvSpPr>
        <p:spPr>
          <a:xfrm>
            <a:off x="7086600" y="4826000"/>
            <a:ext cx="127000" cy="1270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S03_042"/>
          <p:cNvCxnSpPr/>
          <p:nvPr/>
        </p:nvCxnSpPr>
        <p:spPr>
          <a:xfrm flipV="1">
            <a:off x="7251700" y="4775200"/>
            <a:ext cx="1587500" cy="114300"/>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4" name="S03_043"/>
          <p:cNvCxnSpPr/>
          <p:nvPr/>
        </p:nvCxnSpPr>
        <p:spPr>
          <a:xfrm flipH="1">
            <a:off x="8751124" y="4775200"/>
            <a:ext cx="88076" cy="50648"/>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5" name="S03_044"/>
          <p:cNvCxnSpPr/>
          <p:nvPr/>
        </p:nvCxnSpPr>
        <p:spPr>
          <a:xfrm flipH="1" flipV="1">
            <a:off x="8744777" y="4737691"/>
            <a:ext cx="94423" cy="37509"/>
          </a:xfrm>
          <a:prstGeom prst="line">
            <a:avLst/>
          </a:prstGeom>
          <a:ln w="25400">
            <a:solidFill>
              <a:srgbClr val="42D7B4"/>
            </a:solidFill>
          </a:ln>
        </p:spPr>
        <p:style>
          <a:lnRef idx="2">
            <a:schemeClr val="accent1"/>
          </a:lnRef>
          <a:fillRef idx="0">
            <a:schemeClr val="accent1"/>
          </a:fillRef>
          <a:effectRef idx="1">
            <a:schemeClr val="accent1"/>
          </a:effectRef>
          <a:fontRef idx="minor">
            <a:schemeClr val="tx1"/>
          </a:fontRef>
        </p:style>
      </p:cxnSp>
      <p:sp>
        <p:nvSpPr>
          <p:cNvPr id="46" name="S03_045"/>
          <p:cNvSpPr/>
          <p:nvPr/>
        </p:nvSpPr>
        <p:spPr>
          <a:xfrm>
            <a:off x="8877300" y="47117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03_046"/>
          <p:cNvSpPr txBox="1"/>
          <p:nvPr/>
        </p:nvSpPr>
        <p:spPr>
          <a:xfrm>
            <a:off x="9359900" y="3581400"/>
            <a:ext cx="1917700" cy="2921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7FB0ED"/>
                </a:solidFill>
                <a:latin typeface="DejaVu Sans"/>
              </a:rPr>
              <a:t>Base action</a:t>
            </a:r>
          </a:p>
        </p:txBody>
      </p:sp>
      <p:sp>
        <p:nvSpPr>
          <p:cNvPr id="48" name="S03_047"/>
          <p:cNvSpPr txBox="1"/>
          <p:nvPr/>
        </p:nvSpPr>
        <p:spPr>
          <a:xfrm>
            <a:off x="9359900" y="4038600"/>
            <a:ext cx="1917700" cy="558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42D7B4"/>
                </a:solidFill>
                <a:latin typeface="DejaVu Sans"/>
              </a:rPr>
              <a:t>Residual</a:t>
            </a:r>
          </a:p>
          <a:p>
            <a:pPr algn="l">
              <a:lnSpc>
                <a:spcPts val="1754"/>
              </a:lnSpc>
              <a:spcBef>
                <a:spcPts val="0"/>
              </a:spcBef>
              <a:spcAft>
                <a:spcPts val="0"/>
              </a:spcAft>
            </a:pPr>
            <a:r>
              <a:rPr sz="1500" b="0">
                <a:solidFill>
                  <a:srgbClr val="42D7B4"/>
                </a:solidFill>
                <a:latin typeface="DejaVu Sans"/>
              </a:rPr>
              <a:t>correction</a:t>
            </a:r>
          </a:p>
        </p:txBody>
      </p:sp>
      <p:sp>
        <p:nvSpPr>
          <p:cNvPr id="49" name="S03_048"/>
          <p:cNvSpPr txBox="1"/>
          <p:nvPr/>
        </p:nvSpPr>
        <p:spPr>
          <a:xfrm>
            <a:off x="9359900" y="4838700"/>
            <a:ext cx="1917700" cy="3175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8D9BAC"/>
                </a:solidFill>
                <a:latin typeface="DejaVu Sans"/>
              </a:rPr>
              <a:t>Current action</a:t>
            </a:r>
          </a:p>
        </p:txBody>
      </p:sp>
      <p:sp>
        <p:nvSpPr>
          <p:cNvPr id="50" name="MEDIA_A02_MASK"/>
          <p:cNvSpPr/>
          <p:nvPr/>
        </p:nvSpPr>
        <p:spPr>
          <a:xfrm>
            <a:off x="5943600" y="2019300"/>
            <a:ext cx="5715000" cy="386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S03_050" descr="image.png"/>
          <p:cNvPicPr>
            <a:picLocks noChangeAspect="1"/>
          </p:cNvPicPr>
          <p:nvPr/>
        </p:nvPicPr>
        <p:blipFill>
          <a:blip r:embed="rId3"/>
          <a:stretch>
            <a:fillRect/>
          </a:stretch>
        </p:blipFill>
        <p:spPr>
          <a:xfrm>
            <a:off x="5943600" y="2342356"/>
            <a:ext cx="5715000" cy="3214687"/>
          </a:xfrm>
          <a:prstGeom prst="rect">
            <a:avLst/>
          </a:prstGeom>
        </p:spPr>
      </p:pic>
      <p:pic>
        <p:nvPicPr>
          <p:cNvPr id="52" name="MEDIA_A02_VIDEO">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5943600" y="2342356"/>
            <a:ext cx="5715000" cy="3214687"/>
          </a:xfrm>
          <a:prstGeom prst="rect">
            <a:avLst/>
          </a:prstGeom>
        </p:spPr>
      </p:pic>
      <p:sp>
        <p:nvSpPr>
          <p:cNvPr id="53" name="S03_052"/>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54" name="S03_053"/>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03 / 10</a:t>
            </a:r>
          </a:p>
        </p:txBody>
      </p:sp>
      <p:sp>
        <p:nvSpPr>
          <p:cNvPr id="55" name="S03_054"/>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03_055"/>
          <p:cNvSpPr/>
          <p:nvPr/>
        </p:nvSpPr>
        <p:spPr>
          <a:xfrm>
            <a:off x="0" y="6807200"/>
            <a:ext cx="3048000"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15000"/>
  <p:timing>
    <p:tnLst>
      <p:par>
        <p:cTn id="1" dur="indefinite" restart="never" nodeType="tmRoot">
          <p:childTnLst>
            <p:video>
              <p:cMediaNode vol="80000">
                <p:cTn id="2" fill="hold" display="0">
                  <p:stCondLst>
                    <p:cond delay="0"/>
                  </p:stCondLst>
                </p:cTn>
                <p:tgtEl>
                  <p:spTgt spid="52"/>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4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CONSTRUCT THE TARGET</a:t>
            </a:r>
          </a:p>
        </p:txBody>
      </p:sp>
      <p:sp>
        <p:nvSpPr>
          <p:cNvPr id="3" name="S04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IDEA + METHOD</a:t>
            </a:r>
          </a:p>
        </p:txBody>
      </p:sp>
      <p:sp>
        <p:nvSpPr>
          <p:cNvPr id="4" name="S04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Propose. Restore. Limit the step.</a:t>
            </a:r>
          </a:p>
        </p:txBody>
      </p:sp>
      <p:sp>
        <p:nvSpPr>
          <p:cNvPr id="5" name="S04_004"/>
          <p:cNvSpPr/>
          <p:nvPr/>
        </p:nvSpPr>
        <p:spPr>
          <a:xfrm>
            <a:off x="546100" y="1955800"/>
            <a:ext cx="3479800" cy="1130300"/>
          </a:xfrm>
          <a:prstGeom prst="roundRect">
            <a:avLst>
              <a:gd name="adj" fmla="val 7865"/>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04_005"/>
          <p:cNvSpPr/>
          <p:nvPr/>
        </p:nvSpPr>
        <p:spPr>
          <a:xfrm>
            <a:off x="546100" y="1955800"/>
            <a:ext cx="50800" cy="1130300"/>
          </a:xfrm>
          <a:prstGeom prst="rect">
            <a:avLst/>
          </a:prstGeom>
          <a:solidFill>
            <a:srgbClr val="F0B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04_006"/>
          <p:cNvSpPr txBox="1"/>
          <p:nvPr/>
        </p:nvSpPr>
        <p:spPr>
          <a:xfrm>
            <a:off x="749300" y="2108200"/>
            <a:ext cx="30734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F0B360"/>
                </a:solidFill>
                <a:latin typeface="DejaVu Sans"/>
              </a:rPr>
              <a:t>1 Critic guidance</a:t>
            </a:r>
          </a:p>
        </p:txBody>
      </p:sp>
      <p:sp>
        <p:nvSpPr>
          <p:cNvPr id="8" name="S04_007"/>
          <p:cNvSpPr txBox="1"/>
          <p:nvPr/>
        </p:nvSpPr>
        <p:spPr>
          <a:xfrm>
            <a:off x="749300" y="2489200"/>
            <a:ext cx="3073400" cy="5334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Normalize and cap the proposal;</a:t>
            </a:r>
          </a:p>
          <a:p>
            <a:pPr algn="l">
              <a:lnSpc>
                <a:spcPts val="1638"/>
              </a:lnSpc>
              <a:spcBef>
                <a:spcPts val="0"/>
              </a:spcBef>
              <a:spcAft>
                <a:spcPts val="0"/>
              </a:spcAft>
            </a:pPr>
            <a:r>
              <a:rPr sz="1400" b="0">
                <a:solidFill>
                  <a:srgbClr val="AFBDD0"/>
                </a:solidFill>
                <a:latin typeface="DejaVu Sans"/>
              </a:rPr>
              <a:t>then scale it.</a:t>
            </a:r>
          </a:p>
        </p:txBody>
      </p:sp>
      <p:sp>
        <p:nvSpPr>
          <p:cNvPr id="9" name="S04_008"/>
          <p:cNvSpPr/>
          <p:nvPr/>
        </p:nvSpPr>
        <p:spPr>
          <a:xfrm>
            <a:off x="546100" y="3263900"/>
            <a:ext cx="3479800" cy="1219200"/>
          </a:xfrm>
          <a:prstGeom prst="roundRect">
            <a:avLst>
              <a:gd name="adj" fmla="val 7291"/>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4_009"/>
          <p:cNvSpPr/>
          <p:nvPr/>
        </p:nvSpPr>
        <p:spPr>
          <a:xfrm>
            <a:off x="546100" y="3263900"/>
            <a:ext cx="50800" cy="12192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4_010"/>
          <p:cNvSpPr txBox="1"/>
          <p:nvPr/>
        </p:nvSpPr>
        <p:spPr>
          <a:xfrm>
            <a:off x="749300" y="3416300"/>
            <a:ext cx="30734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42D7B4"/>
                </a:solidFill>
                <a:latin typeface="DejaVu Sans"/>
              </a:rPr>
              <a:t>2 Restoration</a:t>
            </a:r>
          </a:p>
        </p:txBody>
      </p:sp>
      <p:sp>
        <p:nvSpPr>
          <p:cNvPr id="12" name="S04_011"/>
          <p:cNvSpPr txBox="1"/>
          <p:nvPr/>
        </p:nvSpPr>
        <p:spPr>
          <a:xfrm>
            <a:off x="749300" y="3797300"/>
            <a:ext cx="3073400" cy="6223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Weak pull + stronger pull beyond</a:t>
            </a:r>
          </a:p>
          <a:p>
            <a:pPr algn="l">
              <a:lnSpc>
                <a:spcPts val="1638"/>
              </a:lnSpc>
              <a:spcBef>
                <a:spcPts val="0"/>
              </a:spcBef>
              <a:spcAft>
                <a:spcPts val="0"/>
              </a:spcAft>
            </a:pPr>
            <a:r>
              <a:rPr sz="1400" b="0">
                <a:solidFill>
                  <a:srgbClr val="AFBDD0"/>
                </a:solidFill>
                <a:latin typeface="DejaVu Sans"/>
              </a:rPr>
              <a:t>the reference radius.</a:t>
            </a:r>
          </a:p>
        </p:txBody>
      </p:sp>
      <p:sp>
        <p:nvSpPr>
          <p:cNvPr id="13" name="S04_012"/>
          <p:cNvSpPr/>
          <p:nvPr/>
        </p:nvSpPr>
        <p:spPr>
          <a:xfrm>
            <a:off x="546100" y="4660900"/>
            <a:ext cx="3479800" cy="1206500"/>
          </a:xfrm>
          <a:prstGeom prst="roundRect">
            <a:avLst>
              <a:gd name="adj" fmla="val 7368"/>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4_013"/>
          <p:cNvSpPr/>
          <p:nvPr/>
        </p:nvSpPr>
        <p:spPr>
          <a:xfrm>
            <a:off x="546100" y="4660900"/>
            <a:ext cx="50800" cy="1206500"/>
          </a:xfrm>
          <a:prstGeom prst="rect">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4_014"/>
          <p:cNvSpPr txBox="1"/>
          <p:nvPr/>
        </p:nvSpPr>
        <p:spPr>
          <a:xfrm>
            <a:off x="749300" y="4813300"/>
            <a:ext cx="30734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7FB0ED"/>
                </a:solidFill>
                <a:latin typeface="DejaVu Sans"/>
              </a:rPr>
              <a:t>3 Combined cap</a:t>
            </a:r>
          </a:p>
        </p:txBody>
      </p:sp>
      <p:sp>
        <p:nvSpPr>
          <p:cNvPr id="16" name="S04_015"/>
          <p:cNvSpPr txBox="1"/>
          <p:nvPr/>
        </p:nvSpPr>
        <p:spPr>
          <a:xfrm>
            <a:off x="749300" y="5194300"/>
            <a:ext cx="3073400" cy="6096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Limit the final target step from</a:t>
            </a:r>
          </a:p>
          <a:p>
            <a:pPr algn="l">
              <a:lnSpc>
                <a:spcPts val="1638"/>
              </a:lnSpc>
              <a:spcBef>
                <a:spcPts val="0"/>
              </a:spcBef>
              <a:spcAft>
                <a:spcPts val="0"/>
              </a:spcAft>
            </a:pPr>
            <a:r>
              <a:rPr sz="1400" b="0">
                <a:solidFill>
                  <a:srgbClr val="AFBDD0"/>
                </a:solidFill>
                <a:latin typeface="DejaVu Sans"/>
              </a:rPr>
              <a:t>the current action.</a:t>
            </a:r>
          </a:p>
        </p:txBody>
      </p:sp>
      <p:sp>
        <p:nvSpPr>
          <p:cNvPr id="17" name="MEDIA_A03_FRAME"/>
          <p:cNvSpPr/>
          <p:nvPr/>
        </p:nvSpPr>
        <p:spPr>
          <a:xfrm>
            <a:off x="4343400" y="1841500"/>
            <a:ext cx="7315200" cy="4114800"/>
          </a:xfrm>
          <a:prstGeom prst="roundRect">
            <a:avLst>
              <a:gd name="adj" fmla="val 2469"/>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EDIA_A03_LABEL"/>
          <p:cNvSpPr txBox="1"/>
          <p:nvPr/>
        </p:nvSpPr>
        <p:spPr>
          <a:xfrm>
            <a:off x="4546600" y="1993900"/>
            <a:ext cx="69088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A03 / Construct the action target</a:t>
            </a:r>
          </a:p>
        </p:txBody>
      </p:sp>
      <p:sp>
        <p:nvSpPr>
          <p:cNvPr id="19" name="MEDIA_A03_STATUS"/>
          <p:cNvSpPr txBox="1"/>
          <p:nvPr/>
        </p:nvSpPr>
        <p:spPr>
          <a:xfrm>
            <a:off x="4546600" y="5664200"/>
            <a:ext cx="69088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ANIMATION RESERVED</a:t>
            </a:r>
          </a:p>
        </p:txBody>
      </p:sp>
      <p:sp>
        <p:nvSpPr>
          <p:cNvPr id="20" name="S04_019"/>
          <p:cNvSpPr/>
          <p:nvPr/>
        </p:nvSpPr>
        <p:spPr>
          <a:xfrm>
            <a:off x="4787900" y="3556000"/>
            <a:ext cx="1651000" cy="1651000"/>
          </a:xfrm>
          <a:prstGeom prst="ellipse">
            <a:avLst/>
          </a:prstGeom>
          <a:noFill/>
          <a:ln w="12700">
            <a:solidFill>
              <a:srgbClr val="7FB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04_020"/>
          <p:cNvSpPr/>
          <p:nvPr/>
        </p:nvSpPr>
        <p:spPr>
          <a:xfrm>
            <a:off x="6654800" y="2997200"/>
            <a:ext cx="1524000" cy="1524000"/>
          </a:xfrm>
          <a:prstGeom prst="ellipse">
            <a:avLst/>
          </a:prstGeom>
          <a:noFill/>
          <a:ln w="12700">
            <a:solidFill>
              <a:srgbClr val="AFB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04_021"/>
          <p:cNvSpPr/>
          <p:nvPr/>
        </p:nvSpPr>
        <p:spPr>
          <a:xfrm>
            <a:off x="5537200" y="4305300"/>
            <a:ext cx="152400" cy="152400"/>
          </a:xfrm>
          <a:prstGeom prst="ellipse">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04_022"/>
          <p:cNvSpPr/>
          <p:nvPr/>
        </p:nvSpPr>
        <p:spPr>
          <a:xfrm>
            <a:off x="7340600" y="3683000"/>
            <a:ext cx="152400" cy="1524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S04_023"/>
          <p:cNvCxnSpPr/>
          <p:nvPr/>
        </p:nvCxnSpPr>
        <p:spPr>
          <a:xfrm flipV="1">
            <a:off x="5613400" y="3759200"/>
            <a:ext cx="1803400" cy="622300"/>
          </a:xfrm>
          <a:prstGeom prst="line">
            <a:avLst/>
          </a:prstGeom>
          <a:ln w="12700">
            <a:solidFill>
              <a:srgbClr val="7FB0ED"/>
            </a:solidFill>
            <a:prstDash val="dash"/>
          </a:ln>
        </p:spPr>
        <p:style>
          <a:lnRef idx="2">
            <a:schemeClr val="accent1"/>
          </a:lnRef>
          <a:fillRef idx="0">
            <a:schemeClr val="accent1"/>
          </a:fillRef>
          <a:effectRef idx="1">
            <a:schemeClr val="accent1"/>
          </a:effectRef>
          <a:fontRef idx="minor">
            <a:schemeClr val="tx1"/>
          </a:fontRef>
        </p:style>
      </p:cxnSp>
      <p:cxnSp>
        <p:nvCxnSpPr>
          <p:cNvPr id="25" name="S04_024"/>
          <p:cNvCxnSpPr/>
          <p:nvPr/>
        </p:nvCxnSpPr>
        <p:spPr>
          <a:xfrm flipV="1">
            <a:off x="7416800" y="2959100"/>
            <a:ext cx="2057400" cy="800100"/>
          </a:xfrm>
          <a:prstGeom prst="line">
            <a:avLst/>
          </a:prstGeom>
          <a:ln w="381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6" name="S04_025"/>
          <p:cNvCxnSpPr/>
          <p:nvPr/>
        </p:nvCxnSpPr>
        <p:spPr>
          <a:xfrm flipH="1">
            <a:off x="9404952" y="2959100"/>
            <a:ext cx="69248" cy="74346"/>
          </a:xfrm>
          <a:prstGeom prst="line">
            <a:avLst/>
          </a:prstGeom>
          <a:ln w="381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7" name="S04_026"/>
          <p:cNvCxnSpPr/>
          <p:nvPr/>
        </p:nvCxnSpPr>
        <p:spPr>
          <a:xfrm flipH="1" flipV="1">
            <a:off x="9372917" y="2951070"/>
            <a:ext cx="101283" cy="8030"/>
          </a:xfrm>
          <a:prstGeom prst="line">
            <a:avLst/>
          </a:prstGeom>
          <a:ln w="38100">
            <a:solidFill>
              <a:srgbClr val="F0B360"/>
            </a:solidFill>
          </a:ln>
        </p:spPr>
        <p:style>
          <a:lnRef idx="2">
            <a:schemeClr val="accent1"/>
          </a:lnRef>
          <a:fillRef idx="0">
            <a:schemeClr val="accent1"/>
          </a:fillRef>
          <a:effectRef idx="1">
            <a:schemeClr val="accent1"/>
          </a:effectRef>
          <a:fontRef idx="minor">
            <a:schemeClr val="tx1"/>
          </a:fontRef>
        </p:style>
      </p:cxnSp>
      <p:cxnSp>
        <p:nvCxnSpPr>
          <p:cNvPr id="28" name="S04_027"/>
          <p:cNvCxnSpPr/>
          <p:nvPr/>
        </p:nvCxnSpPr>
        <p:spPr>
          <a:xfrm flipH="1">
            <a:off x="8674100" y="2959100"/>
            <a:ext cx="800100" cy="279400"/>
          </a:xfrm>
          <a:prstGeom prst="line">
            <a:avLst/>
          </a:prstGeom>
          <a:ln w="381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9" name="S04_028"/>
          <p:cNvCxnSpPr/>
          <p:nvPr/>
        </p:nvCxnSpPr>
        <p:spPr>
          <a:xfrm flipV="1">
            <a:off x="8674100" y="3166617"/>
            <a:ext cx="71801" cy="71883"/>
          </a:xfrm>
          <a:prstGeom prst="line">
            <a:avLst/>
          </a:prstGeom>
          <a:ln w="381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0" name="S04_029"/>
          <p:cNvCxnSpPr/>
          <p:nvPr/>
        </p:nvCxnSpPr>
        <p:spPr>
          <a:xfrm>
            <a:off x="8674100" y="3238500"/>
            <a:ext cx="100940" cy="11560"/>
          </a:xfrm>
          <a:prstGeom prst="line">
            <a:avLst/>
          </a:prstGeom>
          <a:ln w="381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1" name="S04_030"/>
          <p:cNvCxnSpPr/>
          <p:nvPr/>
        </p:nvCxnSpPr>
        <p:spPr>
          <a:xfrm flipV="1">
            <a:off x="7416800" y="3467100"/>
            <a:ext cx="698500" cy="292100"/>
          </a:xfrm>
          <a:prstGeom prst="line">
            <a:avLst/>
          </a:prstGeom>
          <a:ln w="381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2" name="S04_031"/>
          <p:cNvCxnSpPr/>
          <p:nvPr/>
        </p:nvCxnSpPr>
        <p:spPr>
          <a:xfrm flipH="1">
            <a:off x="8047947" y="3467100"/>
            <a:ext cx="67353" cy="76066"/>
          </a:xfrm>
          <a:prstGeom prst="line">
            <a:avLst/>
          </a:prstGeom>
          <a:ln w="3810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3" name="S04_032"/>
          <p:cNvCxnSpPr/>
          <p:nvPr/>
        </p:nvCxnSpPr>
        <p:spPr>
          <a:xfrm flipH="1" flipV="1">
            <a:off x="8013847" y="3461624"/>
            <a:ext cx="101453" cy="5476"/>
          </a:xfrm>
          <a:prstGeom prst="line">
            <a:avLst/>
          </a:prstGeom>
          <a:ln w="38100">
            <a:solidFill>
              <a:srgbClr val="42D7B4"/>
            </a:solidFill>
          </a:ln>
        </p:spPr>
        <p:style>
          <a:lnRef idx="2">
            <a:schemeClr val="accent1"/>
          </a:lnRef>
          <a:fillRef idx="0">
            <a:schemeClr val="accent1"/>
          </a:fillRef>
          <a:effectRef idx="1">
            <a:schemeClr val="accent1"/>
          </a:effectRef>
          <a:fontRef idx="minor">
            <a:schemeClr val="tx1"/>
          </a:fontRef>
        </p:style>
      </p:cxnSp>
      <p:sp>
        <p:nvSpPr>
          <p:cNvPr id="34" name="S04_033"/>
          <p:cNvSpPr/>
          <p:nvPr/>
        </p:nvSpPr>
        <p:spPr>
          <a:xfrm>
            <a:off x="8026400" y="3378200"/>
            <a:ext cx="177800" cy="177800"/>
          </a:xfrm>
          <a:prstGeom prst="ellipse">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04_034"/>
          <p:cNvSpPr txBox="1"/>
          <p:nvPr/>
        </p:nvSpPr>
        <p:spPr>
          <a:xfrm>
            <a:off x="4902200" y="5270500"/>
            <a:ext cx="1524000" cy="2540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7FB0ED"/>
                </a:solidFill>
                <a:latin typeface="DejaVu Sans"/>
              </a:rPr>
              <a:t>Paired base</a:t>
            </a:r>
          </a:p>
        </p:txBody>
      </p:sp>
      <p:sp>
        <p:nvSpPr>
          <p:cNvPr id="36" name="S04_035"/>
          <p:cNvSpPr txBox="1"/>
          <p:nvPr/>
        </p:nvSpPr>
        <p:spPr>
          <a:xfrm>
            <a:off x="7099300" y="4699000"/>
            <a:ext cx="2006600" cy="2921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Current action</a:t>
            </a:r>
          </a:p>
        </p:txBody>
      </p:sp>
      <p:sp>
        <p:nvSpPr>
          <p:cNvPr id="37" name="S04_036"/>
          <p:cNvSpPr txBox="1"/>
          <p:nvPr/>
        </p:nvSpPr>
        <p:spPr>
          <a:xfrm>
            <a:off x="8915400" y="2463800"/>
            <a:ext cx="2070100" cy="3175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F0B360"/>
                </a:solidFill>
                <a:latin typeface="DejaVu Sans"/>
              </a:rPr>
              <a:t>Critic proposal</a:t>
            </a:r>
          </a:p>
        </p:txBody>
      </p:sp>
      <p:sp>
        <p:nvSpPr>
          <p:cNvPr id="38" name="S04_037"/>
          <p:cNvSpPr txBox="1"/>
          <p:nvPr/>
        </p:nvSpPr>
        <p:spPr>
          <a:xfrm>
            <a:off x="9436100" y="3556000"/>
            <a:ext cx="1905000" cy="5461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42D7B4"/>
                </a:solidFill>
                <a:latin typeface="DejaVu Sans"/>
              </a:rPr>
              <a:t>Restoring</a:t>
            </a:r>
          </a:p>
          <a:p>
            <a:pPr algn="l">
              <a:lnSpc>
                <a:spcPts val="1638"/>
              </a:lnSpc>
              <a:spcBef>
                <a:spcPts val="0"/>
              </a:spcBef>
              <a:spcAft>
                <a:spcPts val="0"/>
              </a:spcAft>
            </a:pPr>
            <a:r>
              <a:rPr sz="1400" b="0">
                <a:solidFill>
                  <a:srgbClr val="42D7B4"/>
                </a:solidFill>
                <a:latin typeface="DejaVu Sans"/>
              </a:rPr>
              <a:t>correction</a:t>
            </a:r>
          </a:p>
        </p:txBody>
      </p:sp>
      <p:sp>
        <p:nvSpPr>
          <p:cNvPr id="39" name="S04_038"/>
          <p:cNvSpPr txBox="1"/>
          <p:nvPr/>
        </p:nvSpPr>
        <p:spPr>
          <a:xfrm>
            <a:off x="8242300" y="4127500"/>
            <a:ext cx="2311400" cy="317500"/>
          </a:xfrm>
          <a:prstGeom prst="rect">
            <a:avLst/>
          </a:prstGeom>
          <a:noFill/>
        </p:spPr>
        <p:txBody>
          <a:bodyPr wrap="none" lIns="0" rIns="0" tIns="0" bIns="0" anchor="t">
            <a:spAutoFit/>
          </a:bodyPr>
          <a:lstStyle/>
          <a:p>
            <a:pPr algn="l">
              <a:lnSpc>
                <a:spcPts val="1754"/>
              </a:lnSpc>
              <a:spcBef>
                <a:spcPts val="0"/>
              </a:spcBef>
              <a:spcAft>
                <a:spcPts val="0"/>
              </a:spcAft>
            </a:pPr>
            <a:r>
              <a:rPr sz="1500" b="1">
                <a:solidFill>
                  <a:srgbClr val="42D7B4"/>
                </a:solidFill>
                <a:latin typeface="DejaVu Sans"/>
              </a:rPr>
              <a:t>Capped target</a:t>
            </a:r>
          </a:p>
        </p:txBody>
      </p:sp>
      <p:sp>
        <p:nvSpPr>
          <p:cNvPr id="40" name="S04_039"/>
          <p:cNvSpPr txBox="1"/>
          <p:nvPr/>
        </p:nvSpPr>
        <p:spPr>
          <a:xfrm>
            <a:off x="4457700" y="6096000"/>
            <a:ext cx="7086600" cy="317500"/>
          </a:xfrm>
          <a:prstGeom prst="rect">
            <a:avLst/>
          </a:prstGeom>
          <a:noFill/>
        </p:spPr>
        <p:txBody>
          <a:bodyPr wrap="none" lIns="0" rIns="0" tIns="0" bIns="0" anchor="t">
            <a:spAutoFit/>
          </a:bodyPr>
          <a:lstStyle/>
          <a:p>
            <a:pPr algn="ctr">
              <a:lnSpc>
                <a:spcPts val="1521"/>
              </a:lnSpc>
              <a:spcBef>
                <a:spcPts val="0"/>
              </a:spcBef>
              <a:spcAft>
                <a:spcPts val="0"/>
              </a:spcAft>
            </a:pPr>
            <a:r>
              <a:rPr sz="1300" b="0">
                <a:solidFill>
                  <a:srgbClr val="AFBDD0"/>
                </a:solidFill>
                <a:latin typeface="DejaVu Sans"/>
              </a:rPr>
              <a:t>Targets are constrained; fitted outputs are not hard-bounded.</a:t>
            </a:r>
          </a:p>
        </p:txBody>
      </p:sp>
      <p:sp>
        <p:nvSpPr>
          <p:cNvPr id="41" name="MEDIA_A03_MASK"/>
          <p:cNvSpPr/>
          <p:nvPr/>
        </p:nvSpPr>
        <p:spPr>
          <a:xfrm>
            <a:off x="4343400" y="1841500"/>
            <a:ext cx="7315200" cy="4114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S04_041" descr="image.png"/>
          <p:cNvPicPr>
            <a:picLocks noChangeAspect="1"/>
          </p:cNvPicPr>
          <p:nvPr/>
        </p:nvPicPr>
        <p:blipFill>
          <a:blip r:embed="rId2"/>
          <a:stretch>
            <a:fillRect/>
          </a:stretch>
        </p:blipFill>
        <p:spPr>
          <a:xfrm>
            <a:off x="4343400" y="1841500"/>
            <a:ext cx="7315200" cy="4114800"/>
          </a:xfrm>
          <a:prstGeom prst="rect">
            <a:avLst/>
          </a:prstGeom>
        </p:spPr>
      </p:pic>
      <p:pic>
        <p:nvPicPr>
          <p:cNvPr id="43" name="MEDIA_A03_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4343400" y="1841500"/>
            <a:ext cx="7315200" cy="4114800"/>
          </a:xfrm>
          <a:prstGeom prst="rect">
            <a:avLst/>
          </a:prstGeom>
        </p:spPr>
      </p:pic>
      <p:sp>
        <p:nvSpPr>
          <p:cNvPr id="44" name="S04_043"/>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45" name="S04_044"/>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04 / 10</a:t>
            </a:r>
          </a:p>
        </p:txBody>
      </p:sp>
      <p:sp>
        <p:nvSpPr>
          <p:cNvPr id="46" name="S04_045"/>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04_046"/>
          <p:cNvSpPr/>
          <p:nvPr/>
        </p:nvSpPr>
        <p:spPr>
          <a:xfrm>
            <a:off x="0" y="6807200"/>
            <a:ext cx="4741333"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25000"/>
  <p:timing>
    <p:tnLst>
      <p:par>
        <p:cTn id="1" dur="indefinite" restart="never" nodeType="tmRoot">
          <p:childTnLst>
            <p:video>
              <p:cMediaNode vol="80000">
                <p:cTn id="2" fill="hold" display="0">
                  <p:stCondLst>
                    <p:cond delay="0"/>
                  </p:stCondLst>
                </p:cTn>
                <p:tgtEl>
                  <p:spTgt spid="4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5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LEARN AND REPEAT</a:t>
            </a:r>
          </a:p>
        </p:txBody>
      </p:sp>
      <p:sp>
        <p:nvSpPr>
          <p:cNvPr id="3" name="S05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IDEA + METHOD</a:t>
            </a:r>
          </a:p>
        </p:txBody>
      </p:sp>
      <p:sp>
        <p:nvSpPr>
          <p:cNvPr id="4" name="S05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A soft reference, learned through fixed targets.</a:t>
            </a:r>
          </a:p>
        </p:txBody>
      </p:sp>
      <p:sp>
        <p:nvSpPr>
          <p:cNvPr id="5" name="MEDIA_A04_FRAME"/>
          <p:cNvSpPr/>
          <p:nvPr/>
        </p:nvSpPr>
        <p:spPr>
          <a:xfrm>
            <a:off x="533400" y="1905000"/>
            <a:ext cx="6273800" cy="3708400"/>
          </a:xfrm>
          <a:prstGeom prst="roundRect">
            <a:avLst>
              <a:gd name="adj" fmla="val 2739"/>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DIA_A04_LABEL"/>
          <p:cNvSpPr txBox="1"/>
          <p:nvPr/>
        </p:nvSpPr>
        <p:spPr>
          <a:xfrm>
            <a:off x="736600" y="2057400"/>
            <a:ext cx="58674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A04 / Fit → refresh targets</a:t>
            </a:r>
          </a:p>
        </p:txBody>
      </p:sp>
      <p:sp>
        <p:nvSpPr>
          <p:cNvPr id="7" name="MEDIA_A04_STATUS"/>
          <p:cNvSpPr txBox="1"/>
          <p:nvPr/>
        </p:nvSpPr>
        <p:spPr>
          <a:xfrm>
            <a:off x="736600" y="5321300"/>
            <a:ext cx="58674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ANIMATION RESERVED</a:t>
            </a:r>
          </a:p>
        </p:txBody>
      </p:sp>
      <p:sp>
        <p:nvSpPr>
          <p:cNvPr id="8" name="S05_007"/>
          <p:cNvSpPr txBox="1"/>
          <p:nvPr/>
        </p:nvSpPr>
        <p:spPr>
          <a:xfrm>
            <a:off x="825500" y="2463800"/>
            <a:ext cx="5638800" cy="317500"/>
          </a:xfrm>
          <a:prstGeom prst="rect">
            <a:avLst/>
          </a:prstGeom>
          <a:noFill/>
        </p:spPr>
        <p:txBody>
          <a:bodyPr wrap="none" lIns="0" rIns="0" tIns="0" bIns="0" anchor="t">
            <a:spAutoFit/>
          </a:bodyPr>
          <a:lstStyle/>
          <a:p>
            <a:pPr algn="ctr">
              <a:lnSpc>
                <a:spcPts val="1872"/>
              </a:lnSpc>
              <a:spcBef>
                <a:spcPts val="0"/>
              </a:spcBef>
              <a:spcAft>
                <a:spcPts val="0"/>
              </a:spcAft>
            </a:pPr>
            <a:r>
              <a:rPr sz="1600" b="0">
                <a:solidFill>
                  <a:srgbClr val="F3F6FA"/>
                </a:solidFill>
                <a:latin typeface="DejaVu Sans"/>
              </a:rPr>
              <a:t>Targets stay fixed during the actor update.</a:t>
            </a:r>
          </a:p>
        </p:txBody>
      </p:sp>
      <p:sp>
        <p:nvSpPr>
          <p:cNvPr id="9" name="S05_008"/>
          <p:cNvSpPr/>
          <p:nvPr/>
        </p:nvSpPr>
        <p:spPr>
          <a:xfrm>
            <a:off x="1371600" y="35179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S05_009"/>
          <p:cNvCxnSpPr/>
          <p:nvPr/>
        </p:nvCxnSpPr>
        <p:spPr>
          <a:xfrm flipV="1">
            <a:off x="1498600" y="3467100"/>
            <a:ext cx="825500" cy="8890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11" name="S05_010"/>
          <p:cNvCxnSpPr/>
          <p:nvPr/>
        </p:nvCxnSpPr>
        <p:spPr>
          <a:xfrm flipH="1">
            <a:off x="2259429" y="3467100"/>
            <a:ext cx="64671" cy="4030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12" name="S05_011"/>
          <p:cNvCxnSpPr/>
          <p:nvPr/>
        </p:nvCxnSpPr>
        <p:spPr>
          <a:xfrm flipH="1" flipV="1">
            <a:off x="2252331" y="3441492"/>
            <a:ext cx="71769" cy="25608"/>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sp>
        <p:nvSpPr>
          <p:cNvPr id="13" name="S05_012"/>
          <p:cNvSpPr/>
          <p:nvPr/>
        </p:nvSpPr>
        <p:spPr>
          <a:xfrm>
            <a:off x="2336800" y="3378200"/>
            <a:ext cx="127000" cy="1270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5_013"/>
          <p:cNvSpPr/>
          <p:nvPr/>
        </p:nvSpPr>
        <p:spPr>
          <a:xfrm>
            <a:off x="1739900" y="40767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S05_014"/>
          <p:cNvCxnSpPr/>
          <p:nvPr/>
        </p:nvCxnSpPr>
        <p:spPr>
          <a:xfrm flipV="1">
            <a:off x="1866900" y="3860800"/>
            <a:ext cx="609600" cy="25400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16" name="S05_015"/>
          <p:cNvCxnSpPr/>
          <p:nvPr/>
        </p:nvCxnSpPr>
        <p:spPr>
          <a:xfrm flipH="1">
            <a:off x="2425911" y="3860800"/>
            <a:ext cx="50589" cy="56984"/>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17" name="S05_016"/>
          <p:cNvCxnSpPr/>
          <p:nvPr/>
        </p:nvCxnSpPr>
        <p:spPr>
          <a:xfrm flipH="1" flipV="1">
            <a:off x="2400416" y="3856595"/>
            <a:ext cx="76084" cy="4205"/>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sp>
        <p:nvSpPr>
          <p:cNvPr id="18" name="S05_017"/>
          <p:cNvSpPr/>
          <p:nvPr/>
        </p:nvSpPr>
        <p:spPr>
          <a:xfrm>
            <a:off x="2489200" y="3771900"/>
            <a:ext cx="127000" cy="1270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5_018"/>
          <p:cNvSpPr/>
          <p:nvPr/>
        </p:nvSpPr>
        <p:spPr>
          <a:xfrm>
            <a:off x="3238500" y="39497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S05_019"/>
          <p:cNvCxnSpPr/>
          <p:nvPr/>
        </p:nvCxnSpPr>
        <p:spPr>
          <a:xfrm flipV="1">
            <a:off x="3365500" y="3644900"/>
            <a:ext cx="203200" cy="34290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1" name="S05_020"/>
          <p:cNvCxnSpPr/>
          <p:nvPr/>
        </p:nvCxnSpPr>
        <p:spPr>
          <a:xfrm flipH="1">
            <a:off x="3562234" y="3644900"/>
            <a:ext cx="6466" cy="75925"/>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2" name="S05_021"/>
          <p:cNvCxnSpPr/>
          <p:nvPr/>
        </p:nvCxnSpPr>
        <p:spPr>
          <a:xfrm flipH="1">
            <a:off x="3505206" y="3644900"/>
            <a:ext cx="63494" cy="42131"/>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sp>
        <p:nvSpPr>
          <p:cNvPr id="23" name="S05_022"/>
          <p:cNvSpPr/>
          <p:nvPr/>
        </p:nvSpPr>
        <p:spPr>
          <a:xfrm>
            <a:off x="3581400" y="3556000"/>
            <a:ext cx="127000" cy="1270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5_023"/>
          <p:cNvSpPr/>
          <p:nvPr/>
        </p:nvSpPr>
        <p:spPr>
          <a:xfrm>
            <a:off x="4533900" y="37465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S05_024"/>
          <p:cNvCxnSpPr/>
          <p:nvPr/>
        </p:nvCxnSpPr>
        <p:spPr>
          <a:xfrm flipH="1" flipV="1">
            <a:off x="4305300" y="3378200"/>
            <a:ext cx="355600" cy="40640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6" name="S05_025"/>
          <p:cNvCxnSpPr/>
          <p:nvPr/>
        </p:nvCxnSpPr>
        <p:spPr>
          <a:xfrm>
            <a:off x="4305300" y="3378200"/>
            <a:ext cx="70126" cy="29811"/>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27" name="S05_026"/>
          <p:cNvCxnSpPr/>
          <p:nvPr/>
        </p:nvCxnSpPr>
        <p:spPr>
          <a:xfrm>
            <a:off x="4305300" y="3378200"/>
            <a:ext cx="20238" cy="73463"/>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sp>
        <p:nvSpPr>
          <p:cNvPr id="28" name="S05_027"/>
          <p:cNvSpPr/>
          <p:nvPr/>
        </p:nvSpPr>
        <p:spPr>
          <a:xfrm>
            <a:off x="4318000" y="3289300"/>
            <a:ext cx="127000" cy="1270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05_028"/>
          <p:cNvSpPr/>
          <p:nvPr/>
        </p:nvSpPr>
        <p:spPr>
          <a:xfrm>
            <a:off x="5168900" y="4394200"/>
            <a:ext cx="127000" cy="127000"/>
          </a:xfrm>
          <a:prstGeom prst="ellipse">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S05_029"/>
          <p:cNvCxnSpPr/>
          <p:nvPr/>
        </p:nvCxnSpPr>
        <p:spPr>
          <a:xfrm flipH="1" flipV="1">
            <a:off x="4686300" y="4064000"/>
            <a:ext cx="609600" cy="36830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1" name="S05_030"/>
          <p:cNvCxnSpPr/>
          <p:nvPr/>
        </p:nvCxnSpPr>
        <p:spPr>
          <a:xfrm>
            <a:off x="4686300" y="4064000"/>
            <a:ext cx="75867" cy="7112"/>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32" name="S05_031"/>
          <p:cNvCxnSpPr/>
          <p:nvPr/>
        </p:nvCxnSpPr>
        <p:spPr>
          <a:xfrm>
            <a:off x="4686300" y="4064000"/>
            <a:ext cx="41588" cy="63850"/>
          </a:xfrm>
          <a:prstGeom prst="line">
            <a:avLst/>
          </a:prstGeom>
          <a:ln w="21590">
            <a:solidFill>
              <a:srgbClr val="42D7B4"/>
            </a:solidFill>
          </a:ln>
        </p:spPr>
        <p:style>
          <a:lnRef idx="2">
            <a:schemeClr val="accent1"/>
          </a:lnRef>
          <a:fillRef idx="0">
            <a:schemeClr val="accent1"/>
          </a:fillRef>
          <a:effectRef idx="1">
            <a:schemeClr val="accent1"/>
          </a:effectRef>
          <a:fontRef idx="minor">
            <a:schemeClr val="tx1"/>
          </a:fontRef>
        </p:style>
      </p:cxnSp>
      <p:sp>
        <p:nvSpPr>
          <p:cNvPr id="33" name="S05_032"/>
          <p:cNvSpPr/>
          <p:nvPr/>
        </p:nvSpPr>
        <p:spPr>
          <a:xfrm>
            <a:off x="4699000" y="3975100"/>
            <a:ext cx="127000" cy="1270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5_033"/>
          <p:cNvSpPr txBox="1"/>
          <p:nvPr/>
        </p:nvSpPr>
        <p:spPr>
          <a:xfrm>
            <a:off x="914400" y="4724400"/>
            <a:ext cx="5334000" cy="342900"/>
          </a:xfrm>
          <a:prstGeom prst="rect">
            <a:avLst/>
          </a:prstGeom>
          <a:noFill/>
        </p:spPr>
        <p:txBody>
          <a:bodyPr wrap="none" lIns="0" rIns="0" tIns="0" bIns="0" anchor="t">
            <a:spAutoFit/>
          </a:bodyPr>
          <a:lstStyle/>
          <a:p>
            <a:pPr algn="ctr">
              <a:lnSpc>
                <a:spcPts val="1872"/>
              </a:lnSpc>
              <a:spcBef>
                <a:spcPts val="0"/>
              </a:spcBef>
              <a:spcAft>
                <a:spcPts val="0"/>
              </a:spcAft>
            </a:pPr>
            <a:r>
              <a:rPr sz="1600" b="0">
                <a:solidFill>
                  <a:srgbClr val="42D7B4"/>
                </a:solidFill>
                <a:latin typeface="DejaVu Sans"/>
              </a:rPr>
              <a:t>Regress the residual → build fresh targets</a:t>
            </a:r>
          </a:p>
        </p:txBody>
      </p:sp>
      <p:sp>
        <p:nvSpPr>
          <p:cNvPr id="35" name="S05_034"/>
          <p:cNvSpPr/>
          <p:nvPr/>
        </p:nvSpPr>
        <p:spPr>
          <a:xfrm>
            <a:off x="7099300" y="1905000"/>
            <a:ext cx="4559300" cy="3708400"/>
          </a:xfrm>
          <a:prstGeom prst="roundRect">
            <a:avLst>
              <a:gd name="adj" fmla="val 2739"/>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05_035"/>
          <p:cNvSpPr txBox="1"/>
          <p:nvPr/>
        </p:nvSpPr>
        <p:spPr>
          <a:xfrm>
            <a:off x="7366000" y="2197100"/>
            <a:ext cx="4051300" cy="635000"/>
          </a:xfrm>
          <a:prstGeom prst="rect">
            <a:avLst/>
          </a:prstGeom>
          <a:noFill/>
        </p:spPr>
        <p:txBody>
          <a:bodyPr wrap="none" lIns="0" rIns="0" tIns="0" bIns="0" anchor="t">
            <a:spAutoFit/>
          </a:bodyPr>
          <a:lstStyle/>
          <a:p>
            <a:pPr algn="l">
              <a:lnSpc>
                <a:spcPts val="2340"/>
              </a:lnSpc>
              <a:spcBef>
                <a:spcPts val="0"/>
              </a:spcBef>
              <a:spcAft>
                <a:spcPts val="0"/>
              </a:spcAft>
            </a:pPr>
            <a:r>
              <a:rPr sz="2000" b="1">
                <a:solidFill>
                  <a:srgbClr val="F3F6FA"/>
                </a:solidFill>
                <a:latin typeface="DejaVu Sans"/>
              </a:rPr>
              <a:t>Restoration penalizes</a:t>
            </a:r>
          </a:p>
          <a:p>
            <a:pPr algn="l">
              <a:lnSpc>
                <a:spcPts val="2340"/>
              </a:lnSpc>
              <a:spcBef>
                <a:spcPts val="0"/>
              </a:spcBef>
              <a:spcAft>
                <a:spcPts val="0"/>
              </a:spcAft>
            </a:pPr>
            <a:r>
              <a:rPr sz="2000" b="1">
                <a:solidFill>
                  <a:srgbClr val="F3F6FA"/>
                </a:solidFill>
                <a:latin typeface="DejaVu Sans"/>
              </a:rPr>
              <a:t>departure from the base.</a:t>
            </a:r>
          </a:p>
        </p:txBody>
      </p:sp>
      <p:sp>
        <p:nvSpPr>
          <p:cNvPr id="37" name="S05_036"/>
          <p:cNvSpPr txBox="1"/>
          <p:nvPr/>
        </p:nvSpPr>
        <p:spPr>
          <a:xfrm>
            <a:off x="7391400" y="2959100"/>
            <a:ext cx="3937000" cy="279400"/>
          </a:xfrm>
          <a:prstGeom prst="rect">
            <a:avLst/>
          </a:prstGeom>
          <a:noFill/>
        </p:spPr>
        <p:txBody>
          <a:bodyPr wrap="none" lIns="0" rIns="0" tIns="0" bIns="0" anchor="t">
            <a:spAutoFit/>
          </a:bodyPr>
          <a:lstStyle/>
          <a:p>
            <a:pPr algn="l">
              <a:lnSpc>
                <a:spcPts val="1521"/>
              </a:lnSpc>
              <a:spcBef>
                <a:spcPts val="0"/>
              </a:spcBef>
              <a:spcAft>
                <a:spcPts val="0"/>
              </a:spcAft>
            </a:pPr>
            <a:r>
              <a:rPr sz="1300" b="0">
                <a:solidFill>
                  <a:srgbClr val="AFBDD0"/>
                </a:solidFill>
                <a:latin typeface="DejaVu Sans"/>
              </a:rPr>
              <a:t>Illustrative penalty U(r)</a:t>
            </a:r>
          </a:p>
        </p:txBody>
      </p:sp>
      <p:cxnSp>
        <p:nvCxnSpPr>
          <p:cNvPr id="38" name="S05_037"/>
          <p:cNvCxnSpPr/>
          <p:nvPr/>
        </p:nvCxnSpPr>
        <p:spPr>
          <a:xfrm>
            <a:off x="7645400" y="4775200"/>
            <a:ext cx="3530600" cy="0"/>
          </a:xfrm>
          <a:prstGeom prst="line">
            <a:avLst/>
          </a:prstGeom>
          <a:ln w="12700">
            <a:solidFill>
              <a:srgbClr val="AFBDD0"/>
            </a:solidFill>
          </a:ln>
        </p:spPr>
        <p:style>
          <a:lnRef idx="2">
            <a:schemeClr val="accent1"/>
          </a:lnRef>
          <a:fillRef idx="0">
            <a:schemeClr val="accent1"/>
          </a:fillRef>
          <a:effectRef idx="1">
            <a:schemeClr val="accent1"/>
          </a:effectRef>
          <a:fontRef idx="minor">
            <a:schemeClr val="tx1"/>
          </a:fontRef>
        </p:style>
      </p:cxnSp>
      <p:cxnSp>
        <p:nvCxnSpPr>
          <p:cNvPr id="39" name="S05_038"/>
          <p:cNvCxnSpPr/>
          <p:nvPr/>
        </p:nvCxnSpPr>
        <p:spPr>
          <a:xfrm flipV="1">
            <a:off x="7645400" y="3581400"/>
            <a:ext cx="0" cy="1193800"/>
          </a:xfrm>
          <a:prstGeom prst="line">
            <a:avLst/>
          </a:prstGeom>
          <a:ln w="12700">
            <a:solidFill>
              <a:srgbClr val="AFBDD0"/>
            </a:solidFill>
          </a:ln>
        </p:spPr>
        <p:style>
          <a:lnRef idx="2">
            <a:schemeClr val="accent1"/>
          </a:lnRef>
          <a:fillRef idx="0">
            <a:schemeClr val="accent1"/>
          </a:fillRef>
          <a:effectRef idx="1">
            <a:schemeClr val="accent1"/>
          </a:effectRef>
          <a:fontRef idx="minor">
            <a:schemeClr val="tx1"/>
          </a:fontRef>
        </p:style>
      </p:cxnSp>
      <p:cxnSp>
        <p:nvCxnSpPr>
          <p:cNvPr id="40" name="S05_039"/>
          <p:cNvCxnSpPr/>
          <p:nvPr/>
        </p:nvCxnSpPr>
        <p:spPr>
          <a:xfrm flipV="1">
            <a:off x="7645400" y="4774990"/>
            <a:ext cx="100874" cy="210"/>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1" name="S05_040"/>
          <p:cNvCxnSpPr/>
          <p:nvPr/>
        </p:nvCxnSpPr>
        <p:spPr>
          <a:xfrm flipV="1">
            <a:off x="7746274" y="4774363"/>
            <a:ext cx="100874" cy="627"/>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2" name="S05_041"/>
          <p:cNvCxnSpPr/>
          <p:nvPr/>
        </p:nvCxnSpPr>
        <p:spPr>
          <a:xfrm flipV="1">
            <a:off x="7847148" y="4773318"/>
            <a:ext cx="100874" cy="1045"/>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3" name="S05_042"/>
          <p:cNvCxnSpPr/>
          <p:nvPr/>
        </p:nvCxnSpPr>
        <p:spPr>
          <a:xfrm flipV="1">
            <a:off x="7948022" y="4771855"/>
            <a:ext cx="100875" cy="1463"/>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4" name="S05_043"/>
          <p:cNvCxnSpPr/>
          <p:nvPr/>
        </p:nvCxnSpPr>
        <p:spPr>
          <a:xfrm flipV="1">
            <a:off x="8048897" y="4769973"/>
            <a:ext cx="100874" cy="1882"/>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5" name="S05_044"/>
          <p:cNvCxnSpPr/>
          <p:nvPr/>
        </p:nvCxnSpPr>
        <p:spPr>
          <a:xfrm flipV="1">
            <a:off x="8149771" y="4767674"/>
            <a:ext cx="100874" cy="2299"/>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6" name="S05_045"/>
          <p:cNvCxnSpPr/>
          <p:nvPr/>
        </p:nvCxnSpPr>
        <p:spPr>
          <a:xfrm flipV="1">
            <a:off x="8250645" y="4764956"/>
            <a:ext cx="100875" cy="2718"/>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7" name="S05_046"/>
          <p:cNvCxnSpPr/>
          <p:nvPr/>
        </p:nvCxnSpPr>
        <p:spPr>
          <a:xfrm flipV="1">
            <a:off x="8351520" y="4761820"/>
            <a:ext cx="100874" cy="3136"/>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8" name="S05_047"/>
          <p:cNvCxnSpPr/>
          <p:nvPr/>
        </p:nvCxnSpPr>
        <p:spPr>
          <a:xfrm flipV="1">
            <a:off x="8452394" y="4758266"/>
            <a:ext cx="100874" cy="3554"/>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49" name="S05_048"/>
          <p:cNvCxnSpPr/>
          <p:nvPr/>
        </p:nvCxnSpPr>
        <p:spPr>
          <a:xfrm flipV="1">
            <a:off x="8553268" y="4754294"/>
            <a:ext cx="100874" cy="3972"/>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0" name="S05_049"/>
          <p:cNvCxnSpPr/>
          <p:nvPr/>
        </p:nvCxnSpPr>
        <p:spPr>
          <a:xfrm flipV="1">
            <a:off x="8654142" y="4749904"/>
            <a:ext cx="100875" cy="4390"/>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1" name="S05_050"/>
          <p:cNvCxnSpPr/>
          <p:nvPr/>
        </p:nvCxnSpPr>
        <p:spPr>
          <a:xfrm flipV="1">
            <a:off x="8755017" y="4745096"/>
            <a:ext cx="100874" cy="4808"/>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2" name="S05_051"/>
          <p:cNvCxnSpPr/>
          <p:nvPr/>
        </p:nvCxnSpPr>
        <p:spPr>
          <a:xfrm flipV="1">
            <a:off x="8855891" y="4738851"/>
            <a:ext cx="100874" cy="6245"/>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3" name="S05_052"/>
          <p:cNvCxnSpPr/>
          <p:nvPr/>
        </p:nvCxnSpPr>
        <p:spPr>
          <a:xfrm flipV="1">
            <a:off x="8956765" y="4728677"/>
            <a:ext cx="100875" cy="10174"/>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4" name="S05_053"/>
          <p:cNvCxnSpPr/>
          <p:nvPr/>
        </p:nvCxnSpPr>
        <p:spPr>
          <a:xfrm flipV="1">
            <a:off x="9057640" y="4714461"/>
            <a:ext cx="100874" cy="14216"/>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5" name="S05_054"/>
          <p:cNvCxnSpPr/>
          <p:nvPr/>
        </p:nvCxnSpPr>
        <p:spPr>
          <a:xfrm flipV="1">
            <a:off x="9158514" y="4696204"/>
            <a:ext cx="100874" cy="18257"/>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6" name="S05_055"/>
          <p:cNvCxnSpPr/>
          <p:nvPr/>
        </p:nvCxnSpPr>
        <p:spPr>
          <a:xfrm flipV="1">
            <a:off x="9259388" y="4673905"/>
            <a:ext cx="100874" cy="22299"/>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7" name="S05_056"/>
          <p:cNvCxnSpPr/>
          <p:nvPr/>
        </p:nvCxnSpPr>
        <p:spPr>
          <a:xfrm flipV="1">
            <a:off x="9360262" y="4647565"/>
            <a:ext cx="100875" cy="26340"/>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8" name="S05_057"/>
          <p:cNvCxnSpPr/>
          <p:nvPr/>
        </p:nvCxnSpPr>
        <p:spPr>
          <a:xfrm flipV="1">
            <a:off x="9461137" y="4617182"/>
            <a:ext cx="100874" cy="30383"/>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59" name="S05_058"/>
          <p:cNvCxnSpPr/>
          <p:nvPr/>
        </p:nvCxnSpPr>
        <p:spPr>
          <a:xfrm flipV="1">
            <a:off x="9562011" y="4582758"/>
            <a:ext cx="100874" cy="34424"/>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0" name="S05_059"/>
          <p:cNvCxnSpPr/>
          <p:nvPr/>
        </p:nvCxnSpPr>
        <p:spPr>
          <a:xfrm flipV="1">
            <a:off x="9662885" y="4544293"/>
            <a:ext cx="100875" cy="38465"/>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1" name="S05_060"/>
          <p:cNvCxnSpPr/>
          <p:nvPr/>
        </p:nvCxnSpPr>
        <p:spPr>
          <a:xfrm flipV="1">
            <a:off x="9763760" y="4501786"/>
            <a:ext cx="100874" cy="42507"/>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2" name="S05_061"/>
          <p:cNvCxnSpPr/>
          <p:nvPr/>
        </p:nvCxnSpPr>
        <p:spPr>
          <a:xfrm flipV="1">
            <a:off x="9864634" y="4455237"/>
            <a:ext cx="100874" cy="46549"/>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3" name="S05_062"/>
          <p:cNvCxnSpPr/>
          <p:nvPr/>
        </p:nvCxnSpPr>
        <p:spPr>
          <a:xfrm flipV="1">
            <a:off x="9965508" y="4404646"/>
            <a:ext cx="100874" cy="50591"/>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4" name="S05_063"/>
          <p:cNvCxnSpPr/>
          <p:nvPr/>
        </p:nvCxnSpPr>
        <p:spPr>
          <a:xfrm flipV="1">
            <a:off x="10066382" y="4350014"/>
            <a:ext cx="100875" cy="54632"/>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5" name="S05_064"/>
          <p:cNvCxnSpPr/>
          <p:nvPr/>
        </p:nvCxnSpPr>
        <p:spPr>
          <a:xfrm flipV="1">
            <a:off x="10167257" y="4291340"/>
            <a:ext cx="100874" cy="58674"/>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6" name="S05_065"/>
          <p:cNvCxnSpPr/>
          <p:nvPr/>
        </p:nvCxnSpPr>
        <p:spPr>
          <a:xfrm flipV="1">
            <a:off x="10268131" y="4228624"/>
            <a:ext cx="100874" cy="62716"/>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7" name="S05_066"/>
          <p:cNvCxnSpPr/>
          <p:nvPr/>
        </p:nvCxnSpPr>
        <p:spPr>
          <a:xfrm flipV="1">
            <a:off x="10369005" y="4161867"/>
            <a:ext cx="100875" cy="66757"/>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8" name="S05_067"/>
          <p:cNvCxnSpPr/>
          <p:nvPr/>
        </p:nvCxnSpPr>
        <p:spPr>
          <a:xfrm flipV="1">
            <a:off x="10469880" y="4091068"/>
            <a:ext cx="100874" cy="70799"/>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69" name="S05_068"/>
          <p:cNvCxnSpPr/>
          <p:nvPr/>
        </p:nvCxnSpPr>
        <p:spPr>
          <a:xfrm flipV="1">
            <a:off x="10570754" y="4016228"/>
            <a:ext cx="100874" cy="74840"/>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70" name="S05_069"/>
          <p:cNvCxnSpPr/>
          <p:nvPr/>
        </p:nvCxnSpPr>
        <p:spPr>
          <a:xfrm flipV="1">
            <a:off x="10671628" y="3937345"/>
            <a:ext cx="100874" cy="78883"/>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71" name="S05_070"/>
          <p:cNvCxnSpPr/>
          <p:nvPr/>
        </p:nvCxnSpPr>
        <p:spPr>
          <a:xfrm flipV="1">
            <a:off x="10772502" y="3854421"/>
            <a:ext cx="100875" cy="82924"/>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72" name="S05_071"/>
          <p:cNvCxnSpPr/>
          <p:nvPr/>
        </p:nvCxnSpPr>
        <p:spPr>
          <a:xfrm flipV="1">
            <a:off x="10873377" y="3767456"/>
            <a:ext cx="100874" cy="86965"/>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73" name="S05_072"/>
          <p:cNvCxnSpPr/>
          <p:nvPr/>
        </p:nvCxnSpPr>
        <p:spPr>
          <a:xfrm flipV="1">
            <a:off x="10974251" y="3676448"/>
            <a:ext cx="100874" cy="91008"/>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74" name="S05_073"/>
          <p:cNvCxnSpPr/>
          <p:nvPr/>
        </p:nvCxnSpPr>
        <p:spPr>
          <a:xfrm flipV="1">
            <a:off x="11075125" y="3581400"/>
            <a:ext cx="100875" cy="95048"/>
          </a:xfrm>
          <a:prstGeom prst="line">
            <a:avLst/>
          </a:prstGeom>
          <a:ln w="31750">
            <a:solidFill>
              <a:srgbClr val="42D7B4"/>
            </a:solidFill>
          </a:ln>
        </p:spPr>
        <p:style>
          <a:lnRef idx="2">
            <a:schemeClr val="accent1"/>
          </a:lnRef>
          <a:fillRef idx="0">
            <a:schemeClr val="accent1"/>
          </a:fillRef>
          <a:effectRef idx="1">
            <a:schemeClr val="accent1"/>
          </a:effectRef>
          <a:fontRef idx="minor">
            <a:schemeClr val="tx1"/>
          </a:fontRef>
        </p:style>
      </p:cxnSp>
      <p:cxnSp>
        <p:nvCxnSpPr>
          <p:cNvPr id="75" name="S05_074"/>
          <p:cNvCxnSpPr/>
          <p:nvPr/>
        </p:nvCxnSpPr>
        <p:spPr>
          <a:xfrm flipV="1">
            <a:off x="8881110" y="3581400"/>
            <a:ext cx="0" cy="1219200"/>
          </a:xfrm>
          <a:prstGeom prst="line">
            <a:avLst/>
          </a:prstGeom>
          <a:ln w="12700">
            <a:solidFill>
              <a:srgbClr val="33455B"/>
            </a:solidFill>
            <a:prstDash val="dash"/>
          </a:ln>
        </p:spPr>
        <p:style>
          <a:lnRef idx="2">
            <a:schemeClr val="accent1"/>
          </a:lnRef>
          <a:fillRef idx="0">
            <a:schemeClr val="accent1"/>
          </a:fillRef>
          <a:effectRef idx="1">
            <a:schemeClr val="accent1"/>
          </a:effectRef>
          <a:fontRef idx="minor">
            <a:schemeClr val="tx1"/>
          </a:fontRef>
        </p:style>
      </p:cxnSp>
      <p:sp>
        <p:nvSpPr>
          <p:cNvPr id="76" name="S05_075"/>
          <p:cNvSpPr txBox="1"/>
          <p:nvPr/>
        </p:nvSpPr>
        <p:spPr>
          <a:xfrm>
            <a:off x="8627110" y="4838700"/>
            <a:ext cx="1016000" cy="266700"/>
          </a:xfrm>
          <a:prstGeom prst="rect">
            <a:avLst/>
          </a:prstGeom>
          <a:noFill/>
        </p:spPr>
        <p:txBody>
          <a:bodyPr wrap="none" lIns="0" rIns="0" tIns="0" bIns="0" anchor="t">
            <a:spAutoFit/>
          </a:bodyPr>
          <a:lstStyle/>
          <a:p>
            <a:pPr algn="l">
              <a:lnSpc>
                <a:spcPts val="1287"/>
              </a:lnSpc>
              <a:spcBef>
                <a:spcPts val="0"/>
              </a:spcBef>
              <a:spcAft>
                <a:spcPts val="0"/>
              </a:spcAft>
            </a:pPr>
            <a:r>
              <a:rPr sz="1100" b="0">
                <a:solidFill>
                  <a:srgbClr val="AFBDD0"/>
                </a:solidFill>
                <a:latin typeface="DejaVu Sans"/>
              </a:rPr>
              <a:t>radius</a:t>
            </a:r>
          </a:p>
        </p:txBody>
      </p:sp>
      <p:sp>
        <p:nvSpPr>
          <p:cNvPr id="77" name="S05_076"/>
          <p:cNvSpPr txBox="1"/>
          <p:nvPr/>
        </p:nvSpPr>
        <p:spPr>
          <a:xfrm>
            <a:off x="7645400" y="5181600"/>
            <a:ext cx="3556000" cy="279400"/>
          </a:xfrm>
          <a:prstGeom prst="rect">
            <a:avLst/>
          </a:prstGeom>
          <a:noFill/>
        </p:spPr>
        <p:txBody>
          <a:bodyPr wrap="none" lIns="0" rIns="0" tIns="0" bIns="0" anchor="t">
            <a:spAutoFit/>
          </a:bodyPr>
          <a:lstStyle/>
          <a:p>
            <a:pPr algn="l">
              <a:lnSpc>
                <a:spcPts val="1521"/>
              </a:lnSpc>
              <a:spcBef>
                <a:spcPts val="0"/>
              </a:spcBef>
              <a:spcAft>
                <a:spcPts val="0"/>
              </a:spcAft>
            </a:pPr>
            <a:r>
              <a:rPr sz="1300" b="0">
                <a:solidFill>
                  <a:srgbClr val="42D7B4"/>
                </a:solidFill>
                <a:latin typeface="DejaVu Sans"/>
              </a:rPr>
              <a:t>Soft threshold, not a hard wall</a:t>
            </a:r>
          </a:p>
        </p:txBody>
      </p:sp>
      <p:sp>
        <p:nvSpPr>
          <p:cNvPr id="78" name="S05_077"/>
          <p:cNvSpPr txBox="1"/>
          <p:nvPr/>
        </p:nvSpPr>
        <p:spPr>
          <a:xfrm>
            <a:off x="558800" y="5842000"/>
            <a:ext cx="11074400" cy="533400"/>
          </a:xfrm>
          <a:prstGeom prst="rect">
            <a:avLst/>
          </a:prstGeom>
          <a:noFill/>
        </p:spPr>
        <p:txBody>
          <a:bodyPr wrap="none" lIns="0" rIns="0" tIns="0" bIns="0" anchor="t">
            <a:spAutoFit/>
          </a:bodyPr>
          <a:lstStyle/>
          <a:p>
            <a:pPr algn="ctr">
              <a:lnSpc>
                <a:spcPts val="1872"/>
              </a:lnSpc>
              <a:spcBef>
                <a:spcPts val="0"/>
              </a:spcBef>
              <a:spcAft>
                <a:spcPts val="0"/>
              </a:spcAft>
            </a:pPr>
            <a:r>
              <a:rPr sz="1600" b="0">
                <a:solidFill>
                  <a:srgbClr val="AFBDD0"/>
                </a:solidFill>
                <a:latin typeface="DejaVu Sans"/>
              </a:rPr>
              <a:t>With inactive caps: the same local gradient direction as regularized critic optimization.</a:t>
            </a:r>
          </a:p>
        </p:txBody>
      </p:sp>
      <p:sp>
        <p:nvSpPr>
          <p:cNvPr id="79" name="MEDIA_A04_MASK"/>
          <p:cNvSpPr/>
          <p:nvPr/>
        </p:nvSpPr>
        <p:spPr>
          <a:xfrm>
            <a:off x="533400" y="1905000"/>
            <a:ext cx="6273800" cy="37084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S05_079" descr="image.png"/>
          <p:cNvPicPr>
            <a:picLocks noChangeAspect="1"/>
          </p:cNvPicPr>
          <p:nvPr/>
        </p:nvPicPr>
        <p:blipFill>
          <a:blip r:embed="rId2"/>
          <a:stretch>
            <a:fillRect/>
          </a:stretch>
        </p:blipFill>
        <p:spPr>
          <a:xfrm>
            <a:off x="533400" y="1994693"/>
            <a:ext cx="6273800" cy="3529012"/>
          </a:xfrm>
          <a:prstGeom prst="rect">
            <a:avLst/>
          </a:prstGeom>
        </p:spPr>
      </p:pic>
      <p:pic>
        <p:nvPicPr>
          <p:cNvPr id="81" name="MEDIA_A04_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533400" y="1994693"/>
            <a:ext cx="6273800" cy="3529012"/>
          </a:xfrm>
          <a:prstGeom prst="rect">
            <a:avLst/>
          </a:prstGeom>
        </p:spPr>
      </p:pic>
      <p:sp>
        <p:nvSpPr>
          <p:cNvPr id="82" name="S05_081"/>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83" name="S05_082"/>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05 / 10</a:t>
            </a:r>
          </a:p>
        </p:txBody>
      </p:sp>
      <p:sp>
        <p:nvSpPr>
          <p:cNvPr id="84" name="S05_083"/>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S05_084"/>
          <p:cNvSpPr/>
          <p:nvPr/>
        </p:nvSpPr>
        <p:spPr>
          <a:xfrm>
            <a:off x="0" y="6807200"/>
            <a:ext cx="6231466"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22000"/>
  <p:timing>
    <p:tnLst>
      <p:par>
        <p:cTn id="1" dur="indefinite" restart="never" nodeType="tmRoot">
          <p:childTnLst>
            <p:video>
              <p:cMediaNode vol="80000">
                <p:cTn id="2" fill="hold" display="0">
                  <p:stCondLst>
                    <p:cond delay="0"/>
                  </p:stCondLst>
                </p:cTn>
                <p:tgtEl>
                  <p:spTgt spid="81"/>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6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SIMULATION EVIDENCE</a:t>
            </a:r>
          </a:p>
        </p:txBody>
      </p:sp>
      <p:sp>
        <p:nvSpPr>
          <p:cNvPr id="3" name="S06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IDEA + METHOD</a:t>
            </a:r>
          </a:p>
        </p:txBody>
      </p:sp>
      <p:sp>
        <p:nvSpPr>
          <p:cNvPr id="4" name="S06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Reach useful performance with less experience.</a:t>
            </a:r>
          </a:p>
        </p:txBody>
      </p:sp>
      <p:sp>
        <p:nvSpPr>
          <p:cNvPr id="5" name="MEDIA_A05_FRAME"/>
          <p:cNvSpPr/>
          <p:nvPr/>
        </p:nvSpPr>
        <p:spPr>
          <a:xfrm>
            <a:off x="533400" y="1866900"/>
            <a:ext cx="5880100" cy="3848100"/>
          </a:xfrm>
          <a:prstGeom prst="roundRect">
            <a:avLst>
              <a:gd name="adj" fmla="val 2640"/>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DIA_A05_LABEL"/>
          <p:cNvSpPr txBox="1"/>
          <p:nvPr/>
        </p:nvSpPr>
        <p:spPr>
          <a:xfrm>
            <a:off x="736600" y="2019300"/>
            <a:ext cx="54737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A05 / Measured restoration ablation</a:t>
            </a:r>
          </a:p>
        </p:txBody>
      </p:sp>
      <p:sp>
        <p:nvSpPr>
          <p:cNvPr id="7" name="MEDIA_A05_STATUS"/>
          <p:cNvSpPr txBox="1"/>
          <p:nvPr/>
        </p:nvSpPr>
        <p:spPr>
          <a:xfrm>
            <a:off x="736600" y="5422900"/>
            <a:ext cx="54737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ANIMATION RESERVED</a:t>
            </a:r>
          </a:p>
        </p:txBody>
      </p:sp>
      <p:sp>
        <p:nvSpPr>
          <p:cNvPr id="8" name="S06_007"/>
          <p:cNvSpPr txBox="1"/>
          <p:nvPr/>
        </p:nvSpPr>
        <p:spPr>
          <a:xfrm>
            <a:off x="876300" y="2501900"/>
            <a:ext cx="5194300" cy="342900"/>
          </a:xfrm>
          <a:prstGeom prst="rect">
            <a:avLst/>
          </a:prstGeom>
          <a:noFill/>
        </p:spPr>
        <p:txBody>
          <a:bodyPr wrap="none" lIns="0" rIns="0" tIns="0" bIns="0" anchor="t">
            <a:spAutoFit/>
          </a:bodyPr>
          <a:lstStyle/>
          <a:p>
            <a:pPr algn="l">
              <a:lnSpc>
                <a:spcPts val="2222"/>
              </a:lnSpc>
              <a:spcBef>
                <a:spcPts val="0"/>
              </a:spcBef>
              <a:spcAft>
                <a:spcPts val="0"/>
              </a:spcAft>
            </a:pPr>
            <a:r>
              <a:rPr sz="1900" b="1">
                <a:solidFill>
                  <a:srgbClr val="F3F6FA"/>
                </a:solidFill>
                <a:latin typeface="DejaVu Sans"/>
              </a:rPr>
              <a:t>Success over training</a:t>
            </a:r>
          </a:p>
        </p:txBody>
      </p:sp>
      <p:cxnSp>
        <p:nvCxnSpPr>
          <p:cNvPr id="9" name="S06_008"/>
          <p:cNvCxnSpPr/>
          <p:nvPr/>
        </p:nvCxnSpPr>
        <p:spPr>
          <a:xfrm>
            <a:off x="1130300" y="4813300"/>
            <a:ext cx="4813300" cy="0"/>
          </a:xfrm>
          <a:prstGeom prst="line">
            <a:avLst/>
          </a:prstGeom>
          <a:ln w="12700">
            <a:solidFill>
              <a:srgbClr val="33455B"/>
            </a:solidFill>
          </a:ln>
        </p:spPr>
        <p:style>
          <a:lnRef idx="2">
            <a:schemeClr val="accent1"/>
          </a:lnRef>
          <a:fillRef idx="0">
            <a:schemeClr val="accent1"/>
          </a:fillRef>
          <a:effectRef idx="1">
            <a:schemeClr val="accent1"/>
          </a:effectRef>
          <a:fontRef idx="minor">
            <a:schemeClr val="tx1"/>
          </a:fontRef>
        </p:style>
      </p:cxnSp>
      <p:cxnSp>
        <p:nvCxnSpPr>
          <p:cNvPr id="10" name="S06_009"/>
          <p:cNvCxnSpPr/>
          <p:nvPr/>
        </p:nvCxnSpPr>
        <p:spPr>
          <a:xfrm>
            <a:off x="1130300" y="3124200"/>
            <a:ext cx="0" cy="1689100"/>
          </a:xfrm>
          <a:prstGeom prst="line">
            <a:avLst/>
          </a:prstGeom>
          <a:ln w="12700">
            <a:solidFill>
              <a:srgbClr val="33455B"/>
            </a:solidFill>
          </a:ln>
        </p:spPr>
        <p:style>
          <a:lnRef idx="2">
            <a:schemeClr val="accent1"/>
          </a:lnRef>
          <a:fillRef idx="0">
            <a:schemeClr val="accent1"/>
          </a:fillRef>
          <a:effectRef idx="1">
            <a:schemeClr val="accent1"/>
          </a:effectRef>
          <a:fontRef idx="minor">
            <a:schemeClr val="tx1"/>
          </a:fontRef>
        </p:style>
      </p:cxnSp>
      <p:cxnSp>
        <p:nvCxnSpPr>
          <p:cNvPr id="11" name="S06_010"/>
          <p:cNvCxnSpPr/>
          <p:nvPr/>
        </p:nvCxnSpPr>
        <p:spPr>
          <a:xfrm>
            <a:off x="1130300" y="3340100"/>
            <a:ext cx="4813300" cy="0"/>
          </a:xfrm>
          <a:prstGeom prst="line">
            <a:avLst/>
          </a:prstGeom>
          <a:ln w="12700">
            <a:solidFill>
              <a:srgbClr val="33455B"/>
            </a:solidFill>
            <a:prstDash val="dash"/>
          </a:ln>
        </p:spPr>
        <p:style>
          <a:lnRef idx="2">
            <a:schemeClr val="accent1"/>
          </a:lnRef>
          <a:fillRef idx="0">
            <a:schemeClr val="accent1"/>
          </a:fillRef>
          <a:effectRef idx="1">
            <a:schemeClr val="accent1"/>
          </a:effectRef>
          <a:fontRef idx="minor">
            <a:schemeClr val="tx1"/>
          </a:fontRef>
        </p:style>
      </p:cxnSp>
      <p:sp>
        <p:nvSpPr>
          <p:cNvPr id="12" name="S06_011"/>
          <p:cNvSpPr txBox="1"/>
          <p:nvPr/>
        </p:nvSpPr>
        <p:spPr>
          <a:xfrm>
            <a:off x="1409700" y="3530600"/>
            <a:ext cx="4241800" cy="660400"/>
          </a:xfrm>
          <a:prstGeom prst="rect">
            <a:avLst/>
          </a:prstGeom>
          <a:noFill/>
        </p:spPr>
        <p:txBody>
          <a:bodyPr wrap="none" lIns="0" rIns="0" tIns="0" bIns="0" anchor="t">
            <a:spAutoFit/>
          </a:bodyPr>
          <a:lstStyle/>
          <a:p>
            <a:pPr algn="ctr">
              <a:lnSpc>
                <a:spcPts val="2340"/>
              </a:lnSpc>
              <a:spcBef>
                <a:spcPts val="0"/>
              </a:spcBef>
              <a:spcAft>
                <a:spcPts val="0"/>
              </a:spcAft>
            </a:pPr>
            <a:r>
              <a:rPr sz="2000" b="0">
                <a:solidFill>
                  <a:srgbClr val="AFBDD0"/>
                </a:solidFill>
                <a:latin typeface="DejaVu Sans"/>
              </a:rPr>
              <a:t>Insert measured evaluation</a:t>
            </a:r>
          </a:p>
          <a:p>
            <a:pPr algn="ctr">
              <a:lnSpc>
                <a:spcPts val="2340"/>
              </a:lnSpc>
              <a:spcBef>
                <a:spcPts val="0"/>
              </a:spcBef>
              <a:spcAft>
                <a:spcPts val="0"/>
              </a:spcAft>
            </a:pPr>
            <a:r>
              <a:rPr sz="2000" b="0">
                <a:solidFill>
                  <a:srgbClr val="AFBDD0"/>
                </a:solidFill>
                <a:latin typeface="DejaVu Sans"/>
              </a:rPr>
              <a:t>curves</a:t>
            </a:r>
          </a:p>
        </p:txBody>
      </p:sp>
      <p:sp>
        <p:nvSpPr>
          <p:cNvPr id="13" name="S06_012"/>
          <p:cNvSpPr txBox="1"/>
          <p:nvPr/>
        </p:nvSpPr>
        <p:spPr>
          <a:xfrm>
            <a:off x="1435100" y="4381500"/>
            <a:ext cx="4216400" cy="304800"/>
          </a:xfrm>
          <a:prstGeom prst="rect">
            <a:avLst/>
          </a:prstGeom>
          <a:noFill/>
        </p:spPr>
        <p:txBody>
          <a:bodyPr wrap="none" lIns="0" rIns="0" tIns="0" bIns="0" anchor="t">
            <a:spAutoFit/>
          </a:bodyPr>
          <a:lstStyle/>
          <a:p>
            <a:pPr algn="ctr">
              <a:lnSpc>
                <a:spcPts val="1521"/>
              </a:lnSpc>
              <a:spcBef>
                <a:spcPts val="0"/>
              </a:spcBef>
              <a:spcAft>
                <a:spcPts val="0"/>
              </a:spcAft>
            </a:pPr>
            <a:r>
              <a:rPr sz="1300" b="0">
                <a:solidFill>
                  <a:srgbClr val="42D7B4"/>
                </a:solidFill>
                <a:latin typeface="DejaVu Sans"/>
              </a:rPr>
              <a:t>Curve animation reserved</a:t>
            </a:r>
          </a:p>
        </p:txBody>
      </p:sp>
      <p:sp>
        <p:nvSpPr>
          <p:cNvPr id="14" name="S06_013"/>
          <p:cNvSpPr txBox="1"/>
          <p:nvPr/>
        </p:nvSpPr>
        <p:spPr>
          <a:xfrm>
            <a:off x="1828800" y="5054600"/>
            <a:ext cx="3543300" cy="266700"/>
          </a:xfrm>
          <a:prstGeom prst="rect">
            <a:avLst/>
          </a:prstGeom>
          <a:noFill/>
        </p:spPr>
        <p:txBody>
          <a:bodyPr wrap="none" lIns="0" rIns="0" tIns="0" bIns="0" anchor="t">
            <a:spAutoFit/>
          </a:bodyPr>
          <a:lstStyle/>
          <a:p>
            <a:pPr algn="ctr">
              <a:lnSpc>
                <a:spcPts val="1521"/>
              </a:lnSpc>
              <a:spcBef>
                <a:spcPts val="0"/>
              </a:spcBef>
              <a:spcAft>
                <a:spcPts val="0"/>
              </a:spcAft>
            </a:pPr>
            <a:r>
              <a:rPr sz="1300" b="0">
                <a:solidFill>
                  <a:srgbClr val="AFBDD0"/>
                </a:solidFill>
                <a:latin typeface="DejaVu Sans"/>
              </a:rPr>
              <a:t>Environment steps</a:t>
            </a:r>
          </a:p>
        </p:txBody>
      </p:sp>
      <p:sp>
        <p:nvSpPr>
          <p:cNvPr id="15" name="S06_014"/>
          <p:cNvSpPr txBox="1"/>
          <p:nvPr/>
        </p:nvSpPr>
        <p:spPr>
          <a:xfrm>
            <a:off x="6921500" y="1943100"/>
            <a:ext cx="4686300" cy="660400"/>
          </a:xfrm>
          <a:prstGeom prst="rect">
            <a:avLst/>
          </a:prstGeom>
          <a:noFill/>
        </p:spPr>
        <p:txBody>
          <a:bodyPr wrap="none" lIns="0" rIns="0" tIns="0" bIns="0" anchor="t">
            <a:spAutoFit/>
          </a:bodyPr>
          <a:lstStyle/>
          <a:p>
            <a:pPr algn="l">
              <a:lnSpc>
                <a:spcPts val="2690"/>
              </a:lnSpc>
              <a:spcBef>
                <a:spcPts val="0"/>
              </a:spcBef>
              <a:spcAft>
                <a:spcPts val="0"/>
              </a:spcAft>
            </a:pPr>
            <a:r>
              <a:rPr sz="2300" b="1">
                <a:solidFill>
                  <a:srgbClr val="F3F6FA"/>
                </a:solidFill>
                <a:latin typeface="DejaVu Sans"/>
              </a:rPr>
              <a:t>Steps to 90% success</a:t>
            </a:r>
          </a:p>
        </p:txBody>
      </p:sp>
      <p:sp>
        <p:nvSpPr>
          <p:cNvPr id="16" name="S06_015"/>
          <p:cNvSpPr txBox="1"/>
          <p:nvPr/>
        </p:nvSpPr>
        <p:spPr>
          <a:xfrm>
            <a:off x="6946900" y="3009900"/>
            <a:ext cx="11684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42D7B4"/>
                </a:solidFill>
                <a:latin typeface="DejaVu Sans"/>
              </a:rPr>
              <a:t>CAST</a:t>
            </a:r>
          </a:p>
        </p:txBody>
      </p:sp>
      <p:sp>
        <p:nvSpPr>
          <p:cNvPr id="17" name="S06_016"/>
          <p:cNvSpPr/>
          <p:nvPr/>
        </p:nvSpPr>
        <p:spPr>
          <a:xfrm>
            <a:off x="8204200" y="2959100"/>
            <a:ext cx="1327573" cy="3683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6_017"/>
          <p:cNvSpPr txBox="1"/>
          <p:nvPr/>
        </p:nvSpPr>
        <p:spPr>
          <a:xfrm>
            <a:off x="9646073" y="2997200"/>
            <a:ext cx="952500" cy="342900"/>
          </a:xfrm>
          <a:prstGeom prst="rect">
            <a:avLst/>
          </a:prstGeom>
          <a:noFill/>
        </p:spPr>
        <p:txBody>
          <a:bodyPr wrap="none" lIns="0" rIns="0" tIns="0" bIns="0" anchor="t">
            <a:spAutoFit/>
          </a:bodyPr>
          <a:lstStyle/>
          <a:p>
            <a:pPr algn="l">
              <a:lnSpc>
                <a:spcPts val="1989"/>
              </a:lnSpc>
              <a:spcBef>
                <a:spcPts val="0"/>
              </a:spcBef>
              <a:spcAft>
                <a:spcPts val="0"/>
              </a:spcAft>
            </a:pPr>
            <a:r>
              <a:rPr sz="1700" b="0">
                <a:solidFill>
                  <a:srgbClr val="F3F6FA"/>
                </a:solidFill>
                <a:latin typeface="DejaVu Sans"/>
              </a:rPr>
              <a:t>149.3K</a:t>
            </a:r>
          </a:p>
        </p:txBody>
      </p:sp>
      <p:sp>
        <p:nvSpPr>
          <p:cNvPr id="19" name="S06_018"/>
          <p:cNvSpPr txBox="1"/>
          <p:nvPr/>
        </p:nvSpPr>
        <p:spPr>
          <a:xfrm>
            <a:off x="6946900" y="3771900"/>
            <a:ext cx="1168400" cy="342900"/>
          </a:xfrm>
          <a:prstGeom prst="rect">
            <a:avLst/>
          </a:prstGeom>
          <a:noFill/>
        </p:spPr>
        <p:txBody>
          <a:bodyPr wrap="none" lIns="0" rIns="0" tIns="0" bIns="0" anchor="t">
            <a:spAutoFit/>
          </a:bodyPr>
          <a:lstStyle/>
          <a:p>
            <a:pPr algn="l">
              <a:lnSpc>
                <a:spcPts val="2106"/>
              </a:lnSpc>
              <a:spcBef>
                <a:spcPts val="0"/>
              </a:spcBef>
              <a:spcAft>
                <a:spcPts val="0"/>
              </a:spcAft>
            </a:pPr>
            <a:r>
              <a:rPr sz="1800" b="1">
                <a:solidFill>
                  <a:srgbClr val="7FB0ED"/>
                </a:solidFill>
                <a:latin typeface="DejaVu Sans"/>
              </a:rPr>
              <a:t>DICE-RL</a:t>
            </a:r>
          </a:p>
        </p:txBody>
      </p:sp>
      <p:sp>
        <p:nvSpPr>
          <p:cNvPr id="20" name="S06_019"/>
          <p:cNvSpPr/>
          <p:nvPr/>
        </p:nvSpPr>
        <p:spPr>
          <a:xfrm>
            <a:off x="8204200" y="3721100"/>
            <a:ext cx="2133600" cy="368300"/>
          </a:xfrm>
          <a:prstGeom prst="rect">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06_020"/>
          <p:cNvSpPr txBox="1"/>
          <p:nvPr/>
        </p:nvSpPr>
        <p:spPr>
          <a:xfrm>
            <a:off x="10452100" y="3759200"/>
            <a:ext cx="952500" cy="342900"/>
          </a:xfrm>
          <a:prstGeom prst="rect">
            <a:avLst/>
          </a:prstGeom>
          <a:noFill/>
        </p:spPr>
        <p:txBody>
          <a:bodyPr wrap="none" lIns="0" rIns="0" tIns="0" bIns="0" anchor="t">
            <a:spAutoFit/>
          </a:bodyPr>
          <a:lstStyle/>
          <a:p>
            <a:pPr algn="l">
              <a:lnSpc>
                <a:spcPts val="1989"/>
              </a:lnSpc>
              <a:spcBef>
                <a:spcPts val="0"/>
              </a:spcBef>
              <a:spcAft>
                <a:spcPts val="0"/>
              </a:spcAft>
            </a:pPr>
            <a:r>
              <a:rPr sz="1700" b="0">
                <a:solidFill>
                  <a:srgbClr val="F3F6FA"/>
                </a:solidFill>
                <a:latin typeface="DejaVu Sans"/>
              </a:rPr>
              <a:t>240.0K</a:t>
            </a:r>
          </a:p>
        </p:txBody>
      </p:sp>
      <p:sp>
        <p:nvSpPr>
          <p:cNvPr id="22" name="S06_021"/>
          <p:cNvSpPr txBox="1"/>
          <p:nvPr/>
        </p:nvSpPr>
        <p:spPr>
          <a:xfrm>
            <a:off x="6959600" y="4559300"/>
            <a:ext cx="1841500" cy="736600"/>
          </a:xfrm>
          <a:prstGeom prst="rect">
            <a:avLst/>
          </a:prstGeom>
          <a:noFill/>
        </p:spPr>
        <p:txBody>
          <a:bodyPr wrap="none" lIns="0" rIns="0" tIns="0" bIns="0" anchor="t">
            <a:spAutoFit/>
          </a:bodyPr>
          <a:lstStyle/>
          <a:p>
            <a:pPr algn="l">
              <a:lnSpc>
                <a:spcPts val="5148"/>
              </a:lnSpc>
              <a:spcBef>
                <a:spcPts val="0"/>
              </a:spcBef>
              <a:spcAft>
                <a:spcPts val="0"/>
              </a:spcAft>
            </a:pPr>
            <a:r>
              <a:rPr sz="4400" b="1">
                <a:solidFill>
                  <a:srgbClr val="42D7B4"/>
                </a:solidFill>
                <a:latin typeface="DejaVu Sans"/>
              </a:rPr>
              <a:t>38%</a:t>
            </a:r>
          </a:p>
        </p:txBody>
      </p:sp>
      <p:sp>
        <p:nvSpPr>
          <p:cNvPr id="23" name="S06_022"/>
          <p:cNvSpPr txBox="1"/>
          <p:nvPr/>
        </p:nvSpPr>
        <p:spPr>
          <a:xfrm>
            <a:off x="8851900" y="4686300"/>
            <a:ext cx="2603500" cy="558800"/>
          </a:xfrm>
          <a:prstGeom prst="rect">
            <a:avLst/>
          </a:prstGeom>
          <a:noFill/>
        </p:spPr>
        <p:txBody>
          <a:bodyPr wrap="none" lIns="0" rIns="0" tIns="0" bIns="0" anchor="t">
            <a:spAutoFit/>
          </a:bodyPr>
          <a:lstStyle/>
          <a:p>
            <a:pPr algn="l">
              <a:lnSpc>
                <a:spcPts val="1989"/>
              </a:lnSpc>
              <a:spcBef>
                <a:spcPts val="0"/>
              </a:spcBef>
              <a:spcAft>
                <a:spcPts val="0"/>
              </a:spcAft>
            </a:pPr>
            <a:r>
              <a:rPr sz="1700" b="0">
                <a:solidFill>
                  <a:srgbClr val="F3F6FA"/>
                </a:solidFill>
                <a:latin typeface="DejaVu Sans"/>
              </a:rPr>
              <a:t>fewer environment</a:t>
            </a:r>
          </a:p>
          <a:p>
            <a:pPr algn="l">
              <a:lnSpc>
                <a:spcPts val="1989"/>
              </a:lnSpc>
              <a:spcBef>
                <a:spcPts val="0"/>
              </a:spcBef>
              <a:spcAft>
                <a:spcPts val="0"/>
              </a:spcAft>
            </a:pPr>
            <a:r>
              <a:rPr sz="1700" b="0">
                <a:solidFill>
                  <a:srgbClr val="F3F6FA"/>
                </a:solidFill>
                <a:latin typeface="DejaVu Sans"/>
              </a:rPr>
              <a:t>steps on average</a:t>
            </a:r>
          </a:p>
        </p:txBody>
      </p:sp>
      <p:sp>
        <p:nvSpPr>
          <p:cNvPr id="24" name="S06_023"/>
          <p:cNvSpPr txBox="1"/>
          <p:nvPr/>
        </p:nvSpPr>
        <p:spPr>
          <a:xfrm>
            <a:off x="6946900" y="5346700"/>
            <a:ext cx="4635500" cy="279400"/>
          </a:xfrm>
          <a:prstGeom prst="rect">
            <a:avLst/>
          </a:prstGeom>
          <a:noFill/>
        </p:spPr>
        <p:txBody>
          <a:bodyPr wrap="none" lIns="0" rIns="0" tIns="0" bIns="0" anchor="t">
            <a:spAutoFit/>
          </a:bodyPr>
          <a:lstStyle/>
          <a:p>
            <a:pPr algn="l">
              <a:lnSpc>
                <a:spcPts val="1404"/>
              </a:lnSpc>
              <a:spcBef>
                <a:spcPts val="0"/>
              </a:spcBef>
              <a:spcAft>
                <a:spcPts val="0"/>
              </a:spcAft>
            </a:pPr>
            <a:r>
              <a:rPr sz="1200" b="0">
                <a:solidFill>
                  <a:srgbClr val="AFBDD0"/>
                </a:solidFill>
                <a:latin typeface="DejaVu Sans"/>
              </a:rPr>
              <a:t>Shared diffusion base · three runs</a:t>
            </a:r>
          </a:p>
        </p:txBody>
      </p:sp>
      <p:sp>
        <p:nvSpPr>
          <p:cNvPr id="25" name="S06_024"/>
          <p:cNvSpPr txBox="1"/>
          <p:nvPr/>
        </p:nvSpPr>
        <p:spPr>
          <a:xfrm>
            <a:off x="571500" y="5943600"/>
            <a:ext cx="11049000" cy="469900"/>
          </a:xfrm>
          <a:prstGeom prst="rect">
            <a:avLst/>
          </a:prstGeom>
          <a:noFill/>
        </p:spPr>
        <p:txBody>
          <a:bodyPr wrap="none" lIns="0" rIns="0" tIns="0" bIns="0" anchor="t">
            <a:spAutoFit/>
          </a:bodyPr>
          <a:lstStyle/>
          <a:p>
            <a:pPr algn="ctr">
              <a:lnSpc>
                <a:spcPts val="1872"/>
              </a:lnSpc>
              <a:spcBef>
                <a:spcPts val="0"/>
              </a:spcBef>
              <a:spcAft>
                <a:spcPts val="0"/>
              </a:spcAft>
            </a:pPr>
            <a:r>
              <a:rPr sz="1600" b="0">
                <a:solidFill>
                  <a:srgbClr val="F3F6FA"/>
                </a:solidFill>
                <a:latin typeface="DejaVu Sans"/>
              </a:rPr>
              <a:t>LIBERO: clipping without restoration loses all success on five tested tasks.</a:t>
            </a:r>
          </a:p>
        </p:txBody>
      </p:sp>
      <p:sp>
        <p:nvSpPr>
          <p:cNvPr id="26" name="MEDIA_A05_MASK"/>
          <p:cNvSpPr/>
          <p:nvPr/>
        </p:nvSpPr>
        <p:spPr>
          <a:xfrm>
            <a:off x="533400" y="1866900"/>
            <a:ext cx="5880100" cy="38481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S06_026" descr="image.png"/>
          <p:cNvPicPr>
            <a:picLocks noChangeAspect="1"/>
          </p:cNvPicPr>
          <p:nvPr/>
        </p:nvPicPr>
        <p:blipFill>
          <a:blip r:embed="rId2"/>
          <a:stretch>
            <a:fillRect/>
          </a:stretch>
        </p:blipFill>
        <p:spPr>
          <a:xfrm>
            <a:off x="533400" y="2137171"/>
            <a:ext cx="5880100" cy="3307556"/>
          </a:xfrm>
          <a:prstGeom prst="rect">
            <a:avLst/>
          </a:prstGeom>
        </p:spPr>
      </p:pic>
      <p:pic>
        <p:nvPicPr>
          <p:cNvPr id="28" name="MEDIA_A05_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2"/>
          <a:stretch>
            <a:fillRect/>
          </a:stretch>
        </p:blipFill>
        <p:spPr>
          <a:xfrm>
            <a:off x="533400" y="2137171"/>
            <a:ext cx="5880100" cy="3307556"/>
          </a:xfrm>
          <a:prstGeom prst="rect">
            <a:avLst/>
          </a:prstGeom>
        </p:spPr>
      </p:pic>
      <p:sp>
        <p:nvSpPr>
          <p:cNvPr id="29" name="S06_028"/>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30" name="S06_029"/>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06 / 10</a:t>
            </a:r>
          </a:p>
        </p:txBody>
      </p:sp>
      <p:sp>
        <p:nvSpPr>
          <p:cNvPr id="31" name="S06_030"/>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06_031"/>
          <p:cNvSpPr/>
          <p:nvPr/>
        </p:nvSpPr>
        <p:spPr>
          <a:xfrm>
            <a:off x="0" y="6807200"/>
            <a:ext cx="8128000"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28000"/>
  <p:timing>
    <p:tnLst>
      <p:par>
        <p:cTn id="1" dur="indefinite" restart="never" nodeType="tmRoot">
          <p:childTnLst>
            <p:video>
              <p:cMediaNode vol="80000">
                <p:cTn id="2" fill="hold" display="0">
                  <p:stCondLst>
                    <p:cond delay="0"/>
                  </p:stCondLst>
                </p:cTn>
                <p:tgtEl>
                  <p:spTgt spid="28"/>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7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REAL ROBOT — SETUP</a:t>
            </a:r>
          </a:p>
        </p:txBody>
      </p:sp>
      <p:sp>
        <p:nvSpPr>
          <p:cNvPr id="3" name="S07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REAL ROBOT</a:t>
            </a:r>
          </a:p>
        </p:txBody>
      </p:sp>
      <p:sp>
        <p:nvSpPr>
          <p:cNvPr id="4" name="S07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From recorded experience to robot execution.</a:t>
            </a:r>
          </a:p>
        </p:txBody>
      </p:sp>
      <p:pic>
        <p:nvPicPr>
          <p:cNvPr id="5" name="S07_004" descr="image.png"/>
          <p:cNvPicPr>
            <a:picLocks noChangeAspect="1"/>
          </p:cNvPicPr>
          <p:nvPr/>
        </p:nvPicPr>
        <p:blipFill>
          <a:blip r:embed="rId2"/>
          <a:stretch>
            <a:fillRect/>
          </a:stretch>
        </p:blipFill>
        <p:spPr>
          <a:xfrm>
            <a:off x="546100" y="1917700"/>
            <a:ext cx="5778500" cy="3517900"/>
          </a:xfrm>
          <a:prstGeom prst="rect">
            <a:avLst/>
          </a:prstGeom>
        </p:spPr>
      </p:pic>
      <p:sp>
        <p:nvSpPr>
          <p:cNvPr id="6" name="S07_005"/>
          <p:cNvSpPr/>
          <p:nvPr/>
        </p:nvSpPr>
        <p:spPr>
          <a:xfrm>
            <a:off x="546100" y="4953000"/>
            <a:ext cx="5778500" cy="4826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07_006"/>
          <p:cNvSpPr txBox="1"/>
          <p:nvPr/>
        </p:nvSpPr>
        <p:spPr>
          <a:xfrm>
            <a:off x="736600" y="5054600"/>
            <a:ext cx="5397500" cy="279400"/>
          </a:xfrm>
          <a:prstGeom prst="rect">
            <a:avLst/>
          </a:prstGeom>
          <a:noFill/>
        </p:spPr>
        <p:txBody>
          <a:bodyPr wrap="none" lIns="0" rIns="0" tIns="0" bIns="0" anchor="t">
            <a:spAutoFit/>
          </a:bodyPr>
          <a:lstStyle/>
          <a:p>
            <a:pPr algn="l">
              <a:lnSpc>
                <a:spcPts val="1989"/>
              </a:lnSpc>
              <a:spcBef>
                <a:spcPts val="0"/>
              </a:spcBef>
              <a:spcAft>
                <a:spcPts val="0"/>
              </a:spcAft>
            </a:pPr>
            <a:r>
              <a:rPr sz="1700" b="1">
                <a:solidFill>
                  <a:srgbClr val="F3F6FA"/>
                </a:solidFill>
                <a:latin typeface="DejaVu Sans"/>
              </a:rPr>
              <a:t>OpenArm + parallel gripper</a:t>
            </a:r>
          </a:p>
        </p:txBody>
      </p:sp>
      <p:pic>
        <p:nvPicPr>
          <p:cNvPr id="8" name="S07_007" descr="image.png"/>
          <p:cNvPicPr>
            <a:picLocks noChangeAspect="1"/>
          </p:cNvPicPr>
          <p:nvPr/>
        </p:nvPicPr>
        <p:blipFill>
          <a:blip r:embed="rId3"/>
          <a:stretch>
            <a:fillRect/>
          </a:stretch>
        </p:blipFill>
        <p:spPr>
          <a:xfrm>
            <a:off x="6680200" y="1917700"/>
            <a:ext cx="2324100" cy="1739900"/>
          </a:xfrm>
          <a:prstGeom prst="rect">
            <a:avLst/>
          </a:prstGeom>
        </p:spPr>
      </p:pic>
      <p:pic>
        <p:nvPicPr>
          <p:cNvPr id="9" name="S07_008" descr="image.png"/>
          <p:cNvPicPr>
            <a:picLocks noChangeAspect="1"/>
          </p:cNvPicPr>
          <p:nvPr/>
        </p:nvPicPr>
        <p:blipFill>
          <a:blip r:embed="rId4"/>
          <a:stretch>
            <a:fillRect/>
          </a:stretch>
        </p:blipFill>
        <p:spPr>
          <a:xfrm>
            <a:off x="9321800" y="1917700"/>
            <a:ext cx="2324100" cy="1739900"/>
          </a:xfrm>
          <a:prstGeom prst="rect">
            <a:avLst/>
          </a:prstGeom>
        </p:spPr>
      </p:pic>
      <p:sp>
        <p:nvSpPr>
          <p:cNvPr id="10" name="S07_009"/>
          <p:cNvSpPr txBox="1"/>
          <p:nvPr/>
        </p:nvSpPr>
        <p:spPr>
          <a:xfrm>
            <a:off x="6680200" y="3797300"/>
            <a:ext cx="2324100" cy="304800"/>
          </a:xfrm>
          <a:prstGeom prst="rect">
            <a:avLst/>
          </a:prstGeom>
          <a:noFill/>
        </p:spPr>
        <p:txBody>
          <a:bodyPr wrap="none" lIns="0" rIns="0" tIns="0" bIns="0" anchor="t">
            <a:spAutoFit/>
          </a:bodyPr>
          <a:lstStyle/>
          <a:p>
            <a:pPr algn="ctr">
              <a:lnSpc>
                <a:spcPts val="1872"/>
              </a:lnSpc>
              <a:spcBef>
                <a:spcPts val="0"/>
              </a:spcBef>
              <a:spcAft>
                <a:spcPts val="0"/>
              </a:spcAft>
            </a:pPr>
            <a:r>
              <a:rPr sz="1600" b="0">
                <a:solidFill>
                  <a:srgbClr val="7FB0ED"/>
                </a:solidFill>
                <a:latin typeface="DejaVu Sans"/>
              </a:rPr>
              <a:t>Chest RGB</a:t>
            </a:r>
          </a:p>
        </p:txBody>
      </p:sp>
      <p:sp>
        <p:nvSpPr>
          <p:cNvPr id="11" name="S07_010"/>
          <p:cNvSpPr txBox="1"/>
          <p:nvPr/>
        </p:nvSpPr>
        <p:spPr>
          <a:xfrm>
            <a:off x="9321800" y="3797300"/>
            <a:ext cx="2324100" cy="304800"/>
          </a:xfrm>
          <a:prstGeom prst="rect">
            <a:avLst/>
          </a:prstGeom>
          <a:noFill/>
        </p:spPr>
        <p:txBody>
          <a:bodyPr wrap="none" lIns="0" rIns="0" tIns="0" bIns="0" anchor="t">
            <a:spAutoFit/>
          </a:bodyPr>
          <a:lstStyle/>
          <a:p>
            <a:pPr algn="ctr">
              <a:lnSpc>
                <a:spcPts val="1872"/>
              </a:lnSpc>
              <a:spcBef>
                <a:spcPts val="0"/>
              </a:spcBef>
              <a:spcAft>
                <a:spcPts val="0"/>
              </a:spcAft>
            </a:pPr>
            <a:r>
              <a:rPr sz="1600" b="0">
                <a:solidFill>
                  <a:srgbClr val="7FB0ED"/>
                </a:solidFill>
                <a:latin typeface="DejaVu Sans"/>
              </a:rPr>
              <a:t>Wrist RGB</a:t>
            </a:r>
          </a:p>
        </p:txBody>
      </p:sp>
      <p:sp>
        <p:nvSpPr>
          <p:cNvPr id="12" name="S07_011"/>
          <p:cNvSpPr/>
          <p:nvPr/>
        </p:nvSpPr>
        <p:spPr>
          <a:xfrm>
            <a:off x="6680200" y="4368800"/>
            <a:ext cx="4965700" cy="1155700"/>
          </a:xfrm>
          <a:prstGeom prst="roundRect">
            <a:avLst>
              <a:gd name="adj" fmla="val 7692"/>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07_012"/>
          <p:cNvSpPr txBox="1"/>
          <p:nvPr/>
        </p:nvSpPr>
        <p:spPr>
          <a:xfrm>
            <a:off x="6908800" y="4533900"/>
            <a:ext cx="4508500" cy="317500"/>
          </a:xfrm>
          <a:prstGeom prst="rect">
            <a:avLst/>
          </a:prstGeom>
          <a:noFill/>
        </p:spPr>
        <p:txBody>
          <a:bodyPr wrap="none" lIns="0" rIns="0" tIns="0" bIns="0" anchor="t">
            <a:spAutoFit/>
          </a:bodyPr>
          <a:lstStyle/>
          <a:p>
            <a:pPr algn="l">
              <a:lnSpc>
                <a:spcPts val="1989"/>
              </a:lnSpc>
              <a:spcBef>
                <a:spcPts val="0"/>
              </a:spcBef>
              <a:spcAft>
                <a:spcPts val="0"/>
              </a:spcAft>
            </a:pPr>
            <a:r>
              <a:rPr sz="1700" b="0">
                <a:solidFill>
                  <a:srgbClr val="F3F6FA"/>
                </a:solidFill>
                <a:latin typeface="DejaVu Sans"/>
              </a:rPr>
              <a:t>RGB + joint / gripper state</a:t>
            </a:r>
          </a:p>
        </p:txBody>
      </p:sp>
      <p:sp>
        <p:nvSpPr>
          <p:cNvPr id="14" name="S07_013"/>
          <p:cNvSpPr txBox="1"/>
          <p:nvPr/>
        </p:nvSpPr>
        <p:spPr>
          <a:xfrm>
            <a:off x="6908800" y="5016500"/>
            <a:ext cx="45085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42D7B4"/>
                </a:solidFill>
                <a:latin typeface="DejaVu Sans"/>
              </a:rPr>
              <a:t>Flow policy + residual → action chunks</a:t>
            </a:r>
          </a:p>
        </p:txBody>
      </p:sp>
      <p:sp>
        <p:nvSpPr>
          <p:cNvPr id="15" name="S07_014"/>
          <p:cNvSpPr txBox="1"/>
          <p:nvPr/>
        </p:nvSpPr>
        <p:spPr>
          <a:xfrm>
            <a:off x="584200" y="5803900"/>
            <a:ext cx="11049000" cy="381000"/>
          </a:xfrm>
          <a:prstGeom prst="rect">
            <a:avLst/>
          </a:prstGeom>
          <a:noFill/>
        </p:spPr>
        <p:txBody>
          <a:bodyPr wrap="none" lIns="0" rIns="0" tIns="0" bIns="0" anchor="t">
            <a:spAutoFit/>
          </a:bodyPr>
          <a:lstStyle/>
          <a:p>
            <a:pPr algn="ctr">
              <a:lnSpc>
                <a:spcPts val="2340"/>
              </a:lnSpc>
              <a:spcBef>
                <a:spcPts val="0"/>
              </a:spcBef>
              <a:spcAft>
                <a:spcPts val="0"/>
              </a:spcAft>
            </a:pPr>
            <a:r>
              <a:rPr sz="2000" b="0">
                <a:solidFill>
                  <a:srgbClr val="F3F6FA"/>
                </a:solidFill>
                <a:latin typeface="DejaVu Sans"/>
              </a:rPr>
              <a:t>Recorded rollouts → offline refinement → autonomous evaluation</a:t>
            </a:r>
          </a:p>
        </p:txBody>
      </p:sp>
      <p:sp>
        <p:nvSpPr>
          <p:cNvPr id="16" name="S07_015"/>
          <p:cNvSpPr txBox="1"/>
          <p:nvPr/>
        </p:nvSpPr>
        <p:spPr>
          <a:xfrm>
            <a:off x="584200" y="6248400"/>
            <a:ext cx="11049000" cy="215900"/>
          </a:xfrm>
          <a:prstGeom prst="rect">
            <a:avLst/>
          </a:prstGeom>
          <a:noFill/>
        </p:spPr>
        <p:txBody>
          <a:bodyPr wrap="none" lIns="0" rIns="0" tIns="0" bIns="0" anchor="t">
            <a:spAutoFit/>
          </a:bodyPr>
          <a:lstStyle/>
          <a:p>
            <a:pPr algn="ctr">
              <a:lnSpc>
                <a:spcPts val="1170"/>
              </a:lnSpc>
              <a:spcBef>
                <a:spcPts val="0"/>
              </a:spcBef>
              <a:spcAft>
                <a:spcPts val="0"/>
              </a:spcAft>
            </a:pPr>
            <a:r>
              <a:rPr sz="1000" b="0">
                <a:solidFill>
                  <a:srgbClr val="AFBDD0"/>
                </a:solidFill>
                <a:latin typeface="DejaVu Sans"/>
              </a:rPr>
              <a:t>Scene images are teleoperated demonstration frames.</a:t>
            </a:r>
          </a:p>
        </p:txBody>
      </p:sp>
      <p:sp>
        <p:nvSpPr>
          <p:cNvPr id="17" name="S07_016"/>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18" name="S07_017"/>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07 / 10</a:t>
            </a:r>
          </a:p>
        </p:txBody>
      </p:sp>
      <p:sp>
        <p:nvSpPr>
          <p:cNvPr id="19" name="S07_018"/>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07_019"/>
          <p:cNvSpPr/>
          <p:nvPr/>
        </p:nvSpPr>
        <p:spPr>
          <a:xfrm>
            <a:off x="0" y="6807200"/>
            <a:ext cx="9211733"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16000"/>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8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REAL ROBOT — PLACEMENT</a:t>
            </a:r>
          </a:p>
        </p:txBody>
      </p:sp>
      <p:sp>
        <p:nvSpPr>
          <p:cNvPr id="3" name="S08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REAL ROBOT</a:t>
            </a:r>
          </a:p>
        </p:txBody>
      </p:sp>
      <p:sp>
        <p:nvSpPr>
          <p:cNvPr id="4" name="S08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Place accurately across changing heights.</a:t>
            </a:r>
          </a:p>
        </p:txBody>
      </p:sp>
      <p:sp>
        <p:nvSpPr>
          <p:cNvPr id="5" name="MEDIA_V01_FRAME"/>
          <p:cNvSpPr/>
          <p:nvPr/>
        </p:nvSpPr>
        <p:spPr>
          <a:xfrm>
            <a:off x="533400" y="1917700"/>
            <a:ext cx="6883400" cy="3873500"/>
          </a:xfrm>
          <a:prstGeom prst="roundRect">
            <a:avLst>
              <a:gd name="adj" fmla="val 2622"/>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DIA_V01_LABEL"/>
          <p:cNvSpPr txBox="1"/>
          <p:nvPr/>
        </p:nvSpPr>
        <p:spPr>
          <a:xfrm>
            <a:off x="736600" y="2070100"/>
            <a:ext cx="64770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V01 / Autonomous placement</a:t>
            </a:r>
          </a:p>
        </p:txBody>
      </p:sp>
      <p:sp>
        <p:nvSpPr>
          <p:cNvPr id="7" name="MEDIA_V01_STATUS"/>
          <p:cNvSpPr txBox="1"/>
          <p:nvPr/>
        </p:nvSpPr>
        <p:spPr>
          <a:xfrm>
            <a:off x="736600" y="5499100"/>
            <a:ext cx="64770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VIDEO RESERVED</a:t>
            </a:r>
          </a:p>
        </p:txBody>
      </p:sp>
      <p:pic>
        <p:nvPicPr>
          <p:cNvPr id="8" name="S08_007" descr="image.png"/>
          <p:cNvPicPr>
            <a:picLocks noChangeAspect="1"/>
          </p:cNvPicPr>
          <p:nvPr/>
        </p:nvPicPr>
        <p:blipFill>
          <a:blip r:embed="rId2"/>
          <a:stretch>
            <a:fillRect/>
          </a:stretch>
        </p:blipFill>
        <p:spPr>
          <a:xfrm>
            <a:off x="698500" y="2400300"/>
            <a:ext cx="6553200" cy="2959100"/>
          </a:xfrm>
          <a:prstGeom prst="rect">
            <a:avLst/>
          </a:prstGeom>
        </p:spPr>
      </p:pic>
      <p:sp>
        <p:nvSpPr>
          <p:cNvPr id="9" name="S08_008"/>
          <p:cNvSpPr/>
          <p:nvPr/>
        </p:nvSpPr>
        <p:spPr>
          <a:xfrm>
            <a:off x="825500" y="2514600"/>
            <a:ext cx="4737100" cy="368300"/>
          </a:xfrm>
          <a:prstGeom prst="rect">
            <a:avLst/>
          </a:prstGeom>
          <a:solidFill>
            <a:srgbClr val="0D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8_009"/>
          <p:cNvSpPr txBox="1"/>
          <p:nvPr/>
        </p:nvSpPr>
        <p:spPr>
          <a:xfrm>
            <a:off x="952500" y="2603500"/>
            <a:ext cx="4457700" cy="241300"/>
          </a:xfrm>
          <a:prstGeom prst="rect">
            <a:avLst/>
          </a:prstGeom>
          <a:noFill/>
        </p:spPr>
        <p:txBody>
          <a:bodyPr wrap="none" lIns="0" rIns="0" tIns="0" bIns="0" anchor="t">
            <a:spAutoFit/>
          </a:bodyPr>
          <a:lstStyle/>
          <a:p>
            <a:pPr algn="l">
              <a:lnSpc>
                <a:spcPts val="1404"/>
              </a:lnSpc>
              <a:spcBef>
                <a:spcPts val="0"/>
              </a:spcBef>
              <a:spcAft>
                <a:spcPts val="0"/>
              </a:spcAft>
            </a:pPr>
            <a:r>
              <a:rPr sz="1200" b="1">
                <a:solidFill>
                  <a:srgbClr val="F3F6FA"/>
                </a:solidFill>
                <a:latin typeface="DejaVu Sans"/>
              </a:rPr>
              <a:t>PLACEHOLDER · teleoperation still</a:t>
            </a:r>
          </a:p>
        </p:txBody>
      </p:sp>
      <p:sp>
        <p:nvSpPr>
          <p:cNvPr id="11" name="S08_010"/>
          <p:cNvSpPr txBox="1"/>
          <p:nvPr/>
        </p:nvSpPr>
        <p:spPr>
          <a:xfrm>
            <a:off x="7747000" y="1955800"/>
            <a:ext cx="3898900" cy="381000"/>
          </a:xfrm>
          <a:prstGeom prst="rect">
            <a:avLst/>
          </a:prstGeom>
          <a:noFill/>
        </p:spPr>
        <p:txBody>
          <a:bodyPr wrap="none" lIns="0" rIns="0" tIns="0" bIns="0" anchor="t">
            <a:spAutoFit/>
          </a:bodyPr>
          <a:lstStyle/>
          <a:p>
            <a:pPr algn="l">
              <a:lnSpc>
                <a:spcPts val="2222"/>
              </a:lnSpc>
              <a:spcBef>
                <a:spcPts val="0"/>
              </a:spcBef>
              <a:spcAft>
                <a:spcPts val="0"/>
              </a:spcAft>
            </a:pPr>
            <a:r>
              <a:rPr sz="1900" b="1">
                <a:solidFill>
                  <a:srgbClr val="F3F6FA"/>
                </a:solidFill>
                <a:latin typeface="DejaVu Sans"/>
              </a:rPr>
              <a:t>Autonomous success</a:t>
            </a:r>
          </a:p>
        </p:txBody>
      </p:sp>
      <p:sp>
        <p:nvSpPr>
          <p:cNvPr id="12" name="S08_011"/>
          <p:cNvSpPr txBox="1"/>
          <p:nvPr/>
        </p:nvSpPr>
        <p:spPr>
          <a:xfrm>
            <a:off x="7747000" y="26797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8D9BAC"/>
                </a:solidFill>
                <a:latin typeface="DejaVu Sans"/>
              </a:rPr>
              <a:t>Base</a:t>
            </a:r>
          </a:p>
        </p:txBody>
      </p:sp>
      <p:sp>
        <p:nvSpPr>
          <p:cNvPr id="13" name="S08_012"/>
          <p:cNvSpPr/>
          <p:nvPr/>
        </p:nvSpPr>
        <p:spPr>
          <a:xfrm>
            <a:off x="8661400" y="26416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8_013"/>
          <p:cNvSpPr/>
          <p:nvPr/>
        </p:nvSpPr>
        <p:spPr>
          <a:xfrm>
            <a:off x="8661400" y="2641600"/>
            <a:ext cx="1355090" cy="304800"/>
          </a:xfrm>
          <a:prstGeom prst="rect">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8_014"/>
          <p:cNvSpPr txBox="1"/>
          <p:nvPr/>
        </p:nvSpPr>
        <p:spPr>
          <a:xfrm>
            <a:off x="11239500" y="26797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8D9BAC"/>
                </a:solidFill>
                <a:latin typeface="DejaVu Sans"/>
              </a:rPr>
              <a:t>55%</a:t>
            </a:r>
          </a:p>
        </p:txBody>
      </p:sp>
      <p:sp>
        <p:nvSpPr>
          <p:cNvPr id="16" name="S08_015"/>
          <p:cNvSpPr txBox="1"/>
          <p:nvPr/>
        </p:nvSpPr>
        <p:spPr>
          <a:xfrm>
            <a:off x="7747000" y="32004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F0B360"/>
                </a:solidFill>
                <a:latin typeface="DejaVu Sans"/>
              </a:rPr>
              <a:t>BC</a:t>
            </a:r>
          </a:p>
        </p:txBody>
      </p:sp>
      <p:sp>
        <p:nvSpPr>
          <p:cNvPr id="17" name="S08_016"/>
          <p:cNvSpPr/>
          <p:nvPr/>
        </p:nvSpPr>
        <p:spPr>
          <a:xfrm>
            <a:off x="8661400" y="31623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8_017"/>
          <p:cNvSpPr/>
          <p:nvPr/>
        </p:nvSpPr>
        <p:spPr>
          <a:xfrm>
            <a:off x="8661400" y="3162300"/>
            <a:ext cx="1971039" cy="304800"/>
          </a:xfrm>
          <a:prstGeom prst="rect">
            <a:avLst/>
          </a:prstGeom>
          <a:solidFill>
            <a:srgbClr val="F0B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8_018"/>
          <p:cNvSpPr txBox="1"/>
          <p:nvPr/>
        </p:nvSpPr>
        <p:spPr>
          <a:xfrm>
            <a:off x="11239500" y="32004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F0B360"/>
                </a:solidFill>
                <a:latin typeface="DejaVu Sans"/>
              </a:rPr>
              <a:t>80%</a:t>
            </a:r>
          </a:p>
        </p:txBody>
      </p:sp>
      <p:sp>
        <p:nvSpPr>
          <p:cNvPr id="20" name="S08_019"/>
          <p:cNvSpPr txBox="1"/>
          <p:nvPr/>
        </p:nvSpPr>
        <p:spPr>
          <a:xfrm>
            <a:off x="7747000" y="37211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7FB0ED"/>
                </a:solidFill>
                <a:latin typeface="DejaVu Sans"/>
              </a:rPr>
              <a:t>DICE-RL</a:t>
            </a:r>
          </a:p>
        </p:txBody>
      </p:sp>
      <p:sp>
        <p:nvSpPr>
          <p:cNvPr id="21" name="S08_020"/>
          <p:cNvSpPr/>
          <p:nvPr/>
        </p:nvSpPr>
        <p:spPr>
          <a:xfrm>
            <a:off x="8661400" y="36830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08_021"/>
          <p:cNvSpPr/>
          <p:nvPr/>
        </p:nvSpPr>
        <p:spPr>
          <a:xfrm>
            <a:off x="8661400" y="3683000"/>
            <a:ext cx="2217420" cy="304800"/>
          </a:xfrm>
          <a:prstGeom prst="rect">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08_022"/>
          <p:cNvSpPr txBox="1"/>
          <p:nvPr/>
        </p:nvSpPr>
        <p:spPr>
          <a:xfrm>
            <a:off x="11239500" y="37211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7FB0ED"/>
                </a:solidFill>
                <a:latin typeface="DejaVu Sans"/>
              </a:rPr>
              <a:t>90%</a:t>
            </a:r>
          </a:p>
        </p:txBody>
      </p:sp>
      <p:sp>
        <p:nvSpPr>
          <p:cNvPr id="24" name="S08_023"/>
          <p:cNvSpPr txBox="1"/>
          <p:nvPr/>
        </p:nvSpPr>
        <p:spPr>
          <a:xfrm>
            <a:off x="7747000" y="42418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1">
                <a:solidFill>
                  <a:srgbClr val="42D7B4"/>
                </a:solidFill>
                <a:latin typeface="DejaVu Sans"/>
              </a:rPr>
              <a:t>CAST</a:t>
            </a:r>
          </a:p>
        </p:txBody>
      </p:sp>
      <p:sp>
        <p:nvSpPr>
          <p:cNvPr id="25" name="S08_024"/>
          <p:cNvSpPr/>
          <p:nvPr/>
        </p:nvSpPr>
        <p:spPr>
          <a:xfrm>
            <a:off x="8661400" y="42037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08_025"/>
          <p:cNvSpPr/>
          <p:nvPr/>
        </p:nvSpPr>
        <p:spPr>
          <a:xfrm>
            <a:off x="8661400" y="4203700"/>
            <a:ext cx="2340610" cy="304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08_026"/>
          <p:cNvSpPr txBox="1"/>
          <p:nvPr/>
        </p:nvSpPr>
        <p:spPr>
          <a:xfrm>
            <a:off x="11239500" y="42418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1">
                <a:solidFill>
                  <a:srgbClr val="42D7B4"/>
                </a:solidFill>
                <a:latin typeface="DejaVu Sans"/>
              </a:rPr>
              <a:t>95%</a:t>
            </a:r>
          </a:p>
        </p:txBody>
      </p:sp>
      <p:sp>
        <p:nvSpPr>
          <p:cNvPr id="28" name="S08_027"/>
          <p:cNvSpPr txBox="1"/>
          <p:nvPr/>
        </p:nvSpPr>
        <p:spPr>
          <a:xfrm>
            <a:off x="7759700" y="5054600"/>
            <a:ext cx="3784600" cy="482600"/>
          </a:xfrm>
          <a:prstGeom prst="rect">
            <a:avLst/>
          </a:prstGeom>
          <a:noFill/>
        </p:spPr>
        <p:txBody>
          <a:bodyPr wrap="none" lIns="0" rIns="0" tIns="0" bIns="0" anchor="t">
            <a:spAutoFit/>
          </a:bodyPr>
          <a:lstStyle/>
          <a:p>
            <a:pPr algn="l">
              <a:lnSpc>
                <a:spcPts val="2340"/>
              </a:lnSpc>
              <a:spcBef>
                <a:spcPts val="0"/>
              </a:spcBef>
              <a:spcAft>
                <a:spcPts val="0"/>
              </a:spcAft>
            </a:pPr>
            <a:r>
              <a:rPr sz="2000" b="1">
                <a:solidFill>
                  <a:srgbClr val="42D7B4"/>
                </a:solidFill>
                <a:latin typeface="DejaVu Sans"/>
              </a:rPr>
              <a:t>+40 percentage points</a:t>
            </a:r>
          </a:p>
        </p:txBody>
      </p:sp>
      <p:sp>
        <p:nvSpPr>
          <p:cNvPr id="29" name="S08_028"/>
          <p:cNvSpPr txBox="1"/>
          <p:nvPr/>
        </p:nvSpPr>
        <p:spPr>
          <a:xfrm>
            <a:off x="7772400" y="5537200"/>
            <a:ext cx="3759200" cy="2921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AFBDD0"/>
                </a:solidFill>
                <a:latin typeface="DejaVu Sans"/>
              </a:rPr>
              <a:t>over the pretrained base</a:t>
            </a:r>
          </a:p>
        </p:txBody>
      </p:sp>
      <p:sp>
        <p:nvSpPr>
          <p:cNvPr id="30" name="S08_029"/>
          <p:cNvSpPr txBox="1"/>
          <p:nvPr/>
        </p:nvSpPr>
        <p:spPr>
          <a:xfrm>
            <a:off x="558800" y="6045200"/>
            <a:ext cx="11061700" cy="355600"/>
          </a:xfrm>
          <a:prstGeom prst="rect">
            <a:avLst/>
          </a:prstGeom>
          <a:noFill/>
        </p:spPr>
        <p:txBody>
          <a:bodyPr wrap="none" lIns="0" rIns="0" tIns="0" bIns="0" anchor="t">
            <a:spAutoFit/>
          </a:bodyPr>
          <a:lstStyle/>
          <a:p>
            <a:pPr algn="ctr">
              <a:lnSpc>
                <a:spcPts val="2106"/>
              </a:lnSpc>
              <a:spcBef>
                <a:spcPts val="0"/>
              </a:spcBef>
              <a:spcAft>
                <a:spcPts val="0"/>
              </a:spcAft>
            </a:pPr>
            <a:r>
              <a:rPr sz="1800" b="0">
                <a:solidFill>
                  <a:srgbClr val="F3F6FA"/>
                </a:solidFill>
                <a:latin typeface="DejaVu Sans"/>
              </a:rPr>
              <a:t>Place the toy fully inside the case.</a:t>
            </a:r>
          </a:p>
        </p:txBody>
      </p:sp>
      <p:sp>
        <p:nvSpPr>
          <p:cNvPr id="31" name="S08_030"/>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32" name="S08_031"/>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08 / 10</a:t>
            </a:r>
          </a:p>
        </p:txBody>
      </p:sp>
      <p:sp>
        <p:nvSpPr>
          <p:cNvPr id="33" name="S08_032"/>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8_033"/>
          <p:cNvSpPr/>
          <p:nvPr/>
        </p:nvSpPr>
        <p:spPr>
          <a:xfrm>
            <a:off x="0" y="6807200"/>
            <a:ext cx="10295466"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16000"/>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09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REAL ROBOT — STACKING</a:t>
            </a:r>
          </a:p>
        </p:txBody>
      </p:sp>
      <p:sp>
        <p:nvSpPr>
          <p:cNvPr id="3" name="S09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REAL ROBOT</a:t>
            </a:r>
          </a:p>
        </p:txBody>
      </p:sp>
      <p:sp>
        <p:nvSpPr>
          <p:cNvPr id="4" name="S09_003"/>
          <p:cNvSpPr txBox="1"/>
          <p:nvPr/>
        </p:nvSpPr>
        <p:spPr>
          <a:xfrm>
            <a:off x="533400" y="787400"/>
            <a:ext cx="11125200" cy="1003300"/>
          </a:xfrm>
          <a:prstGeom prst="rect">
            <a:avLst/>
          </a:prstGeom>
          <a:noFill/>
        </p:spPr>
        <p:txBody>
          <a:bodyPr wrap="none" lIns="0" rIns="0" tIns="0" bIns="0" anchor="t">
            <a:spAutoFit/>
          </a:bodyPr>
          <a:lstStyle/>
          <a:p>
            <a:pPr algn="l">
              <a:lnSpc>
                <a:spcPts val="3626"/>
              </a:lnSpc>
              <a:spcBef>
                <a:spcPts val="0"/>
              </a:spcBef>
              <a:spcAft>
                <a:spcPts val="0"/>
              </a:spcAft>
            </a:pPr>
            <a:r>
              <a:rPr sz="3100" b="1">
                <a:solidFill>
                  <a:srgbClr val="F3F6FA"/>
                </a:solidFill>
                <a:latin typeface="DejaVu Sans"/>
              </a:rPr>
              <a:t>Preserve the approach. Improve the finish.</a:t>
            </a:r>
          </a:p>
        </p:txBody>
      </p:sp>
      <p:sp>
        <p:nvSpPr>
          <p:cNvPr id="5" name="MEDIA_V02_FRAME"/>
          <p:cNvSpPr/>
          <p:nvPr/>
        </p:nvSpPr>
        <p:spPr>
          <a:xfrm>
            <a:off x="533400" y="1917700"/>
            <a:ext cx="6883400" cy="3873500"/>
          </a:xfrm>
          <a:prstGeom prst="roundRect">
            <a:avLst>
              <a:gd name="adj" fmla="val 2622"/>
            </a:avLst>
          </a:prstGeom>
          <a:solidFill>
            <a:srgbClr val="16273B"/>
          </a:solidFill>
          <a:ln w="12700">
            <a:solidFill>
              <a:srgbClr val="334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DIA_V02_LABEL"/>
          <p:cNvSpPr txBox="1"/>
          <p:nvPr/>
        </p:nvSpPr>
        <p:spPr>
          <a:xfrm>
            <a:off x="736600" y="2070100"/>
            <a:ext cx="6477000" cy="2540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V02 / Autonomous stacking</a:t>
            </a:r>
          </a:p>
        </p:txBody>
      </p:sp>
      <p:sp>
        <p:nvSpPr>
          <p:cNvPr id="7" name="MEDIA_V02_STATUS"/>
          <p:cNvSpPr txBox="1"/>
          <p:nvPr/>
        </p:nvSpPr>
        <p:spPr>
          <a:xfrm>
            <a:off x="736600" y="5499100"/>
            <a:ext cx="6477000" cy="2032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STATIC PREVIEW · VIDEO RESERVED</a:t>
            </a:r>
          </a:p>
        </p:txBody>
      </p:sp>
      <p:pic>
        <p:nvPicPr>
          <p:cNvPr id="8" name="S09_007" descr="image.png"/>
          <p:cNvPicPr>
            <a:picLocks noChangeAspect="1"/>
          </p:cNvPicPr>
          <p:nvPr/>
        </p:nvPicPr>
        <p:blipFill>
          <a:blip r:embed="rId2"/>
          <a:stretch>
            <a:fillRect/>
          </a:stretch>
        </p:blipFill>
        <p:spPr>
          <a:xfrm>
            <a:off x="698500" y="2400300"/>
            <a:ext cx="6553200" cy="2959100"/>
          </a:xfrm>
          <a:prstGeom prst="rect">
            <a:avLst/>
          </a:prstGeom>
        </p:spPr>
      </p:pic>
      <p:sp>
        <p:nvSpPr>
          <p:cNvPr id="9" name="S09_008"/>
          <p:cNvSpPr/>
          <p:nvPr/>
        </p:nvSpPr>
        <p:spPr>
          <a:xfrm>
            <a:off x="825500" y="2514600"/>
            <a:ext cx="4737100" cy="368300"/>
          </a:xfrm>
          <a:prstGeom prst="rect">
            <a:avLst/>
          </a:prstGeom>
          <a:solidFill>
            <a:srgbClr val="0D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9_009"/>
          <p:cNvSpPr txBox="1"/>
          <p:nvPr/>
        </p:nvSpPr>
        <p:spPr>
          <a:xfrm>
            <a:off x="952500" y="2603500"/>
            <a:ext cx="4457700" cy="241300"/>
          </a:xfrm>
          <a:prstGeom prst="rect">
            <a:avLst/>
          </a:prstGeom>
          <a:noFill/>
        </p:spPr>
        <p:txBody>
          <a:bodyPr wrap="none" lIns="0" rIns="0" tIns="0" bIns="0" anchor="t">
            <a:spAutoFit/>
          </a:bodyPr>
          <a:lstStyle/>
          <a:p>
            <a:pPr algn="l">
              <a:lnSpc>
                <a:spcPts val="1404"/>
              </a:lnSpc>
              <a:spcBef>
                <a:spcPts val="0"/>
              </a:spcBef>
              <a:spcAft>
                <a:spcPts val="0"/>
              </a:spcAft>
            </a:pPr>
            <a:r>
              <a:rPr sz="1200" b="1">
                <a:solidFill>
                  <a:srgbClr val="F3F6FA"/>
                </a:solidFill>
                <a:latin typeface="DejaVu Sans"/>
              </a:rPr>
              <a:t>PLACEHOLDER · teleoperation still</a:t>
            </a:r>
          </a:p>
        </p:txBody>
      </p:sp>
      <p:sp>
        <p:nvSpPr>
          <p:cNvPr id="11" name="S09_010"/>
          <p:cNvSpPr txBox="1"/>
          <p:nvPr/>
        </p:nvSpPr>
        <p:spPr>
          <a:xfrm>
            <a:off x="7747000" y="1955800"/>
            <a:ext cx="3898900" cy="381000"/>
          </a:xfrm>
          <a:prstGeom prst="rect">
            <a:avLst/>
          </a:prstGeom>
          <a:noFill/>
        </p:spPr>
        <p:txBody>
          <a:bodyPr wrap="none" lIns="0" rIns="0" tIns="0" bIns="0" anchor="t">
            <a:spAutoFit/>
          </a:bodyPr>
          <a:lstStyle/>
          <a:p>
            <a:pPr algn="l">
              <a:lnSpc>
                <a:spcPts val="2222"/>
              </a:lnSpc>
              <a:spcBef>
                <a:spcPts val="0"/>
              </a:spcBef>
              <a:spcAft>
                <a:spcPts val="0"/>
              </a:spcAft>
            </a:pPr>
            <a:r>
              <a:rPr sz="1900" b="1">
                <a:solidFill>
                  <a:srgbClr val="F3F6FA"/>
                </a:solidFill>
                <a:latin typeface="DejaVu Sans"/>
              </a:rPr>
              <a:t>Autonomous success</a:t>
            </a:r>
          </a:p>
        </p:txBody>
      </p:sp>
      <p:sp>
        <p:nvSpPr>
          <p:cNvPr id="12" name="S09_011"/>
          <p:cNvSpPr txBox="1"/>
          <p:nvPr/>
        </p:nvSpPr>
        <p:spPr>
          <a:xfrm>
            <a:off x="7747000" y="26797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8D9BAC"/>
                </a:solidFill>
                <a:latin typeface="DejaVu Sans"/>
              </a:rPr>
              <a:t>Base</a:t>
            </a:r>
          </a:p>
        </p:txBody>
      </p:sp>
      <p:sp>
        <p:nvSpPr>
          <p:cNvPr id="13" name="S09_012"/>
          <p:cNvSpPr/>
          <p:nvPr/>
        </p:nvSpPr>
        <p:spPr>
          <a:xfrm>
            <a:off x="8661400" y="26416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9_013"/>
          <p:cNvSpPr/>
          <p:nvPr/>
        </p:nvSpPr>
        <p:spPr>
          <a:xfrm>
            <a:off x="8661400" y="2641600"/>
            <a:ext cx="862330" cy="304800"/>
          </a:xfrm>
          <a:prstGeom prst="rect">
            <a:avLst/>
          </a:prstGeom>
          <a:solidFill>
            <a:srgbClr val="8D9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9_014"/>
          <p:cNvSpPr txBox="1"/>
          <p:nvPr/>
        </p:nvSpPr>
        <p:spPr>
          <a:xfrm>
            <a:off x="11239500" y="26797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8D9BAC"/>
                </a:solidFill>
                <a:latin typeface="DejaVu Sans"/>
              </a:rPr>
              <a:t>35%</a:t>
            </a:r>
          </a:p>
        </p:txBody>
      </p:sp>
      <p:sp>
        <p:nvSpPr>
          <p:cNvPr id="16" name="S09_015"/>
          <p:cNvSpPr txBox="1"/>
          <p:nvPr/>
        </p:nvSpPr>
        <p:spPr>
          <a:xfrm>
            <a:off x="7747000" y="32004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F0B360"/>
                </a:solidFill>
                <a:latin typeface="DejaVu Sans"/>
              </a:rPr>
              <a:t>BC</a:t>
            </a:r>
          </a:p>
        </p:txBody>
      </p:sp>
      <p:sp>
        <p:nvSpPr>
          <p:cNvPr id="17" name="S09_016"/>
          <p:cNvSpPr/>
          <p:nvPr/>
        </p:nvSpPr>
        <p:spPr>
          <a:xfrm>
            <a:off x="8661400" y="31623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9_017"/>
          <p:cNvSpPr/>
          <p:nvPr/>
        </p:nvSpPr>
        <p:spPr>
          <a:xfrm>
            <a:off x="8661400" y="3162300"/>
            <a:ext cx="1601470" cy="304800"/>
          </a:xfrm>
          <a:prstGeom prst="rect">
            <a:avLst/>
          </a:prstGeom>
          <a:solidFill>
            <a:srgbClr val="F0B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9_018"/>
          <p:cNvSpPr txBox="1"/>
          <p:nvPr/>
        </p:nvSpPr>
        <p:spPr>
          <a:xfrm>
            <a:off x="11239500" y="32004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F0B360"/>
                </a:solidFill>
                <a:latin typeface="DejaVu Sans"/>
              </a:rPr>
              <a:t>65%</a:t>
            </a:r>
          </a:p>
        </p:txBody>
      </p:sp>
      <p:sp>
        <p:nvSpPr>
          <p:cNvPr id="20" name="S09_019"/>
          <p:cNvSpPr txBox="1"/>
          <p:nvPr/>
        </p:nvSpPr>
        <p:spPr>
          <a:xfrm>
            <a:off x="7747000" y="37211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7FB0ED"/>
                </a:solidFill>
                <a:latin typeface="DejaVu Sans"/>
              </a:rPr>
              <a:t>DICE-RL</a:t>
            </a:r>
          </a:p>
        </p:txBody>
      </p:sp>
      <p:sp>
        <p:nvSpPr>
          <p:cNvPr id="21" name="S09_020"/>
          <p:cNvSpPr/>
          <p:nvPr/>
        </p:nvSpPr>
        <p:spPr>
          <a:xfrm>
            <a:off x="8661400" y="36830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09_021"/>
          <p:cNvSpPr/>
          <p:nvPr/>
        </p:nvSpPr>
        <p:spPr>
          <a:xfrm>
            <a:off x="8661400" y="3683000"/>
            <a:ext cx="1478280" cy="304800"/>
          </a:xfrm>
          <a:prstGeom prst="rect">
            <a:avLst/>
          </a:prstGeom>
          <a:solidFill>
            <a:srgbClr val="7FB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09_022"/>
          <p:cNvSpPr txBox="1"/>
          <p:nvPr/>
        </p:nvSpPr>
        <p:spPr>
          <a:xfrm>
            <a:off x="11239500" y="37211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7FB0ED"/>
                </a:solidFill>
                <a:latin typeface="DejaVu Sans"/>
              </a:rPr>
              <a:t>60%</a:t>
            </a:r>
          </a:p>
        </p:txBody>
      </p:sp>
      <p:sp>
        <p:nvSpPr>
          <p:cNvPr id="24" name="S09_023"/>
          <p:cNvSpPr txBox="1"/>
          <p:nvPr/>
        </p:nvSpPr>
        <p:spPr>
          <a:xfrm>
            <a:off x="7747000" y="4241800"/>
            <a:ext cx="838200" cy="304800"/>
          </a:xfrm>
          <a:prstGeom prst="rect">
            <a:avLst/>
          </a:prstGeom>
          <a:noFill/>
        </p:spPr>
        <p:txBody>
          <a:bodyPr wrap="none" lIns="0" rIns="0" tIns="0" bIns="0" anchor="t">
            <a:spAutoFit/>
          </a:bodyPr>
          <a:lstStyle/>
          <a:p>
            <a:pPr algn="l">
              <a:lnSpc>
                <a:spcPts val="1754"/>
              </a:lnSpc>
              <a:spcBef>
                <a:spcPts val="0"/>
              </a:spcBef>
              <a:spcAft>
                <a:spcPts val="0"/>
              </a:spcAft>
            </a:pPr>
            <a:r>
              <a:rPr sz="1500" b="1">
                <a:solidFill>
                  <a:srgbClr val="42D7B4"/>
                </a:solidFill>
                <a:latin typeface="DejaVu Sans"/>
              </a:rPr>
              <a:t>CAST</a:t>
            </a:r>
          </a:p>
        </p:txBody>
      </p:sp>
      <p:sp>
        <p:nvSpPr>
          <p:cNvPr id="25" name="S09_024"/>
          <p:cNvSpPr/>
          <p:nvPr/>
        </p:nvSpPr>
        <p:spPr>
          <a:xfrm>
            <a:off x="8661400" y="4203700"/>
            <a:ext cx="2463800" cy="304800"/>
          </a:xfrm>
          <a:prstGeom prst="rect">
            <a:avLst/>
          </a:prstGeom>
          <a:solidFill>
            <a:srgbClr val="102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09_025"/>
          <p:cNvSpPr/>
          <p:nvPr/>
        </p:nvSpPr>
        <p:spPr>
          <a:xfrm>
            <a:off x="8661400" y="4203700"/>
            <a:ext cx="1724660" cy="304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09_026"/>
          <p:cNvSpPr txBox="1"/>
          <p:nvPr/>
        </p:nvSpPr>
        <p:spPr>
          <a:xfrm>
            <a:off x="11239500" y="4241800"/>
            <a:ext cx="533400" cy="304800"/>
          </a:xfrm>
          <a:prstGeom prst="rect">
            <a:avLst/>
          </a:prstGeom>
          <a:noFill/>
        </p:spPr>
        <p:txBody>
          <a:bodyPr wrap="none" lIns="0" rIns="0" tIns="0" bIns="0" anchor="t">
            <a:spAutoFit/>
          </a:bodyPr>
          <a:lstStyle/>
          <a:p>
            <a:pPr algn="l">
              <a:lnSpc>
                <a:spcPts val="1754"/>
              </a:lnSpc>
              <a:spcBef>
                <a:spcPts val="0"/>
              </a:spcBef>
              <a:spcAft>
                <a:spcPts val="0"/>
              </a:spcAft>
            </a:pPr>
            <a:r>
              <a:rPr sz="1500" b="1">
                <a:solidFill>
                  <a:srgbClr val="42D7B4"/>
                </a:solidFill>
                <a:latin typeface="DejaVu Sans"/>
              </a:rPr>
              <a:t>70%</a:t>
            </a:r>
          </a:p>
        </p:txBody>
      </p:sp>
      <p:sp>
        <p:nvSpPr>
          <p:cNvPr id="28" name="S09_027"/>
          <p:cNvSpPr txBox="1"/>
          <p:nvPr/>
        </p:nvSpPr>
        <p:spPr>
          <a:xfrm>
            <a:off x="7759700" y="5054600"/>
            <a:ext cx="3784600" cy="482600"/>
          </a:xfrm>
          <a:prstGeom prst="rect">
            <a:avLst/>
          </a:prstGeom>
          <a:noFill/>
        </p:spPr>
        <p:txBody>
          <a:bodyPr wrap="none" lIns="0" rIns="0" tIns="0" bIns="0" anchor="t">
            <a:spAutoFit/>
          </a:bodyPr>
          <a:lstStyle/>
          <a:p>
            <a:pPr algn="l">
              <a:lnSpc>
                <a:spcPts val="2340"/>
              </a:lnSpc>
              <a:spcBef>
                <a:spcPts val="0"/>
              </a:spcBef>
              <a:spcAft>
                <a:spcPts val="0"/>
              </a:spcAft>
            </a:pPr>
            <a:r>
              <a:rPr sz="2000" b="1">
                <a:solidFill>
                  <a:srgbClr val="42D7B4"/>
                </a:solidFill>
                <a:latin typeface="DejaVu Sans"/>
              </a:rPr>
              <a:t>+35 percentage points</a:t>
            </a:r>
          </a:p>
        </p:txBody>
      </p:sp>
      <p:sp>
        <p:nvSpPr>
          <p:cNvPr id="29" name="S09_028"/>
          <p:cNvSpPr txBox="1"/>
          <p:nvPr/>
        </p:nvSpPr>
        <p:spPr>
          <a:xfrm>
            <a:off x="7772400" y="5537200"/>
            <a:ext cx="3759200" cy="292100"/>
          </a:xfrm>
          <a:prstGeom prst="rect">
            <a:avLst/>
          </a:prstGeom>
          <a:noFill/>
        </p:spPr>
        <p:txBody>
          <a:bodyPr wrap="none" lIns="0" rIns="0" tIns="0" bIns="0" anchor="t">
            <a:spAutoFit/>
          </a:bodyPr>
          <a:lstStyle/>
          <a:p>
            <a:pPr algn="l">
              <a:lnSpc>
                <a:spcPts val="1754"/>
              </a:lnSpc>
              <a:spcBef>
                <a:spcPts val="0"/>
              </a:spcBef>
              <a:spcAft>
                <a:spcPts val="0"/>
              </a:spcAft>
            </a:pPr>
            <a:r>
              <a:rPr sz="1500" b="0">
                <a:solidFill>
                  <a:srgbClr val="AFBDD0"/>
                </a:solidFill>
                <a:latin typeface="DejaVu Sans"/>
              </a:rPr>
              <a:t>over the pretrained base</a:t>
            </a:r>
          </a:p>
        </p:txBody>
      </p:sp>
      <p:sp>
        <p:nvSpPr>
          <p:cNvPr id="30" name="S09_029"/>
          <p:cNvSpPr txBox="1"/>
          <p:nvPr/>
        </p:nvSpPr>
        <p:spPr>
          <a:xfrm>
            <a:off x="558800" y="6045200"/>
            <a:ext cx="11061700" cy="355600"/>
          </a:xfrm>
          <a:prstGeom prst="rect">
            <a:avLst/>
          </a:prstGeom>
          <a:noFill/>
        </p:spPr>
        <p:txBody>
          <a:bodyPr wrap="none" lIns="0" rIns="0" tIns="0" bIns="0" anchor="t">
            <a:spAutoFit/>
          </a:bodyPr>
          <a:lstStyle/>
          <a:p>
            <a:pPr algn="ctr">
              <a:lnSpc>
                <a:spcPts val="2106"/>
              </a:lnSpc>
              <a:spcBef>
                <a:spcPts val="0"/>
              </a:spcBef>
              <a:spcAft>
                <a:spcPts val="0"/>
              </a:spcAft>
            </a:pPr>
            <a:r>
              <a:rPr sz="1800" b="0">
                <a:solidFill>
                  <a:srgbClr val="F3F6FA"/>
                </a:solidFill>
                <a:latin typeface="DejaVu Sans"/>
              </a:rPr>
              <a:t>A failed release does not make every earlier action wrong.</a:t>
            </a:r>
          </a:p>
        </p:txBody>
      </p:sp>
      <p:sp>
        <p:nvSpPr>
          <p:cNvPr id="31" name="S09_030"/>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32" name="S09_031"/>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09 / 10</a:t>
            </a:r>
          </a:p>
        </p:txBody>
      </p:sp>
      <p:sp>
        <p:nvSpPr>
          <p:cNvPr id="33" name="S09_032"/>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9_033"/>
          <p:cNvSpPr/>
          <p:nvPr/>
        </p:nvSpPr>
        <p:spPr>
          <a:xfrm>
            <a:off x="0" y="6807200"/>
            <a:ext cx="11650133"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20000"/>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827"/>
        </a:solidFill>
        <a:effectLst/>
      </p:bgPr>
    </p:bg>
    <p:spTree>
      <p:nvGrpSpPr>
        <p:cNvPr id="1" name=""/>
        <p:cNvGrpSpPr/>
        <p:nvPr/>
      </p:nvGrpSpPr>
      <p:grpSpPr/>
      <p:sp>
        <p:nvSpPr>
          <p:cNvPr id="2" name="S10_001"/>
          <p:cNvSpPr txBox="1"/>
          <p:nvPr/>
        </p:nvSpPr>
        <p:spPr>
          <a:xfrm>
            <a:off x="533400" y="304800"/>
            <a:ext cx="8509000" cy="228600"/>
          </a:xfrm>
          <a:prstGeom prst="rect">
            <a:avLst/>
          </a:prstGeom>
          <a:noFill/>
        </p:spPr>
        <p:txBody>
          <a:bodyPr wrap="none" lIns="0" rIns="0" tIns="0" bIns="0" anchor="t">
            <a:spAutoFit/>
          </a:bodyPr>
          <a:lstStyle/>
          <a:p>
            <a:pPr algn="l">
              <a:lnSpc>
                <a:spcPts val="1287"/>
              </a:lnSpc>
              <a:spcBef>
                <a:spcPts val="0"/>
              </a:spcBef>
              <a:spcAft>
                <a:spcPts val="0"/>
              </a:spcAft>
            </a:pPr>
            <a:r>
              <a:rPr sz="1100" b="1">
                <a:solidFill>
                  <a:srgbClr val="42D7B4"/>
                </a:solidFill>
                <a:latin typeface="DejaVu Sans"/>
              </a:rPr>
              <a:t>TAKEAWAY</a:t>
            </a:r>
          </a:p>
        </p:txBody>
      </p:sp>
      <p:sp>
        <p:nvSpPr>
          <p:cNvPr id="3" name="S10_002"/>
          <p:cNvSpPr txBox="1"/>
          <p:nvPr/>
        </p:nvSpPr>
        <p:spPr>
          <a:xfrm>
            <a:off x="9499600" y="304800"/>
            <a:ext cx="2159000" cy="228600"/>
          </a:xfrm>
          <a:prstGeom prst="rect">
            <a:avLst/>
          </a:prstGeom>
          <a:noFill/>
        </p:spPr>
        <p:txBody>
          <a:bodyPr wrap="none" lIns="0" rIns="0" tIns="0" bIns="0" anchor="t">
            <a:spAutoFit/>
          </a:bodyPr>
          <a:lstStyle/>
          <a:p>
            <a:pPr algn="r">
              <a:lnSpc>
                <a:spcPts val="1170"/>
              </a:lnSpc>
              <a:spcBef>
                <a:spcPts val="0"/>
              </a:spcBef>
              <a:spcAft>
                <a:spcPts val="0"/>
              </a:spcAft>
            </a:pPr>
            <a:r>
              <a:rPr sz="1000" b="0">
                <a:solidFill>
                  <a:srgbClr val="AFBDD0"/>
                </a:solidFill>
                <a:latin typeface="DejaVu Sans"/>
              </a:rPr>
              <a:t>REAL ROBOT</a:t>
            </a:r>
          </a:p>
        </p:txBody>
      </p:sp>
      <p:sp>
        <p:nvSpPr>
          <p:cNvPr id="4" name="S10_003"/>
          <p:cNvSpPr txBox="1"/>
          <p:nvPr/>
        </p:nvSpPr>
        <p:spPr>
          <a:xfrm>
            <a:off x="546100" y="1308100"/>
            <a:ext cx="11061700" cy="1803400"/>
          </a:xfrm>
          <a:prstGeom prst="rect">
            <a:avLst/>
          </a:prstGeom>
          <a:noFill/>
        </p:spPr>
        <p:txBody>
          <a:bodyPr wrap="none" lIns="0" rIns="0" tIns="0" bIns="0" anchor="t">
            <a:spAutoFit/>
          </a:bodyPr>
          <a:lstStyle/>
          <a:p>
            <a:pPr algn="l">
              <a:lnSpc>
                <a:spcPts val="5030"/>
              </a:lnSpc>
              <a:spcBef>
                <a:spcPts val="0"/>
              </a:spcBef>
              <a:spcAft>
                <a:spcPts val="0"/>
              </a:spcAft>
            </a:pPr>
            <a:r>
              <a:rPr sz="4300" b="1">
                <a:solidFill>
                  <a:srgbClr val="F3F6FA"/>
                </a:solidFill>
                <a:latin typeface="DejaVu Sans"/>
              </a:rPr>
              <a:t>Improve the skill.</a:t>
            </a:r>
          </a:p>
          <a:p>
            <a:pPr algn="l">
              <a:lnSpc>
                <a:spcPts val="5030"/>
              </a:lnSpc>
              <a:spcBef>
                <a:spcPts val="0"/>
              </a:spcBef>
              <a:spcAft>
                <a:spcPts val="0"/>
              </a:spcAft>
            </a:pPr>
            <a:r>
              <a:rPr sz="4300" b="1">
                <a:solidFill>
                  <a:srgbClr val="F3F6FA"/>
                </a:solidFill>
                <a:latin typeface="DejaVu Sans"/>
              </a:rPr>
              <a:t>Keep a persistent reference.</a:t>
            </a:r>
          </a:p>
        </p:txBody>
      </p:sp>
      <p:sp>
        <p:nvSpPr>
          <p:cNvPr id="5" name="S10_004"/>
          <p:cNvSpPr/>
          <p:nvPr/>
        </p:nvSpPr>
        <p:spPr>
          <a:xfrm>
            <a:off x="546100" y="3911600"/>
            <a:ext cx="3479800" cy="1384300"/>
          </a:xfrm>
          <a:prstGeom prst="roundRect">
            <a:avLst>
              <a:gd name="adj" fmla="val 7339"/>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10_005"/>
          <p:cNvSpPr txBox="1"/>
          <p:nvPr/>
        </p:nvSpPr>
        <p:spPr>
          <a:xfrm>
            <a:off x="762000" y="4140200"/>
            <a:ext cx="3048000" cy="660400"/>
          </a:xfrm>
          <a:prstGeom prst="rect">
            <a:avLst/>
          </a:prstGeom>
          <a:noFill/>
        </p:spPr>
        <p:txBody>
          <a:bodyPr wrap="none" lIns="0" rIns="0" tIns="0" bIns="0" anchor="t">
            <a:spAutoFit/>
          </a:bodyPr>
          <a:lstStyle/>
          <a:p>
            <a:pPr algn="l">
              <a:lnSpc>
                <a:spcPts val="2457"/>
              </a:lnSpc>
              <a:spcBef>
                <a:spcPts val="0"/>
              </a:spcBef>
              <a:spcAft>
                <a:spcPts val="0"/>
              </a:spcAft>
            </a:pPr>
            <a:r>
              <a:rPr sz="2100" b="1">
                <a:solidFill>
                  <a:srgbClr val="F0B360"/>
                </a:solidFill>
                <a:latin typeface="DejaVu Sans"/>
              </a:rPr>
              <a:t>Critic guidance</a:t>
            </a:r>
          </a:p>
        </p:txBody>
      </p:sp>
      <p:sp>
        <p:nvSpPr>
          <p:cNvPr id="7" name="S10_006"/>
          <p:cNvSpPr txBox="1"/>
          <p:nvPr/>
        </p:nvSpPr>
        <p:spPr>
          <a:xfrm>
            <a:off x="762000" y="4927600"/>
            <a:ext cx="3048000" cy="2794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Propose an improvement</a:t>
            </a:r>
          </a:p>
        </p:txBody>
      </p:sp>
      <p:sp>
        <p:nvSpPr>
          <p:cNvPr id="8" name="S10_007"/>
          <p:cNvSpPr/>
          <p:nvPr/>
        </p:nvSpPr>
        <p:spPr>
          <a:xfrm>
            <a:off x="4356100" y="3911600"/>
            <a:ext cx="3479800" cy="1384300"/>
          </a:xfrm>
          <a:prstGeom prst="roundRect">
            <a:avLst>
              <a:gd name="adj" fmla="val 7339"/>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0_008"/>
          <p:cNvSpPr txBox="1"/>
          <p:nvPr/>
        </p:nvSpPr>
        <p:spPr>
          <a:xfrm>
            <a:off x="4572000" y="4140200"/>
            <a:ext cx="3048000" cy="660400"/>
          </a:xfrm>
          <a:prstGeom prst="rect">
            <a:avLst/>
          </a:prstGeom>
          <a:noFill/>
        </p:spPr>
        <p:txBody>
          <a:bodyPr wrap="none" lIns="0" rIns="0" tIns="0" bIns="0" anchor="t">
            <a:spAutoFit/>
          </a:bodyPr>
          <a:lstStyle/>
          <a:p>
            <a:pPr algn="l">
              <a:lnSpc>
                <a:spcPts val="2457"/>
              </a:lnSpc>
              <a:spcBef>
                <a:spcPts val="0"/>
              </a:spcBef>
              <a:spcAft>
                <a:spcPts val="0"/>
              </a:spcAft>
            </a:pPr>
            <a:r>
              <a:rPr sz="2100" b="1">
                <a:solidFill>
                  <a:srgbClr val="42D7B4"/>
                </a:solidFill>
                <a:latin typeface="DejaVu Sans"/>
              </a:rPr>
              <a:t>Soft restoration</a:t>
            </a:r>
          </a:p>
        </p:txBody>
      </p:sp>
      <p:sp>
        <p:nvSpPr>
          <p:cNvPr id="10" name="S10_009"/>
          <p:cNvSpPr txBox="1"/>
          <p:nvPr/>
        </p:nvSpPr>
        <p:spPr>
          <a:xfrm>
            <a:off x="4572000" y="4927600"/>
            <a:ext cx="3048000" cy="2794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Retain a base reference</a:t>
            </a:r>
          </a:p>
        </p:txBody>
      </p:sp>
      <p:sp>
        <p:nvSpPr>
          <p:cNvPr id="11" name="S10_010"/>
          <p:cNvSpPr/>
          <p:nvPr/>
        </p:nvSpPr>
        <p:spPr>
          <a:xfrm>
            <a:off x="8166100" y="3911600"/>
            <a:ext cx="3479800" cy="1384300"/>
          </a:xfrm>
          <a:prstGeom prst="roundRect">
            <a:avLst>
              <a:gd name="adj" fmla="val 7339"/>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10_011"/>
          <p:cNvSpPr txBox="1"/>
          <p:nvPr/>
        </p:nvSpPr>
        <p:spPr>
          <a:xfrm>
            <a:off x="8382000" y="4140200"/>
            <a:ext cx="3048000" cy="660400"/>
          </a:xfrm>
          <a:prstGeom prst="rect">
            <a:avLst/>
          </a:prstGeom>
          <a:noFill/>
        </p:spPr>
        <p:txBody>
          <a:bodyPr wrap="none" lIns="0" rIns="0" tIns="0" bIns="0" anchor="t">
            <a:spAutoFit/>
          </a:bodyPr>
          <a:lstStyle/>
          <a:p>
            <a:pPr algn="l">
              <a:lnSpc>
                <a:spcPts val="2457"/>
              </a:lnSpc>
              <a:spcBef>
                <a:spcPts val="0"/>
              </a:spcBef>
              <a:spcAft>
                <a:spcPts val="0"/>
              </a:spcAft>
            </a:pPr>
            <a:r>
              <a:rPr sz="2100" b="1">
                <a:solidFill>
                  <a:srgbClr val="7FB0ED"/>
                </a:solidFill>
                <a:latin typeface="DejaVu Sans"/>
              </a:rPr>
              <a:t>Bounded target</a:t>
            </a:r>
          </a:p>
          <a:p>
            <a:pPr algn="l">
              <a:lnSpc>
                <a:spcPts val="2457"/>
              </a:lnSpc>
              <a:spcBef>
                <a:spcPts val="0"/>
              </a:spcBef>
              <a:spcAft>
                <a:spcPts val="0"/>
              </a:spcAft>
            </a:pPr>
            <a:r>
              <a:rPr sz="2100" b="1">
                <a:solidFill>
                  <a:srgbClr val="7FB0ED"/>
                </a:solidFill>
                <a:latin typeface="DejaVu Sans"/>
              </a:rPr>
              <a:t>steps</a:t>
            </a:r>
          </a:p>
        </p:txBody>
      </p:sp>
      <p:sp>
        <p:nvSpPr>
          <p:cNvPr id="13" name="S10_012"/>
          <p:cNvSpPr txBox="1"/>
          <p:nvPr/>
        </p:nvSpPr>
        <p:spPr>
          <a:xfrm>
            <a:off x="8382000" y="4927600"/>
            <a:ext cx="3048000" cy="279400"/>
          </a:xfrm>
          <a:prstGeom prst="rect">
            <a:avLst/>
          </a:prstGeom>
          <a:noFill/>
        </p:spPr>
        <p:txBody>
          <a:bodyPr wrap="none" lIns="0" rIns="0" tIns="0" bIns="0" anchor="t">
            <a:spAutoFit/>
          </a:bodyPr>
          <a:lstStyle/>
          <a:p>
            <a:pPr algn="l">
              <a:lnSpc>
                <a:spcPts val="1638"/>
              </a:lnSpc>
              <a:spcBef>
                <a:spcPts val="0"/>
              </a:spcBef>
              <a:spcAft>
                <a:spcPts val="0"/>
              </a:spcAft>
            </a:pPr>
            <a:r>
              <a:rPr sz="1400" b="0">
                <a:solidFill>
                  <a:srgbClr val="AFBDD0"/>
                </a:solidFill>
                <a:latin typeface="DejaVu Sans"/>
              </a:rPr>
              <a:t>Moderate each correction</a:t>
            </a:r>
          </a:p>
        </p:txBody>
      </p:sp>
      <p:sp>
        <p:nvSpPr>
          <p:cNvPr id="14" name="S10_013"/>
          <p:cNvSpPr txBox="1"/>
          <p:nvPr/>
        </p:nvSpPr>
        <p:spPr>
          <a:xfrm>
            <a:off x="558800" y="5905500"/>
            <a:ext cx="11074400" cy="330200"/>
          </a:xfrm>
          <a:prstGeom prst="rect">
            <a:avLst/>
          </a:prstGeom>
          <a:noFill/>
        </p:spPr>
        <p:txBody>
          <a:bodyPr wrap="none" lIns="0" rIns="0" tIns="0" bIns="0" anchor="t">
            <a:spAutoFit/>
          </a:bodyPr>
          <a:lstStyle/>
          <a:p>
            <a:pPr algn="l">
              <a:lnSpc>
                <a:spcPts val="2340"/>
              </a:lnSpc>
              <a:spcBef>
                <a:spcPts val="0"/>
              </a:spcBef>
              <a:spcAft>
                <a:spcPts val="0"/>
              </a:spcAft>
            </a:pPr>
            <a:r>
              <a:rPr sz="2000" b="0">
                <a:solidFill>
                  <a:srgbClr val="42D7B4"/>
                </a:solidFill>
                <a:latin typeface="DejaVu Sans"/>
              </a:rPr>
              <a:t>cast2027.github.io</a:t>
            </a:r>
          </a:p>
        </p:txBody>
      </p:sp>
      <p:sp>
        <p:nvSpPr>
          <p:cNvPr id="15" name="S10_014"/>
          <p:cNvSpPr txBox="1"/>
          <p:nvPr/>
        </p:nvSpPr>
        <p:spPr>
          <a:xfrm>
            <a:off x="533400" y="6502400"/>
            <a:ext cx="9652000" cy="190500"/>
          </a:xfrm>
          <a:prstGeom prst="rect">
            <a:avLst/>
          </a:prstGeom>
          <a:noFill/>
        </p:spPr>
        <p:txBody>
          <a:bodyPr wrap="none" lIns="0" rIns="0" tIns="0" bIns="0" anchor="t">
            <a:spAutoFit/>
          </a:bodyPr>
          <a:lstStyle/>
          <a:p>
            <a:pPr algn="l">
              <a:lnSpc>
                <a:spcPts val="1053"/>
              </a:lnSpc>
              <a:spcBef>
                <a:spcPts val="0"/>
              </a:spcBef>
              <a:spcAft>
                <a:spcPts val="0"/>
              </a:spcAft>
            </a:pPr>
            <a:r>
              <a:rPr sz="900" b="0">
                <a:solidFill>
                  <a:srgbClr val="AFBDD0"/>
                </a:solidFill>
                <a:latin typeface="DejaVu Sans"/>
              </a:rPr>
              <a:t>CAST / ICRA 2027 supplementary video</a:t>
            </a:r>
          </a:p>
        </p:txBody>
      </p:sp>
      <p:sp>
        <p:nvSpPr>
          <p:cNvPr id="16" name="S10_015"/>
          <p:cNvSpPr txBox="1"/>
          <p:nvPr/>
        </p:nvSpPr>
        <p:spPr>
          <a:xfrm>
            <a:off x="10896600" y="6502400"/>
            <a:ext cx="762000" cy="190500"/>
          </a:xfrm>
          <a:prstGeom prst="rect">
            <a:avLst/>
          </a:prstGeom>
          <a:noFill/>
        </p:spPr>
        <p:txBody>
          <a:bodyPr wrap="none" lIns="0" rIns="0" tIns="0" bIns="0" anchor="t">
            <a:spAutoFit/>
          </a:bodyPr>
          <a:lstStyle/>
          <a:p>
            <a:pPr algn="r">
              <a:lnSpc>
                <a:spcPts val="1053"/>
              </a:lnSpc>
              <a:spcBef>
                <a:spcPts val="0"/>
              </a:spcBef>
              <a:spcAft>
                <a:spcPts val="0"/>
              </a:spcAft>
            </a:pPr>
            <a:r>
              <a:rPr sz="900" b="0">
                <a:solidFill>
                  <a:srgbClr val="AFBDD0"/>
                </a:solidFill>
                <a:latin typeface="DejaVu Sans"/>
              </a:rPr>
              <a:t>10 / 10</a:t>
            </a:r>
          </a:p>
        </p:txBody>
      </p:sp>
      <p:sp>
        <p:nvSpPr>
          <p:cNvPr id="17" name="S10_016"/>
          <p:cNvSpPr/>
          <p:nvPr/>
        </p:nvSpPr>
        <p:spPr>
          <a:xfrm>
            <a:off x="0" y="6807200"/>
            <a:ext cx="12192000" cy="50800"/>
          </a:xfrm>
          <a:prstGeom prst="rect">
            <a:avLst/>
          </a:prstGeom>
          <a:solidFill>
            <a:srgbClr val="162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10_017"/>
          <p:cNvSpPr/>
          <p:nvPr/>
        </p:nvSpPr>
        <p:spPr>
          <a:xfrm>
            <a:off x="0" y="6807200"/>
            <a:ext cx="12192000" cy="50800"/>
          </a:xfrm>
          <a:prstGeom prst="rect">
            <a:avLst/>
          </a:prstGeom>
          <a:solidFill>
            <a:srgbClr val="42D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advTm="80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CAST — Anchoring Critic-Guided Fine-Tuning of Generative Robot Policies</dc:title>
  <dc:subject>Three-minute ICRA supplementary-video storyboard</dc:subject>
  <dc:creator>CAST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